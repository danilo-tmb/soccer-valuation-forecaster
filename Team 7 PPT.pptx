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3"/>
  </p:notesMasterIdLst>
  <p:sldIdLst>
    <p:sldId id="256" r:id="rId2"/>
    <p:sldId id="405" r:id="rId3"/>
    <p:sldId id="257" r:id="rId4"/>
    <p:sldId id="258" r:id="rId5"/>
    <p:sldId id="259" r:id="rId6"/>
    <p:sldId id="260" r:id="rId7"/>
    <p:sldId id="261" r:id="rId8"/>
    <p:sldId id="262" r:id="rId9"/>
    <p:sldId id="263" r:id="rId10"/>
    <p:sldId id="264" r:id="rId11"/>
    <p:sldId id="265" r:id="rId12"/>
    <p:sldId id="266" r:id="rId13"/>
    <p:sldId id="267" r:id="rId14"/>
    <p:sldId id="268" r:id="rId15"/>
    <p:sldId id="406"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68427-F83C-2A4C-B802-0F1E7150F2A9}" v="65" dt="2026-10-04T16:35:52.978"/>
    <p1510:client id="{DC7E64D9-1A0C-4B40-86F2-AB690A6F6DF2}" v="66" dt="2026-10-04T20:07:32.6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3299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with a question rather than reading the title: would you pay this transfer fee?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Say it in your own words. Our data is a public Kaggle dataset from Transfermarkt. Table 1 is like a diary of price tags: every time a player's value was updated, a line was added. That is what we forecast. Table 2 is like a player card: name, league, club, position. We use it to pick three players from each big league and to label charts. The two tables are matched by player ID. (A third file, the data dictionary, explains the columns; not used in the model.)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First, we measured how complete each player's history is: how many quarters it covers and how many of them had a real valuation. Then we kept only players who passed four checks, and took the 3 best-covered players from each big-five league. Be upfront: chosen by rules, not at random, so results apply to established players. If asked why 15: the checks need long histories, and the league cap keeps it balanced.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Transfermarkt updates a player's value whenever it decides, so the update dates are scattered. Step 1: we sort each update into a calendar quarter; if two updates fall in one quarter we keep the latest. Step 2: quarters with no update get the previous value carried forward, because a value stays in force until it is revised. We flag those as filled so we always know which values are real. The series stops at 2024Q4; 2025 is held back for testing. Result: 455 rows, 334 real, 121 filled. The example player is illustrative.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third chart of Figure 1 in our notebook. Each line is one of the 15 players. Lines are staircases because a value stays the same until Transfermarkt revises it. The dashed vertical line is January 2023: everything to its left is history the models can learn from; everything to its right is data we hide from the models and test against. Point out how different the paths are: some rise, some peak and fall, some stay low.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charts are from Cell 10 of our notebook. Left: median market value by age. It rises steeply through the early 20s and peaks around 26 to 27. Our players are only 17 to 29, so we say nothing about older players, and the dip at 28 rests on few rows. Right: average quarterly change in log value by quarter of year. Q2 is lowest. Be honest: Q4 is actually the highest bar and Q4 is not a transfer window; the averages include filled-in quarters (zero change); so this may partly reflect when Transfermarkt updates values rather than real price seasonality. We use age, plus winter (Q1) and summer (Q3) flags, as model inputs.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output of Cell 12 in our notebook. Validation origins (2020Q2, 2020Q4, 2021Q2, 2021Q4) are used to choose the model: at each origin we pretend it is that quarter and give the models only earlier data. The main test (2023Q1 to 2024Q4) confirms performance on data the models never saw. The 2025 holdout is a stress test only and never chooses the model. Rows: 335 before the test, 120 in the test, 15 players. 'Origin' means the quarter a forecast is made from.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Nine methods, all scored the same way: log MAE at 2 and 4 quarters ahead (6 and 12 months), lower is better. Sorted by the validation average, as in our notebook (Cell 16). The model with the lowest validation average, damped Holt (0.424), was selected. Test scores for 2023-24 were reported afterwards and did not change the choice. Persistence is the benchmark. Groups, if asked: trend followers (Holt, damped Holt); models using age and calendar flags (SARIMAX, pooled age drift); log-scale and per-player versions; and blends. SARIMAX's seasonal part is switched off. ARIMA and SARIMAX pick their settings by AIC.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PPT Figure 2 from Cell 17 of our notebook: validation (blue) versus the 2023-24 test (orange) for five of the nine models. Lower is better. Every model scores lower on the test than on validation, so the test period was easier to forecast. Damped Holt (called 'Holt damped' in the chart) was the best on validation, which is why it was selected, and it stays close to the best on the test. Persistence is the worst on the test. The chart still carries the notebook's labels 'Track A', 'Track B' and 'combination'; just ignore them when presenting.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the band. It is an 80% range around each forecast, built from the final model's errors on validation (not test), so the test check is honest. It covered 93% of the 2023-24 test values, above the 80% target because the test years were easier. Do not put the wide percentages on the slide, but if asked: -27% to +135% at 6 months and -39% to +190% at 12 months, the same for every player. Right: 2025 holdout scores (notebook Cell 21), models refit through 2024Q4 and scored on real 2025 values; 2025 never chose the model. Pooled age drift was best (0.279). Our selected model, damped Holt, is sixth of nine (0.335), slightly behind persistence (0.326). Only 20 of 30 real 2025 values fell inside the band (67%), below the 80% target. Message: no model wins in every period.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full output of PPT Figure 3 (Cell 23): the chart and the table beneath it. Same numbers as the notebook; the chart is redrawn wide so it fits with the table on one slide. Log MAE at 6 and 12 months, lower is better. The winner changes in every period: Holt damped (our selected model) on validation, plain Holt on the 2023-24 test, pooled age drift in 2025. Scores are not comparable across periods because the test was easier. Labels still carry the notebook's tags (Track A, Track B, combination); ignore them when presenting.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INTERACTIVE SLIDE. Use Slide Show mode. Click a player to see their forecast, 80% range and the real 2025 value; click 'All players' to return here. The 15 player slides are hidden, so normal clicking skips them and goes to the next slide. Players are grouped by their current league and ordered by value at the end of 2024.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INTERACTIVE SLIDE (Slide Show mode). Control panel: pick a player, a horizon (6 or 12 months) and a quoted fee, and the forecast, 80% range, fee verdict and sell/hold signal update. The fee buttons are multiples of the forecast (0.5x, 1x, 2x, 3x), so the verdict changes as you move across them. Rule: fee above the 80% range = OVERVALUED, inside = FAIR RANGE, below = UNDERVALUED; forecast below the 2024Q4 value = SELL WINDOW, otherwise HOLD / EXTEND. The range is the same percentage for every player, so even 2x the forecast can read 'fair'. Click Done to come back to this slide, then continue. Behind this slide are 120 hidden slides, one per combination (15 players x 2 horizons x 4 fees).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the output of Cell 29 in our notebook (PPT key numbers). Final model: damped Holt on the euro scale, chosen on validation only. Beat the no-change guess on validation (0.424 vs 0.445) and clearly on the 2023-24 test (0.297 vs 0.377, and for 14 of 15 players), but not in 2025 (0.335 vs 0.326), where 20 of 30 real values fell inside the 80% band. Right: the final takeaways, shortened from the notebook's five points (Cell 30) but kept close to its wording. The final-model label still carries the notebook's tag '(combination)'; ignore it when presenting.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Phil Foden: value at the end of 2024 was €140.0M. Forecast (damped Holt) and 80% range at 6 and 12 months, with the real 2025 value. 2025Q2: forecast €149.3M, range €108.8M to €350.2M, real €100.0M (below the range). 2025Q4: forecast €158.5M, range €97.0M to €460.1M, real €80.0M (below the range).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Loïs Openda: value at the end of 2024 was €60.0M. Forecast (damped Holt) and 80% range at 6 and 12 months, with the real 2025 value. 2025Q2: forecast €59.5M, range €43.3M to €139.5M, real €50.0M (inside the range). 2025Q4: forecast €58.8M, range €36.0M to €170.8M, real €40.0M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Marcus Rashford: value at the end of 2024 was €55.0M. Forecast (damped Holt) and 80% range at 6 and 12 months, with the real 2025 value. 2025Q2: forecast €55.6M, range €40.5M to €130.4M, real €50.0M (inside the range). 2025Q4: forecast €56.1M, range €34.3M to €162.9M, real €40.0M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Pedro Neto: value at the end of 2024 was €55.0M. Forecast (damped Holt) and 80% range at 6 and 12 months, with the real 2025 value. 2025Q2: forecast €58.5M, range €42.6M to €137.1M, real €50.0M (inside the range). 2025Q4: forecast €61.9M, range €37.9M to €179.7M, real €60.0M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Ronald Araujo: value at the end of 2024 was €55.0M. Forecast (damped Holt) and 80% range at 6 and 12 months, with the real 2025 value. 2025Q2: forecast €47.3M, range €34.5M to €111.1M, real €35.0M (inside the range). 2025Q4: forecast €38.0M, range €23.2M to €110.3M, real €25.0M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Matheus Cunha: value at the end of 2024 was €50.0M. Forecast (damped Holt) and 80% range at 6 and 12 months, with the real 2025 value. 2025Q2: forecast €52.7M, range €38.4M to €123.7M, real €60.0M (inside the range). 2025Q4: forecast €55.8M, range €34.2M to €162.2M, real €70.0M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Oihan Sancet: value at the end of 2024 was €50.0M. Forecast (damped Holt) and 80% range at 6 and 12 months, with the real 2025 value. 2025Q2: forecast €51.9M, range €37.8M to €121.8M, real €60.0M (inside the range). 2025Q4: forecast €58.3M, range €35.7M to €169.2M, real €40.0M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Teun Koopmeiners: value at the end of 2024 was €50.0M. Forecast (damped Holt) and 80% range at 6 and 12 months, with the real 2025 value. 2025Q2: forecast €53.5M, range €39.0M to €125.4M, real €35.0M (below the range). 2025Q4: forecast €56.6M, range €34.6M to €164.3M, real €28.0M (below the range).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Khéphren Thuram: value at the end of 2024 was €35.0M. Forecast (damped Holt) and 80% range at 6 and 12 months, with the real 2025 value. 2025Q2: forecast €34.8M, range €25.4M to €81.6M, real €40.0M (inside the range). 2025Q4: forecast €34.7M, range €21.2M to €100.8M, real €40.0M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Nayef Aguerd: value at the end of 2024 was €35.0M. Forecast (damped Holt) and 80% range at 6 and 12 months, with the real 2025 value. 2025Q2: forecast €34.2M, range €24.9M to €80.1M, real €18.0M (below the range). 2025Q4: forecast €33.8M, range €20.7M to €98.1M, real €22.0M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Serge Gnabry: value at the end of 2024 was €35.0M. Forecast (damped Holt) and 80% range at 6 and 12 months, with the real 2025 value. 2025Q2: forecast €32.0M, range €23.3M to €75.1M, real €22.0M (below the range). 2025Q4: forecast €29.2M, range €17.9M to €84.9M, real €20.0M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Kang-in Lee: value at the end of 2024 was €30.0M. Forecast (damped Holt) and 80% range at 6 and 12 months, with the real 2025 value. 2025Q2: forecast €32.1M, range €23.4M to €75.4M, real €25.0M (inside the range). 2025Q4: forecast €34.2M, range €21.0M to €99.5M, real €25.0M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Waldemar Anton: value at the end of 2024 was €24.0M. Forecast (damped Holt) and 80% range at 6 and 12 months, with the real 2025 value. 2025Q2: forecast €27.5M, range €20.0M to €64.5M, real €18.0M (below the range). 2025Q4: forecast €29.7M, range €18.2M to €86.2M, real €18.0M (below the range).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Christoph Baumgartner: value at the end of 2024 was €18.0M. Forecast (damped Holt) and 80% range at 6 and 12 months, with the real 2025 value. 2025Q2: forecast €17.6M, range €12.8M to €41.3M, real €12.0M (below the range). 2025Q4: forecast €17.3M, range €10.6M to €50.3M, real €20.0M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Jordan Teze: value at the end of 2024 was €15.0M. Forecast (damped Holt) and 80% range at 6 and 12 months, with the real 2025 value. 2025Q2: forecast €16.0M, range €11.7M to €37.6M, real €9.0M (below the range). 2025Q4: forecast €17.0M, range €10.4M to €49.4M, real €12.0M (inside the range).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NUM">
    <p:bg>
      <p:bgPr>
        <a:solidFill>
          <a:srgbClr val="0B3D2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766560" cy="7772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7C4B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NONUM">
    <p:bg>
      <p:bgPr>
        <a:solidFill>
          <a:srgbClr val="0B3D2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766560" cy="7772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NONUM">
    <p:bg>
      <p:bgPr>
        <a:solidFill>
          <a:srgbClr val="F3F6F4"/>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6F4"/>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7C4B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8" Type="http://schemas.openxmlformats.org/officeDocument/2006/relationships/slide" Target="slide23.xml"/><Relationship Id="rId13" Type="http://schemas.openxmlformats.org/officeDocument/2006/relationships/slide" Target="slide29.xml"/><Relationship Id="rId3" Type="http://schemas.openxmlformats.org/officeDocument/2006/relationships/slide" Target="slide17.xml"/><Relationship Id="rId7" Type="http://schemas.openxmlformats.org/officeDocument/2006/relationships/slide" Target="slide21.xml"/><Relationship Id="rId12" Type="http://schemas.openxmlformats.org/officeDocument/2006/relationships/slide" Target="slide27.xml"/><Relationship Id="rId17" Type="http://schemas.openxmlformats.org/officeDocument/2006/relationships/slide" Target="slide31.xml"/><Relationship Id="rId2" Type="http://schemas.openxmlformats.org/officeDocument/2006/relationships/notesSlide" Target="../notesSlides/notesSlide13.xml"/><Relationship Id="rId16" Type="http://schemas.openxmlformats.org/officeDocument/2006/relationships/slide" Target="slide28.xml"/><Relationship Id="rId1" Type="http://schemas.openxmlformats.org/officeDocument/2006/relationships/slideLayout" Target="../slideLayouts/slideLayout5.xml"/><Relationship Id="rId6" Type="http://schemas.openxmlformats.org/officeDocument/2006/relationships/slide" Target="slide19.xml"/><Relationship Id="rId11" Type="http://schemas.openxmlformats.org/officeDocument/2006/relationships/slide" Target="slide25.xml"/><Relationship Id="rId5" Type="http://schemas.openxmlformats.org/officeDocument/2006/relationships/slide" Target="slide22.xml"/><Relationship Id="rId15" Type="http://schemas.openxmlformats.org/officeDocument/2006/relationships/slide" Target="slide26.xml"/><Relationship Id="rId10" Type="http://schemas.openxmlformats.org/officeDocument/2006/relationships/slide" Target="slide24.xml"/><Relationship Id="rId4" Type="http://schemas.openxmlformats.org/officeDocument/2006/relationships/slide" Target="slide20.xml"/><Relationship Id="rId9" Type="http://schemas.openxmlformats.org/officeDocument/2006/relationships/slide" Target="slide18.xml"/><Relationship Id="rId14" Type="http://schemas.openxmlformats.org/officeDocument/2006/relationships/slide" Target="slide30.xml"/></Relationships>
</file>

<file path=ppt/slides/_rels/slide14.xml.rels><?xml version="1.0" encoding="UTF-8" standalone="yes"?>
<Relationships xmlns="http://schemas.openxmlformats.org/package/2006/relationships"><Relationship Id="rId8" Type="http://schemas.openxmlformats.org/officeDocument/2006/relationships/slide" Target="slide79.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36.xml"/><Relationship Id="rId7" Type="http://schemas.openxmlformats.org/officeDocument/2006/relationships/slide" Target="slide71.xml"/><Relationship Id="rId12" Type="http://schemas.openxmlformats.org/officeDocument/2006/relationships/slide" Target="slide111.xml"/><Relationship Id="rId17" Type="http://schemas.openxmlformats.org/officeDocument/2006/relationships/slide" Target="slide151.xml"/><Relationship Id="rId2" Type="http://schemas.openxmlformats.org/officeDocument/2006/relationships/notesSlide" Target="../notesSlides/notesSlide14.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5.xml"/><Relationship Id="rId6" Type="http://schemas.openxmlformats.org/officeDocument/2006/relationships/slide" Target="slide63.xml"/><Relationship Id="rId11" Type="http://schemas.openxmlformats.org/officeDocument/2006/relationships/slide" Target="slide103.xml"/><Relationship Id="rId24" Type="http://schemas.openxmlformats.org/officeDocument/2006/relationships/image" Target="../media/image11.png"/><Relationship Id="rId5" Type="http://schemas.openxmlformats.org/officeDocument/2006/relationships/slide" Target="slide55.xml"/><Relationship Id="rId15" Type="http://schemas.openxmlformats.org/officeDocument/2006/relationships/slide" Target="slide135.xml"/><Relationship Id="rId23" Type="http://schemas.openxmlformats.org/officeDocument/2006/relationships/slide" Target="slide38.xml"/><Relationship Id="rId10" Type="http://schemas.openxmlformats.org/officeDocument/2006/relationships/slide" Target="slide95.xml"/><Relationship Id="rId19" Type="http://schemas.openxmlformats.org/officeDocument/2006/relationships/slide" Target="slide35.xml"/><Relationship Id="rId4" Type="http://schemas.openxmlformats.org/officeDocument/2006/relationships/slide" Target="slide47.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3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slide" Target="slide13.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7.png"/><Relationship Id="rId4" Type="http://schemas.openxmlformats.org/officeDocument/2006/relationships/slide" Target="slide1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8.png"/><Relationship Id="rId4" Type="http://schemas.openxmlformats.org/officeDocument/2006/relationships/slide" Target="slide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9.png"/><Relationship Id="rId4" Type="http://schemas.openxmlformats.org/officeDocument/2006/relationships/slide" Target="slide13.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0.png"/><Relationship Id="rId4" Type="http://schemas.openxmlformats.org/officeDocument/2006/relationships/slide" Target="slide1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1.png"/><Relationship Id="rId4" Type="http://schemas.openxmlformats.org/officeDocument/2006/relationships/slide" Target="slide13.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2.png"/><Relationship Id="rId4" Type="http://schemas.openxmlformats.org/officeDocument/2006/relationships/slide" Target="slide13.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slide" Target="slide1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4.png"/><Relationship Id="rId4" Type="http://schemas.openxmlformats.org/officeDocument/2006/relationships/slide" Target="slide1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5.png"/><Relationship Id="rId4" Type="http://schemas.openxmlformats.org/officeDocument/2006/relationships/slide" Target="slide1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6.png"/><Relationship Id="rId4" Type="http://schemas.openxmlformats.org/officeDocument/2006/relationships/slide" Target="slide13.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7.png"/><Relationship Id="rId4" Type="http://schemas.openxmlformats.org/officeDocument/2006/relationships/slide" Target="slide13.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8.png"/><Relationship Id="rId4" Type="http://schemas.openxmlformats.org/officeDocument/2006/relationships/slide" Target="slide13.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9.png"/><Relationship Id="rId4" Type="http://schemas.openxmlformats.org/officeDocument/2006/relationships/slide" Target="slide13.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30.png"/><Relationship Id="rId4" Type="http://schemas.openxmlformats.org/officeDocument/2006/relationships/slide" Target="slide13.xml"/></Relationships>
</file>

<file path=ppt/slides/_rels/slide32.xml.rels><?xml version="1.0" encoding="UTF-8" standalone="yes"?>
<Relationships xmlns="http://schemas.openxmlformats.org/package/2006/relationships"><Relationship Id="rId8" Type="http://schemas.openxmlformats.org/officeDocument/2006/relationships/slide" Target="slide72.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33.xml"/><Relationship Id="rId7" Type="http://schemas.openxmlformats.org/officeDocument/2006/relationships/slide" Target="slide64.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32.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6.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8.xml"/><Relationship Id="rId15" Type="http://schemas.openxmlformats.org/officeDocument/2006/relationships/slide" Target="slide128.xml"/><Relationship Id="rId23" Type="http://schemas.openxmlformats.org/officeDocument/2006/relationships/slide" Target="slide35.xml"/><Relationship Id="rId10" Type="http://schemas.openxmlformats.org/officeDocument/2006/relationships/slide" Target="slide88.xml"/><Relationship Id="rId19" Type="http://schemas.openxmlformats.org/officeDocument/2006/relationships/slide" Target="slide36.xml"/><Relationship Id="rId4" Type="http://schemas.openxmlformats.org/officeDocument/2006/relationships/slide" Target="slide40.xml"/><Relationship Id="rId9" Type="http://schemas.openxmlformats.org/officeDocument/2006/relationships/slide" Target="slide80.xml"/><Relationship Id="rId14" Type="http://schemas.openxmlformats.org/officeDocument/2006/relationships/slide" Target="slide120.xml"/><Relationship Id="rId22" Type="http://schemas.openxmlformats.org/officeDocument/2006/relationships/slide" Target="slide34.xml"/></Relationships>
</file>

<file path=ppt/slides/_rels/slide33.xml.rels><?xml version="1.0" encoding="UTF-8" standalone="yes"?>
<Relationships xmlns="http://schemas.openxmlformats.org/package/2006/relationships"><Relationship Id="rId8" Type="http://schemas.openxmlformats.org/officeDocument/2006/relationships/slide" Target="slide73.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32.xml"/><Relationship Id="rId7" Type="http://schemas.openxmlformats.org/officeDocument/2006/relationships/slide" Target="slide65.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33.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7.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9.xml"/><Relationship Id="rId15" Type="http://schemas.openxmlformats.org/officeDocument/2006/relationships/slide" Target="slide129.xml"/><Relationship Id="rId23" Type="http://schemas.openxmlformats.org/officeDocument/2006/relationships/slide" Target="slide35.xml"/><Relationship Id="rId10" Type="http://schemas.openxmlformats.org/officeDocument/2006/relationships/slide" Target="slide89.xml"/><Relationship Id="rId19" Type="http://schemas.openxmlformats.org/officeDocument/2006/relationships/slide" Target="slide37.xml"/><Relationship Id="rId4" Type="http://schemas.openxmlformats.org/officeDocument/2006/relationships/slide" Target="slide41.xml"/><Relationship Id="rId9" Type="http://schemas.openxmlformats.org/officeDocument/2006/relationships/slide" Target="slide81.xml"/><Relationship Id="rId14" Type="http://schemas.openxmlformats.org/officeDocument/2006/relationships/slide" Target="slide121.xml"/><Relationship Id="rId22" Type="http://schemas.openxmlformats.org/officeDocument/2006/relationships/slide" Target="slide34.xml"/></Relationships>
</file>

<file path=ppt/slides/_rels/slide34.xml.rels><?xml version="1.0" encoding="UTF-8" standalone="yes"?>
<Relationships xmlns="http://schemas.openxmlformats.org/package/2006/relationships"><Relationship Id="rId8" Type="http://schemas.openxmlformats.org/officeDocument/2006/relationships/slide" Target="slide74.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32.xml"/><Relationship Id="rId7" Type="http://schemas.openxmlformats.org/officeDocument/2006/relationships/slide" Target="slide66.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34.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8.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50.xml"/><Relationship Id="rId15" Type="http://schemas.openxmlformats.org/officeDocument/2006/relationships/slide" Target="slide130.xml"/><Relationship Id="rId23" Type="http://schemas.openxmlformats.org/officeDocument/2006/relationships/slide" Target="slide35.xml"/><Relationship Id="rId10" Type="http://schemas.openxmlformats.org/officeDocument/2006/relationships/slide" Target="slide90.xml"/><Relationship Id="rId19" Type="http://schemas.openxmlformats.org/officeDocument/2006/relationships/slide" Target="slide38.xml"/><Relationship Id="rId4" Type="http://schemas.openxmlformats.org/officeDocument/2006/relationships/slide" Target="slide42.xml"/><Relationship Id="rId9" Type="http://schemas.openxmlformats.org/officeDocument/2006/relationships/slide" Target="slide82.xml"/><Relationship Id="rId14" Type="http://schemas.openxmlformats.org/officeDocument/2006/relationships/slide" Target="slide122.xml"/><Relationship Id="rId22" Type="http://schemas.openxmlformats.org/officeDocument/2006/relationships/slide" Target="slide33.xml"/></Relationships>
</file>

<file path=ppt/slides/_rels/slide35.xml.rels><?xml version="1.0" encoding="UTF-8" standalone="yes"?>
<Relationships xmlns="http://schemas.openxmlformats.org/package/2006/relationships"><Relationship Id="rId8" Type="http://schemas.openxmlformats.org/officeDocument/2006/relationships/slide" Target="slide75.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32.xml"/><Relationship Id="rId7" Type="http://schemas.openxmlformats.org/officeDocument/2006/relationships/slide" Target="slide67.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35.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9.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51.xml"/><Relationship Id="rId15" Type="http://schemas.openxmlformats.org/officeDocument/2006/relationships/slide" Target="slide131.xml"/><Relationship Id="rId23" Type="http://schemas.openxmlformats.org/officeDocument/2006/relationships/slide" Target="slide34.xml"/><Relationship Id="rId10" Type="http://schemas.openxmlformats.org/officeDocument/2006/relationships/slide" Target="slide91.xml"/><Relationship Id="rId19" Type="http://schemas.openxmlformats.org/officeDocument/2006/relationships/slide" Target="slide39.xml"/><Relationship Id="rId4" Type="http://schemas.openxmlformats.org/officeDocument/2006/relationships/slide" Target="slide43.xml"/><Relationship Id="rId9" Type="http://schemas.openxmlformats.org/officeDocument/2006/relationships/slide" Target="slide83.xml"/><Relationship Id="rId14" Type="http://schemas.openxmlformats.org/officeDocument/2006/relationships/slide" Target="slide123.xml"/><Relationship Id="rId22" Type="http://schemas.openxmlformats.org/officeDocument/2006/relationships/slide" Target="slide33.xml"/></Relationships>
</file>

<file path=ppt/slides/_rels/slide36.xml.rels><?xml version="1.0" encoding="UTF-8" standalone="yes"?>
<Relationships xmlns="http://schemas.openxmlformats.org/package/2006/relationships"><Relationship Id="rId8" Type="http://schemas.openxmlformats.org/officeDocument/2006/relationships/slide" Target="slide76.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37.xml"/><Relationship Id="rId7" Type="http://schemas.openxmlformats.org/officeDocument/2006/relationships/slide" Target="slide68.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36.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0.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52.xml"/><Relationship Id="rId15" Type="http://schemas.openxmlformats.org/officeDocument/2006/relationships/slide" Target="slide132.xml"/><Relationship Id="rId23" Type="http://schemas.openxmlformats.org/officeDocument/2006/relationships/slide" Target="slide39.xml"/><Relationship Id="rId10" Type="http://schemas.openxmlformats.org/officeDocument/2006/relationships/slide" Target="slide92.xml"/><Relationship Id="rId19" Type="http://schemas.openxmlformats.org/officeDocument/2006/relationships/slide" Target="slide32.xml"/><Relationship Id="rId4" Type="http://schemas.openxmlformats.org/officeDocument/2006/relationships/slide" Target="slide44.xml"/><Relationship Id="rId9" Type="http://schemas.openxmlformats.org/officeDocument/2006/relationships/slide" Target="slide84.xml"/><Relationship Id="rId14" Type="http://schemas.openxmlformats.org/officeDocument/2006/relationships/slide" Target="slide124.xml"/><Relationship Id="rId22" Type="http://schemas.openxmlformats.org/officeDocument/2006/relationships/slide" Target="slide38.xml"/></Relationships>
</file>

<file path=ppt/slides/_rels/slide37.xml.rels><?xml version="1.0" encoding="UTF-8" standalone="yes"?>
<Relationships xmlns="http://schemas.openxmlformats.org/package/2006/relationships"><Relationship Id="rId8" Type="http://schemas.openxmlformats.org/officeDocument/2006/relationships/slide" Target="slide77.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36.xml"/><Relationship Id="rId7" Type="http://schemas.openxmlformats.org/officeDocument/2006/relationships/slide" Target="slide69.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37.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1.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53.xml"/><Relationship Id="rId15" Type="http://schemas.openxmlformats.org/officeDocument/2006/relationships/slide" Target="slide133.xml"/><Relationship Id="rId23" Type="http://schemas.openxmlformats.org/officeDocument/2006/relationships/slide" Target="slide39.xml"/><Relationship Id="rId10" Type="http://schemas.openxmlformats.org/officeDocument/2006/relationships/slide" Target="slide93.xml"/><Relationship Id="rId19" Type="http://schemas.openxmlformats.org/officeDocument/2006/relationships/slide" Target="slide33.xml"/><Relationship Id="rId4" Type="http://schemas.openxmlformats.org/officeDocument/2006/relationships/slide" Target="slide45.xml"/><Relationship Id="rId9" Type="http://schemas.openxmlformats.org/officeDocument/2006/relationships/slide" Target="slide85.xml"/><Relationship Id="rId14" Type="http://schemas.openxmlformats.org/officeDocument/2006/relationships/slide" Target="slide125.xml"/><Relationship Id="rId22" Type="http://schemas.openxmlformats.org/officeDocument/2006/relationships/slide" Target="slide38.xml"/></Relationships>
</file>

<file path=ppt/slides/_rels/slide38.xml.rels><?xml version="1.0" encoding="UTF-8" standalone="yes"?>
<Relationships xmlns="http://schemas.openxmlformats.org/package/2006/relationships"><Relationship Id="rId8" Type="http://schemas.openxmlformats.org/officeDocument/2006/relationships/slide" Target="slide78.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36.xml"/><Relationship Id="rId7" Type="http://schemas.openxmlformats.org/officeDocument/2006/relationships/slide" Target="slide70.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38.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2.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54.xml"/><Relationship Id="rId15" Type="http://schemas.openxmlformats.org/officeDocument/2006/relationships/slide" Target="slide134.xml"/><Relationship Id="rId23" Type="http://schemas.openxmlformats.org/officeDocument/2006/relationships/slide" Target="slide39.xml"/><Relationship Id="rId10" Type="http://schemas.openxmlformats.org/officeDocument/2006/relationships/slide" Target="slide94.xml"/><Relationship Id="rId19" Type="http://schemas.openxmlformats.org/officeDocument/2006/relationships/slide" Target="slide34.xml"/><Relationship Id="rId4" Type="http://schemas.openxmlformats.org/officeDocument/2006/relationships/slide" Target="slide46.xml"/><Relationship Id="rId9" Type="http://schemas.openxmlformats.org/officeDocument/2006/relationships/slide" Target="slide86.xml"/><Relationship Id="rId14" Type="http://schemas.openxmlformats.org/officeDocument/2006/relationships/slide" Target="slide126.xml"/><Relationship Id="rId22" Type="http://schemas.openxmlformats.org/officeDocument/2006/relationships/slide" Target="slide37.xml"/></Relationships>
</file>

<file path=ppt/slides/_rels/slide39.xml.rels><?xml version="1.0" encoding="UTF-8" standalone="yes"?>
<Relationships xmlns="http://schemas.openxmlformats.org/package/2006/relationships"><Relationship Id="rId8" Type="http://schemas.openxmlformats.org/officeDocument/2006/relationships/slide" Target="slide79.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36.xml"/><Relationship Id="rId7" Type="http://schemas.openxmlformats.org/officeDocument/2006/relationships/slide" Target="slide71.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39.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3.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55.xml"/><Relationship Id="rId15" Type="http://schemas.openxmlformats.org/officeDocument/2006/relationships/slide" Target="slide135.xml"/><Relationship Id="rId23" Type="http://schemas.openxmlformats.org/officeDocument/2006/relationships/slide" Target="slide38.xml"/><Relationship Id="rId10" Type="http://schemas.openxmlformats.org/officeDocument/2006/relationships/slide" Target="slide95.xml"/><Relationship Id="rId19" Type="http://schemas.openxmlformats.org/officeDocument/2006/relationships/slide" Target="slide35.xml"/><Relationship Id="rId4" Type="http://schemas.openxmlformats.org/officeDocument/2006/relationships/slide" Target="slide47.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37.xml"/></Relationships>
</file>

<file path=ppt/slides/_rels/slide40.xml.rels><?xml version="1.0" encoding="UTF-8" standalone="yes"?>
<Relationships xmlns="http://schemas.openxmlformats.org/package/2006/relationships"><Relationship Id="rId8" Type="http://schemas.openxmlformats.org/officeDocument/2006/relationships/slide" Target="slide72.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41.xml"/><Relationship Id="rId7" Type="http://schemas.openxmlformats.org/officeDocument/2006/relationships/slide" Target="slide64.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40.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6.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8.xml"/><Relationship Id="rId15" Type="http://schemas.openxmlformats.org/officeDocument/2006/relationships/slide" Target="slide128.xml"/><Relationship Id="rId23" Type="http://schemas.openxmlformats.org/officeDocument/2006/relationships/slide" Target="slide43.xml"/><Relationship Id="rId10" Type="http://schemas.openxmlformats.org/officeDocument/2006/relationships/slide" Target="slide88.xml"/><Relationship Id="rId19" Type="http://schemas.openxmlformats.org/officeDocument/2006/relationships/slide" Target="slide44.xml"/><Relationship Id="rId4" Type="http://schemas.openxmlformats.org/officeDocument/2006/relationships/slide" Target="slide32.xml"/><Relationship Id="rId9" Type="http://schemas.openxmlformats.org/officeDocument/2006/relationships/slide" Target="slide80.xml"/><Relationship Id="rId14" Type="http://schemas.openxmlformats.org/officeDocument/2006/relationships/slide" Target="slide120.xml"/><Relationship Id="rId22" Type="http://schemas.openxmlformats.org/officeDocument/2006/relationships/slide" Target="slide42.xml"/></Relationships>
</file>

<file path=ppt/slides/_rels/slide41.xml.rels><?xml version="1.0" encoding="UTF-8" standalone="yes"?>
<Relationships xmlns="http://schemas.openxmlformats.org/package/2006/relationships"><Relationship Id="rId8" Type="http://schemas.openxmlformats.org/officeDocument/2006/relationships/slide" Target="slide73.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40.xml"/><Relationship Id="rId7" Type="http://schemas.openxmlformats.org/officeDocument/2006/relationships/slide" Target="slide65.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41.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7.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9.xml"/><Relationship Id="rId15" Type="http://schemas.openxmlformats.org/officeDocument/2006/relationships/slide" Target="slide129.xml"/><Relationship Id="rId23" Type="http://schemas.openxmlformats.org/officeDocument/2006/relationships/slide" Target="slide43.xml"/><Relationship Id="rId10" Type="http://schemas.openxmlformats.org/officeDocument/2006/relationships/slide" Target="slide89.xml"/><Relationship Id="rId19" Type="http://schemas.openxmlformats.org/officeDocument/2006/relationships/slide" Target="slide45.xml"/><Relationship Id="rId4" Type="http://schemas.openxmlformats.org/officeDocument/2006/relationships/slide" Target="slide33.xml"/><Relationship Id="rId9" Type="http://schemas.openxmlformats.org/officeDocument/2006/relationships/slide" Target="slide81.xml"/><Relationship Id="rId14" Type="http://schemas.openxmlformats.org/officeDocument/2006/relationships/slide" Target="slide121.xml"/><Relationship Id="rId22" Type="http://schemas.openxmlformats.org/officeDocument/2006/relationships/slide" Target="slide42.xml"/></Relationships>
</file>

<file path=ppt/slides/_rels/slide42.xml.rels><?xml version="1.0" encoding="UTF-8" standalone="yes"?>
<Relationships xmlns="http://schemas.openxmlformats.org/package/2006/relationships"><Relationship Id="rId8" Type="http://schemas.openxmlformats.org/officeDocument/2006/relationships/slide" Target="slide74.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40.xml"/><Relationship Id="rId7" Type="http://schemas.openxmlformats.org/officeDocument/2006/relationships/slide" Target="slide66.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42.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8.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50.xml"/><Relationship Id="rId15" Type="http://schemas.openxmlformats.org/officeDocument/2006/relationships/slide" Target="slide130.xml"/><Relationship Id="rId23" Type="http://schemas.openxmlformats.org/officeDocument/2006/relationships/slide" Target="slide43.xml"/><Relationship Id="rId10" Type="http://schemas.openxmlformats.org/officeDocument/2006/relationships/slide" Target="slide90.xml"/><Relationship Id="rId19" Type="http://schemas.openxmlformats.org/officeDocument/2006/relationships/slide" Target="slide46.xml"/><Relationship Id="rId4" Type="http://schemas.openxmlformats.org/officeDocument/2006/relationships/slide" Target="slide34.xml"/><Relationship Id="rId9" Type="http://schemas.openxmlformats.org/officeDocument/2006/relationships/slide" Target="slide82.xml"/><Relationship Id="rId14" Type="http://schemas.openxmlformats.org/officeDocument/2006/relationships/slide" Target="slide122.xml"/><Relationship Id="rId22" Type="http://schemas.openxmlformats.org/officeDocument/2006/relationships/slide" Target="slide41.xml"/></Relationships>
</file>

<file path=ppt/slides/_rels/slide43.xml.rels><?xml version="1.0" encoding="UTF-8" standalone="yes"?>
<Relationships xmlns="http://schemas.openxmlformats.org/package/2006/relationships"><Relationship Id="rId8" Type="http://schemas.openxmlformats.org/officeDocument/2006/relationships/slide" Target="slide75.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40.xml"/><Relationship Id="rId7" Type="http://schemas.openxmlformats.org/officeDocument/2006/relationships/slide" Target="slide67.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43.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9.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51.xml"/><Relationship Id="rId15" Type="http://schemas.openxmlformats.org/officeDocument/2006/relationships/slide" Target="slide131.xml"/><Relationship Id="rId23" Type="http://schemas.openxmlformats.org/officeDocument/2006/relationships/slide" Target="slide42.xml"/><Relationship Id="rId10" Type="http://schemas.openxmlformats.org/officeDocument/2006/relationships/slide" Target="slide91.xml"/><Relationship Id="rId19" Type="http://schemas.openxmlformats.org/officeDocument/2006/relationships/slide" Target="slide47.xml"/><Relationship Id="rId4" Type="http://schemas.openxmlformats.org/officeDocument/2006/relationships/slide" Target="slide35.xml"/><Relationship Id="rId9" Type="http://schemas.openxmlformats.org/officeDocument/2006/relationships/slide" Target="slide83.xml"/><Relationship Id="rId14" Type="http://schemas.openxmlformats.org/officeDocument/2006/relationships/slide" Target="slide123.xml"/><Relationship Id="rId22" Type="http://schemas.openxmlformats.org/officeDocument/2006/relationships/slide" Target="slide41.xml"/></Relationships>
</file>

<file path=ppt/slides/_rels/slide44.xml.rels><?xml version="1.0" encoding="UTF-8" standalone="yes"?>
<Relationships xmlns="http://schemas.openxmlformats.org/package/2006/relationships"><Relationship Id="rId8" Type="http://schemas.openxmlformats.org/officeDocument/2006/relationships/slide" Target="slide76.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45.xml"/><Relationship Id="rId7" Type="http://schemas.openxmlformats.org/officeDocument/2006/relationships/slide" Target="slide68.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44.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0.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52.xml"/><Relationship Id="rId15" Type="http://schemas.openxmlformats.org/officeDocument/2006/relationships/slide" Target="slide132.xml"/><Relationship Id="rId23" Type="http://schemas.openxmlformats.org/officeDocument/2006/relationships/slide" Target="slide47.xml"/><Relationship Id="rId10" Type="http://schemas.openxmlformats.org/officeDocument/2006/relationships/slide" Target="slide92.xml"/><Relationship Id="rId19" Type="http://schemas.openxmlformats.org/officeDocument/2006/relationships/slide" Target="slide40.xml"/><Relationship Id="rId4" Type="http://schemas.openxmlformats.org/officeDocument/2006/relationships/slide" Target="slide36.xml"/><Relationship Id="rId9" Type="http://schemas.openxmlformats.org/officeDocument/2006/relationships/slide" Target="slide84.xml"/><Relationship Id="rId14" Type="http://schemas.openxmlformats.org/officeDocument/2006/relationships/slide" Target="slide124.xml"/><Relationship Id="rId22" Type="http://schemas.openxmlformats.org/officeDocument/2006/relationships/slide" Target="slide46.xml"/></Relationships>
</file>

<file path=ppt/slides/_rels/slide45.xml.rels><?xml version="1.0" encoding="UTF-8" standalone="yes"?>
<Relationships xmlns="http://schemas.openxmlformats.org/package/2006/relationships"><Relationship Id="rId8" Type="http://schemas.openxmlformats.org/officeDocument/2006/relationships/slide" Target="slide77.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44.xml"/><Relationship Id="rId7" Type="http://schemas.openxmlformats.org/officeDocument/2006/relationships/slide" Target="slide69.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45.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1.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53.xml"/><Relationship Id="rId15" Type="http://schemas.openxmlformats.org/officeDocument/2006/relationships/slide" Target="slide133.xml"/><Relationship Id="rId23" Type="http://schemas.openxmlformats.org/officeDocument/2006/relationships/slide" Target="slide47.xml"/><Relationship Id="rId10" Type="http://schemas.openxmlformats.org/officeDocument/2006/relationships/slide" Target="slide93.xml"/><Relationship Id="rId19" Type="http://schemas.openxmlformats.org/officeDocument/2006/relationships/slide" Target="slide41.xml"/><Relationship Id="rId4" Type="http://schemas.openxmlformats.org/officeDocument/2006/relationships/slide" Target="slide37.xml"/><Relationship Id="rId9" Type="http://schemas.openxmlformats.org/officeDocument/2006/relationships/slide" Target="slide85.xml"/><Relationship Id="rId14" Type="http://schemas.openxmlformats.org/officeDocument/2006/relationships/slide" Target="slide125.xml"/><Relationship Id="rId22" Type="http://schemas.openxmlformats.org/officeDocument/2006/relationships/slide" Target="slide46.xml"/></Relationships>
</file>

<file path=ppt/slides/_rels/slide46.xml.rels><?xml version="1.0" encoding="UTF-8" standalone="yes"?>
<Relationships xmlns="http://schemas.openxmlformats.org/package/2006/relationships"><Relationship Id="rId8" Type="http://schemas.openxmlformats.org/officeDocument/2006/relationships/slide" Target="slide78.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44.xml"/><Relationship Id="rId7" Type="http://schemas.openxmlformats.org/officeDocument/2006/relationships/slide" Target="slide70.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46.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2.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54.xml"/><Relationship Id="rId15" Type="http://schemas.openxmlformats.org/officeDocument/2006/relationships/slide" Target="slide134.xml"/><Relationship Id="rId23" Type="http://schemas.openxmlformats.org/officeDocument/2006/relationships/slide" Target="slide47.xml"/><Relationship Id="rId10" Type="http://schemas.openxmlformats.org/officeDocument/2006/relationships/slide" Target="slide94.xml"/><Relationship Id="rId19" Type="http://schemas.openxmlformats.org/officeDocument/2006/relationships/slide" Target="slide42.xml"/><Relationship Id="rId4" Type="http://schemas.openxmlformats.org/officeDocument/2006/relationships/slide" Target="slide38.xml"/><Relationship Id="rId9" Type="http://schemas.openxmlformats.org/officeDocument/2006/relationships/slide" Target="slide86.xml"/><Relationship Id="rId14" Type="http://schemas.openxmlformats.org/officeDocument/2006/relationships/slide" Target="slide126.xml"/><Relationship Id="rId22" Type="http://schemas.openxmlformats.org/officeDocument/2006/relationships/slide" Target="slide45.xml"/></Relationships>
</file>

<file path=ppt/slides/_rels/slide47.xml.rels><?xml version="1.0" encoding="UTF-8" standalone="yes"?>
<Relationships xmlns="http://schemas.openxmlformats.org/package/2006/relationships"><Relationship Id="rId8" Type="http://schemas.openxmlformats.org/officeDocument/2006/relationships/slide" Target="slide79.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44.xml"/><Relationship Id="rId7" Type="http://schemas.openxmlformats.org/officeDocument/2006/relationships/slide" Target="slide71.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47.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3.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55.xml"/><Relationship Id="rId15" Type="http://schemas.openxmlformats.org/officeDocument/2006/relationships/slide" Target="slide135.xml"/><Relationship Id="rId23" Type="http://schemas.openxmlformats.org/officeDocument/2006/relationships/slide" Target="slide46.xml"/><Relationship Id="rId10" Type="http://schemas.openxmlformats.org/officeDocument/2006/relationships/slide" Target="slide95.xml"/><Relationship Id="rId19" Type="http://schemas.openxmlformats.org/officeDocument/2006/relationships/slide" Target="slide43.xml"/><Relationship Id="rId4" Type="http://schemas.openxmlformats.org/officeDocument/2006/relationships/slide" Target="slide39.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45.xml"/></Relationships>
</file>

<file path=ppt/slides/_rels/slide48.xml.rels><?xml version="1.0" encoding="UTF-8" standalone="yes"?>
<Relationships xmlns="http://schemas.openxmlformats.org/package/2006/relationships"><Relationship Id="rId8" Type="http://schemas.openxmlformats.org/officeDocument/2006/relationships/slide" Target="slide72.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49.xml"/><Relationship Id="rId7" Type="http://schemas.openxmlformats.org/officeDocument/2006/relationships/slide" Target="slide64.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48.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6.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51.xml"/><Relationship Id="rId10" Type="http://schemas.openxmlformats.org/officeDocument/2006/relationships/slide" Target="slide88.xml"/><Relationship Id="rId19" Type="http://schemas.openxmlformats.org/officeDocument/2006/relationships/slide" Target="slide52.xml"/><Relationship Id="rId4" Type="http://schemas.openxmlformats.org/officeDocument/2006/relationships/slide" Target="slide32.xml"/><Relationship Id="rId9" Type="http://schemas.openxmlformats.org/officeDocument/2006/relationships/slide" Target="slide80.xml"/><Relationship Id="rId14" Type="http://schemas.openxmlformats.org/officeDocument/2006/relationships/slide" Target="slide120.xml"/><Relationship Id="rId22" Type="http://schemas.openxmlformats.org/officeDocument/2006/relationships/slide" Target="slide50.xml"/></Relationships>
</file>

<file path=ppt/slides/_rels/slide49.xml.rels><?xml version="1.0" encoding="UTF-8" standalone="yes"?>
<Relationships xmlns="http://schemas.openxmlformats.org/package/2006/relationships"><Relationship Id="rId8" Type="http://schemas.openxmlformats.org/officeDocument/2006/relationships/slide" Target="slide73.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48.xml"/><Relationship Id="rId7" Type="http://schemas.openxmlformats.org/officeDocument/2006/relationships/slide" Target="slide65.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49.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7.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51.xml"/><Relationship Id="rId10" Type="http://schemas.openxmlformats.org/officeDocument/2006/relationships/slide" Target="slide89.xml"/><Relationship Id="rId19" Type="http://schemas.openxmlformats.org/officeDocument/2006/relationships/slide" Target="slide53.xml"/><Relationship Id="rId4" Type="http://schemas.openxmlformats.org/officeDocument/2006/relationships/slide" Target="slide33.xml"/><Relationship Id="rId9" Type="http://schemas.openxmlformats.org/officeDocument/2006/relationships/slide" Target="slide81.xml"/><Relationship Id="rId14" Type="http://schemas.openxmlformats.org/officeDocument/2006/relationships/slide" Target="slide121.xml"/><Relationship Id="rId22" Type="http://schemas.openxmlformats.org/officeDocument/2006/relationships/slide" Target="slide50.xml"/></Relationships>
</file>

<file path=ppt/slides/_rels/slide50.xml.rels><?xml version="1.0" encoding="UTF-8" standalone="yes"?>
<Relationships xmlns="http://schemas.openxmlformats.org/package/2006/relationships"><Relationship Id="rId8" Type="http://schemas.openxmlformats.org/officeDocument/2006/relationships/slide" Target="slide74.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48.xml"/><Relationship Id="rId7" Type="http://schemas.openxmlformats.org/officeDocument/2006/relationships/slide" Target="slide66.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50.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8.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51.xml"/><Relationship Id="rId10" Type="http://schemas.openxmlformats.org/officeDocument/2006/relationships/slide" Target="slide90.xml"/><Relationship Id="rId19" Type="http://schemas.openxmlformats.org/officeDocument/2006/relationships/slide" Target="slide54.xml"/><Relationship Id="rId4" Type="http://schemas.openxmlformats.org/officeDocument/2006/relationships/slide" Target="slide34.xml"/><Relationship Id="rId9" Type="http://schemas.openxmlformats.org/officeDocument/2006/relationships/slide" Target="slide82.xml"/><Relationship Id="rId14" Type="http://schemas.openxmlformats.org/officeDocument/2006/relationships/slide" Target="slide122.xml"/><Relationship Id="rId22" Type="http://schemas.openxmlformats.org/officeDocument/2006/relationships/slide" Target="slide49.xml"/></Relationships>
</file>

<file path=ppt/slides/_rels/slide51.xml.rels><?xml version="1.0" encoding="UTF-8" standalone="yes"?>
<Relationships xmlns="http://schemas.openxmlformats.org/package/2006/relationships"><Relationship Id="rId8" Type="http://schemas.openxmlformats.org/officeDocument/2006/relationships/slide" Target="slide75.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48.xml"/><Relationship Id="rId7" Type="http://schemas.openxmlformats.org/officeDocument/2006/relationships/slide" Target="slide67.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51.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9.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50.xml"/><Relationship Id="rId10" Type="http://schemas.openxmlformats.org/officeDocument/2006/relationships/slide" Target="slide91.xml"/><Relationship Id="rId19" Type="http://schemas.openxmlformats.org/officeDocument/2006/relationships/slide" Target="slide55.xml"/><Relationship Id="rId4" Type="http://schemas.openxmlformats.org/officeDocument/2006/relationships/slide" Target="slide35.xml"/><Relationship Id="rId9" Type="http://schemas.openxmlformats.org/officeDocument/2006/relationships/slide" Target="slide83.xml"/><Relationship Id="rId14" Type="http://schemas.openxmlformats.org/officeDocument/2006/relationships/slide" Target="slide123.xml"/><Relationship Id="rId22" Type="http://schemas.openxmlformats.org/officeDocument/2006/relationships/slide" Target="slide49.xml"/></Relationships>
</file>

<file path=ppt/slides/_rels/slide52.xml.rels><?xml version="1.0" encoding="UTF-8" standalone="yes"?>
<Relationships xmlns="http://schemas.openxmlformats.org/package/2006/relationships"><Relationship Id="rId8" Type="http://schemas.openxmlformats.org/officeDocument/2006/relationships/slide" Target="slide76.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53.xml"/><Relationship Id="rId7" Type="http://schemas.openxmlformats.org/officeDocument/2006/relationships/slide" Target="slide68.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52.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0.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55.xml"/><Relationship Id="rId10" Type="http://schemas.openxmlformats.org/officeDocument/2006/relationships/slide" Target="slide92.xml"/><Relationship Id="rId19" Type="http://schemas.openxmlformats.org/officeDocument/2006/relationships/slide" Target="slide48.xml"/><Relationship Id="rId4" Type="http://schemas.openxmlformats.org/officeDocument/2006/relationships/slide" Target="slide36.xml"/><Relationship Id="rId9" Type="http://schemas.openxmlformats.org/officeDocument/2006/relationships/slide" Target="slide84.xml"/><Relationship Id="rId14" Type="http://schemas.openxmlformats.org/officeDocument/2006/relationships/slide" Target="slide124.xml"/><Relationship Id="rId22" Type="http://schemas.openxmlformats.org/officeDocument/2006/relationships/slide" Target="slide54.xml"/></Relationships>
</file>

<file path=ppt/slides/_rels/slide53.xml.rels><?xml version="1.0" encoding="UTF-8" standalone="yes"?>
<Relationships xmlns="http://schemas.openxmlformats.org/package/2006/relationships"><Relationship Id="rId8" Type="http://schemas.openxmlformats.org/officeDocument/2006/relationships/slide" Target="slide77.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52.xml"/><Relationship Id="rId7" Type="http://schemas.openxmlformats.org/officeDocument/2006/relationships/slide" Target="slide69.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53.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1.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55.xml"/><Relationship Id="rId10" Type="http://schemas.openxmlformats.org/officeDocument/2006/relationships/slide" Target="slide93.xml"/><Relationship Id="rId19" Type="http://schemas.openxmlformats.org/officeDocument/2006/relationships/slide" Target="slide49.xml"/><Relationship Id="rId4" Type="http://schemas.openxmlformats.org/officeDocument/2006/relationships/slide" Target="slide37.xml"/><Relationship Id="rId9" Type="http://schemas.openxmlformats.org/officeDocument/2006/relationships/slide" Target="slide85.xml"/><Relationship Id="rId14" Type="http://schemas.openxmlformats.org/officeDocument/2006/relationships/slide" Target="slide125.xml"/><Relationship Id="rId22" Type="http://schemas.openxmlformats.org/officeDocument/2006/relationships/slide" Target="slide54.xml"/></Relationships>
</file>

<file path=ppt/slides/_rels/slide54.xml.rels><?xml version="1.0" encoding="UTF-8" standalone="yes"?>
<Relationships xmlns="http://schemas.openxmlformats.org/package/2006/relationships"><Relationship Id="rId8" Type="http://schemas.openxmlformats.org/officeDocument/2006/relationships/slide" Target="slide78.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52.xml"/><Relationship Id="rId7" Type="http://schemas.openxmlformats.org/officeDocument/2006/relationships/slide" Target="slide70.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54.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2.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55.xml"/><Relationship Id="rId10" Type="http://schemas.openxmlformats.org/officeDocument/2006/relationships/slide" Target="slide94.xml"/><Relationship Id="rId19" Type="http://schemas.openxmlformats.org/officeDocument/2006/relationships/slide" Target="slide50.xml"/><Relationship Id="rId4" Type="http://schemas.openxmlformats.org/officeDocument/2006/relationships/slide" Target="slide38.xml"/><Relationship Id="rId9" Type="http://schemas.openxmlformats.org/officeDocument/2006/relationships/slide" Target="slide86.xml"/><Relationship Id="rId14" Type="http://schemas.openxmlformats.org/officeDocument/2006/relationships/slide" Target="slide126.xml"/><Relationship Id="rId22" Type="http://schemas.openxmlformats.org/officeDocument/2006/relationships/slide" Target="slide53.xml"/></Relationships>
</file>

<file path=ppt/slides/_rels/slide55.xml.rels><?xml version="1.0" encoding="UTF-8" standalone="yes"?>
<Relationships xmlns="http://schemas.openxmlformats.org/package/2006/relationships"><Relationship Id="rId8" Type="http://schemas.openxmlformats.org/officeDocument/2006/relationships/slide" Target="slide79.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52.xml"/><Relationship Id="rId7" Type="http://schemas.openxmlformats.org/officeDocument/2006/relationships/slide" Target="slide71.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55.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63.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54.xml"/><Relationship Id="rId10" Type="http://schemas.openxmlformats.org/officeDocument/2006/relationships/slide" Target="slide95.xml"/><Relationship Id="rId19" Type="http://schemas.openxmlformats.org/officeDocument/2006/relationships/slide" Target="slide51.xml"/><Relationship Id="rId4" Type="http://schemas.openxmlformats.org/officeDocument/2006/relationships/slide" Target="slide39.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53.xml"/></Relationships>
</file>

<file path=ppt/slides/_rels/slide56.xml.rels><?xml version="1.0" encoding="UTF-8" standalone="yes"?>
<Relationships xmlns="http://schemas.openxmlformats.org/package/2006/relationships"><Relationship Id="rId8" Type="http://schemas.openxmlformats.org/officeDocument/2006/relationships/slide" Target="slide72.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57.xml"/><Relationship Id="rId7" Type="http://schemas.openxmlformats.org/officeDocument/2006/relationships/slide" Target="slide64.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56.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59.xml"/><Relationship Id="rId10" Type="http://schemas.openxmlformats.org/officeDocument/2006/relationships/slide" Target="slide88.xml"/><Relationship Id="rId19" Type="http://schemas.openxmlformats.org/officeDocument/2006/relationships/slide" Target="slide60.xml"/><Relationship Id="rId4" Type="http://schemas.openxmlformats.org/officeDocument/2006/relationships/slide" Target="slide32.xml"/><Relationship Id="rId9" Type="http://schemas.openxmlformats.org/officeDocument/2006/relationships/slide" Target="slide80.xml"/><Relationship Id="rId14" Type="http://schemas.openxmlformats.org/officeDocument/2006/relationships/slide" Target="slide120.xml"/><Relationship Id="rId22" Type="http://schemas.openxmlformats.org/officeDocument/2006/relationships/slide" Target="slide58.xml"/></Relationships>
</file>

<file path=ppt/slides/_rels/slide57.xml.rels><?xml version="1.0" encoding="UTF-8" standalone="yes"?>
<Relationships xmlns="http://schemas.openxmlformats.org/package/2006/relationships"><Relationship Id="rId8" Type="http://schemas.openxmlformats.org/officeDocument/2006/relationships/slide" Target="slide73.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56.xml"/><Relationship Id="rId7" Type="http://schemas.openxmlformats.org/officeDocument/2006/relationships/slide" Target="slide65.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57.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59.xml"/><Relationship Id="rId10" Type="http://schemas.openxmlformats.org/officeDocument/2006/relationships/slide" Target="slide89.xml"/><Relationship Id="rId19" Type="http://schemas.openxmlformats.org/officeDocument/2006/relationships/slide" Target="slide61.xml"/><Relationship Id="rId4" Type="http://schemas.openxmlformats.org/officeDocument/2006/relationships/slide" Target="slide33.xml"/><Relationship Id="rId9" Type="http://schemas.openxmlformats.org/officeDocument/2006/relationships/slide" Target="slide81.xml"/><Relationship Id="rId14" Type="http://schemas.openxmlformats.org/officeDocument/2006/relationships/slide" Target="slide121.xml"/><Relationship Id="rId22" Type="http://schemas.openxmlformats.org/officeDocument/2006/relationships/slide" Target="slide58.xml"/></Relationships>
</file>

<file path=ppt/slides/_rels/slide58.xml.rels><?xml version="1.0" encoding="UTF-8" standalone="yes"?>
<Relationships xmlns="http://schemas.openxmlformats.org/package/2006/relationships"><Relationship Id="rId8" Type="http://schemas.openxmlformats.org/officeDocument/2006/relationships/slide" Target="slide74.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56.xml"/><Relationship Id="rId7" Type="http://schemas.openxmlformats.org/officeDocument/2006/relationships/slide" Target="slide66.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58.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59.xml"/><Relationship Id="rId10" Type="http://schemas.openxmlformats.org/officeDocument/2006/relationships/slide" Target="slide90.xml"/><Relationship Id="rId19" Type="http://schemas.openxmlformats.org/officeDocument/2006/relationships/slide" Target="slide62.xml"/><Relationship Id="rId4" Type="http://schemas.openxmlformats.org/officeDocument/2006/relationships/slide" Target="slide34.xml"/><Relationship Id="rId9" Type="http://schemas.openxmlformats.org/officeDocument/2006/relationships/slide" Target="slide82.xml"/><Relationship Id="rId14" Type="http://schemas.openxmlformats.org/officeDocument/2006/relationships/slide" Target="slide122.xml"/><Relationship Id="rId22" Type="http://schemas.openxmlformats.org/officeDocument/2006/relationships/slide" Target="slide57.xml"/></Relationships>
</file>

<file path=ppt/slides/_rels/slide59.xml.rels><?xml version="1.0" encoding="UTF-8" standalone="yes"?>
<Relationships xmlns="http://schemas.openxmlformats.org/package/2006/relationships"><Relationship Id="rId8" Type="http://schemas.openxmlformats.org/officeDocument/2006/relationships/slide" Target="slide75.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56.xml"/><Relationship Id="rId7" Type="http://schemas.openxmlformats.org/officeDocument/2006/relationships/slide" Target="slide67.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59.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58.xml"/><Relationship Id="rId10" Type="http://schemas.openxmlformats.org/officeDocument/2006/relationships/slide" Target="slide91.xml"/><Relationship Id="rId19" Type="http://schemas.openxmlformats.org/officeDocument/2006/relationships/slide" Target="slide63.xml"/><Relationship Id="rId4" Type="http://schemas.openxmlformats.org/officeDocument/2006/relationships/slide" Target="slide35.xml"/><Relationship Id="rId9" Type="http://schemas.openxmlformats.org/officeDocument/2006/relationships/slide" Target="slide83.xml"/><Relationship Id="rId14" Type="http://schemas.openxmlformats.org/officeDocument/2006/relationships/slide" Target="slide123.xml"/><Relationship Id="rId22" Type="http://schemas.openxmlformats.org/officeDocument/2006/relationships/slide" Target="slide57.xml"/></Relationships>
</file>

<file path=ppt/slides/_rels/slide60.xml.rels><?xml version="1.0" encoding="UTF-8" standalone="yes"?>
<Relationships xmlns="http://schemas.openxmlformats.org/package/2006/relationships"><Relationship Id="rId8" Type="http://schemas.openxmlformats.org/officeDocument/2006/relationships/slide" Target="slide76.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61.xml"/><Relationship Id="rId7" Type="http://schemas.openxmlformats.org/officeDocument/2006/relationships/slide" Target="slide68.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60.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63.xml"/><Relationship Id="rId10" Type="http://schemas.openxmlformats.org/officeDocument/2006/relationships/slide" Target="slide92.xml"/><Relationship Id="rId19" Type="http://schemas.openxmlformats.org/officeDocument/2006/relationships/slide" Target="slide56.xml"/><Relationship Id="rId4" Type="http://schemas.openxmlformats.org/officeDocument/2006/relationships/slide" Target="slide36.xml"/><Relationship Id="rId9" Type="http://schemas.openxmlformats.org/officeDocument/2006/relationships/slide" Target="slide84.xml"/><Relationship Id="rId14" Type="http://schemas.openxmlformats.org/officeDocument/2006/relationships/slide" Target="slide124.xml"/><Relationship Id="rId22" Type="http://schemas.openxmlformats.org/officeDocument/2006/relationships/slide" Target="slide62.xml"/></Relationships>
</file>

<file path=ppt/slides/_rels/slide61.xml.rels><?xml version="1.0" encoding="UTF-8" standalone="yes"?>
<Relationships xmlns="http://schemas.openxmlformats.org/package/2006/relationships"><Relationship Id="rId8" Type="http://schemas.openxmlformats.org/officeDocument/2006/relationships/slide" Target="slide77.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60.xml"/><Relationship Id="rId7" Type="http://schemas.openxmlformats.org/officeDocument/2006/relationships/slide" Target="slide69.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61.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63.xml"/><Relationship Id="rId10" Type="http://schemas.openxmlformats.org/officeDocument/2006/relationships/slide" Target="slide93.xml"/><Relationship Id="rId19" Type="http://schemas.openxmlformats.org/officeDocument/2006/relationships/slide" Target="slide57.xml"/><Relationship Id="rId4" Type="http://schemas.openxmlformats.org/officeDocument/2006/relationships/slide" Target="slide37.xml"/><Relationship Id="rId9" Type="http://schemas.openxmlformats.org/officeDocument/2006/relationships/slide" Target="slide85.xml"/><Relationship Id="rId14" Type="http://schemas.openxmlformats.org/officeDocument/2006/relationships/slide" Target="slide125.xml"/><Relationship Id="rId22" Type="http://schemas.openxmlformats.org/officeDocument/2006/relationships/slide" Target="slide62.xml"/></Relationships>
</file>

<file path=ppt/slides/_rels/slide62.xml.rels><?xml version="1.0" encoding="UTF-8" standalone="yes"?>
<Relationships xmlns="http://schemas.openxmlformats.org/package/2006/relationships"><Relationship Id="rId8" Type="http://schemas.openxmlformats.org/officeDocument/2006/relationships/slide" Target="slide78.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60.xml"/><Relationship Id="rId7" Type="http://schemas.openxmlformats.org/officeDocument/2006/relationships/slide" Target="slide70.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62.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63.xml"/><Relationship Id="rId10" Type="http://schemas.openxmlformats.org/officeDocument/2006/relationships/slide" Target="slide94.xml"/><Relationship Id="rId19" Type="http://schemas.openxmlformats.org/officeDocument/2006/relationships/slide" Target="slide58.xml"/><Relationship Id="rId4" Type="http://schemas.openxmlformats.org/officeDocument/2006/relationships/slide" Target="slide38.xml"/><Relationship Id="rId9" Type="http://schemas.openxmlformats.org/officeDocument/2006/relationships/slide" Target="slide86.xml"/><Relationship Id="rId14" Type="http://schemas.openxmlformats.org/officeDocument/2006/relationships/slide" Target="slide126.xml"/><Relationship Id="rId22" Type="http://schemas.openxmlformats.org/officeDocument/2006/relationships/slide" Target="slide61.xml"/></Relationships>
</file>

<file path=ppt/slides/_rels/slide63.xml.rels><?xml version="1.0" encoding="UTF-8" standalone="yes"?>
<Relationships xmlns="http://schemas.openxmlformats.org/package/2006/relationships"><Relationship Id="rId8" Type="http://schemas.openxmlformats.org/officeDocument/2006/relationships/slide" Target="slide79.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60.xml"/><Relationship Id="rId7" Type="http://schemas.openxmlformats.org/officeDocument/2006/relationships/slide" Target="slide71.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63.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62.xml"/><Relationship Id="rId10" Type="http://schemas.openxmlformats.org/officeDocument/2006/relationships/slide" Target="slide95.xml"/><Relationship Id="rId19" Type="http://schemas.openxmlformats.org/officeDocument/2006/relationships/slide" Target="slide59.xml"/><Relationship Id="rId4" Type="http://schemas.openxmlformats.org/officeDocument/2006/relationships/slide" Target="slide39.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61.xml"/></Relationships>
</file>

<file path=ppt/slides/_rels/slide64.xml.rels><?xml version="1.0" encoding="UTF-8" standalone="yes"?>
<Relationships xmlns="http://schemas.openxmlformats.org/package/2006/relationships"><Relationship Id="rId8" Type="http://schemas.openxmlformats.org/officeDocument/2006/relationships/slide" Target="slide72.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65.xml"/><Relationship Id="rId7" Type="http://schemas.openxmlformats.org/officeDocument/2006/relationships/slide" Target="slide56.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32.png"/><Relationship Id="rId2" Type="http://schemas.openxmlformats.org/officeDocument/2006/relationships/notesSlide" Target="../notesSlides/notesSlide64.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67.xml"/><Relationship Id="rId10" Type="http://schemas.openxmlformats.org/officeDocument/2006/relationships/slide" Target="slide88.xml"/><Relationship Id="rId19" Type="http://schemas.openxmlformats.org/officeDocument/2006/relationships/slide" Target="slide68.xml"/><Relationship Id="rId4" Type="http://schemas.openxmlformats.org/officeDocument/2006/relationships/slide" Target="slide32.xml"/><Relationship Id="rId9" Type="http://schemas.openxmlformats.org/officeDocument/2006/relationships/slide" Target="slide80.xml"/><Relationship Id="rId14" Type="http://schemas.openxmlformats.org/officeDocument/2006/relationships/slide" Target="slide120.xml"/><Relationship Id="rId22" Type="http://schemas.openxmlformats.org/officeDocument/2006/relationships/slide" Target="slide66.xml"/></Relationships>
</file>

<file path=ppt/slides/_rels/slide65.xml.rels><?xml version="1.0" encoding="UTF-8" standalone="yes"?>
<Relationships xmlns="http://schemas.openxmlformats.org/package/2006/relationships"><Relationship Id="rId8" Type="http://schemas.openxmlformats.org/officeDocument/2006/relationships/slide" Target="slide73.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64.xml"/><Relationship Id="rId7" Type="http://schemas.openxmlformats.org/officeDocument/2006/relationships/slide" Target="slide57.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65.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67.xml"/><Relationship Id="rId10" Type="http://schemas.openxmlformats.org/officeDocument/2006/relationships/slide" Target="slide89.xml"/><Relationship Id="rId19" Type="http://schemas.openxmlformats.org/officeDocument/2006/relationships/slide" Target="slide69.xml"/><Relationship Id="rId4" Type="http://schemas.openxmlformats.org/officeDocument/2006/relationships/slide" Target="slide33.xml"/><Relationship Id="rId9" Type="http://schemas.openxmlformats.org/officeDocument/2006/relationships/slide" Target="slide81.xml"/><Relationship Id="rId14" Type="http://schemas.openxmlformats.org/officeDocument/2006/relationships/slide" Target="slide121.xml"/><Relationship Id="rId22" Type="http://schemas.openxmlformats.org/officeDocument/2006/relationships/slide" Target="slide66.xml"/></Relationships>
</file>

<file path=ppt/slides/_rels/slide66.xml.rels><?xml version="1.0" encoding="UTF-8" standalone="yes"?>
<Relationships xmlns="http://schemas.openxmlformats.org/package/2006/relationships"><Relationship Id="rId8" Type="http://schemas.openxmlformats.org/officeDocument/2006/relationships/slide" Target="slide74.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64.xml"/><Relationship Id="rId7" Type="http://schemas.openxmlformats.org/officeDocument/2006/relationships/slide" Target="slide58.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66.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67.xml"/><Relationship Id="rId10" Type="http://schemas.openxmlformats.org/officeDocument/2006/relationships/slide" Target="slide90.xml"/><Relationship Id="rId19" Type="http://schemas.openxmlformats.org/officeDocument/2006/relationships/slide" Target="slide70.xml"/><Relationship Id="rId4" Type="http://schemas.openxmlformats.org/officeDocument/2006/relationships/slide" Target="slide34.xml"/><Relationship Id="rId9" Type="http://schemas.openxmlformats.org/officeDocument/2006/relationships/slide" Target="slide82.xml"/><Relationship Id="rId14" Type="http://schemas.openxmlformats.org/officeDocument/2006/relationships/slide" Target="slide122.xml"/><Relationship Id="rId22" Type="http://schemas.openxmlformats.org/officeDocument/2006/relationships/slide" Target="slide65.xml"/></Relationships>
</file>

<file path=ppt/slides/_rels/slide67.xml.rels><?xml version="1.0" encoding="UTF-8" standalone="yes"?>
<Relationships xmlns="http://schemas.openxmlformats.org/package/2006/relationships"><Relationship Id="rId8" Type="http://schemas.openxmlformats.org/officeDocument/2006/relationships/slide" Target="slide75.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64.xml"/><Relationship Id="rId7" Type="http://schemas.openxmlformats.org/officeDocument/2006/relationships/slide" Target="slide59.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32.png"/><Relationship Id="rId2" Type="http://schemas.openxmlformats.org/officeDocument/2006/relationships/notesSlide" Target="../notesSlides/notesSlide67.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66.xml"/><Relationship Id="rId10" Type="http://schemas.openxmlformats.org/officeDocument/2006/relationships/slide" Target="slide91.xml"/><Relationship Id="rId19" Type="http://schemas.openxmlformats.org/officeDocument/2006/relationships/slide" Target="slide71.xml"/><Relationship Id="rId4" Type="http://schemas.openxmlformats.org/officeDocument/2006/relationships/slide" Target="slide35.xml"/><Relationship Id="rId9" Type="http://schemas.openxmlformats.org/officeDocument/2006/relationships/slide" Target="slide83.xml"/><Relationship Id="rId14" Type="http://schemas.openxmlformats.org/officeDocument/2006/relationships/slide" Target="slide123.xml"/><Relationship Id="rId22" Type="http://schemas.openxmlformats.org/officeDocument/2006/relationships/slide" Target="slide65.xml"/></Relationships>
</file>

<file path=ppt/slides/_rels/slide68.xml.rels><?xml version="1.0" encoding="UTF-8" standalone="yes"?>
<Relationships xmlns="http://schemas.openxmlformats.org/package/2006/relationships"><Relationship Id="rId8" Type="http://schemas.openxmlformats.org/officeDocument/2006/relationships/slide" Target="slide76.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69.xml"/><Relationship Id="rId7" Type="http://schemas.openxmlformats.org/officeDocument/2006/relationships/slide" Target="slide60.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32.png"/><Relationship Id="rId2" Type="http://schemas.openxmlformats.org/officeDocument/2006/relationships/notesSlide" Target="../notesSlides/notesSlide68.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71.xml"/><Relationship Id="rId10" Type="http://schemas.openxmlformats.org/officeDocument/2006/relationships/slide" Target="slide92.xml"/><Relationship Id="rId19" Type="http://schemas.openxmlformats.org/officeDocument/2006/relationships/slide" Target="slide64.xml"/><Relationship Id="rId4" Type="http://schemas.openxmlformats.org/officeDocument/2006/relationships/slide" Target="slide36.xml"/><Relationship Id="rId9" Type="http://schemas.openxmlformats.org/officeDocument/2006/relationships/slide" Target="slide84.xml"/><Relationship Id="rId14" Type="http://schemas.openxmlformats.org/officeDocument/2006/relationships/slide" Target="slide124.xml"/><Relationship Id="rId22" Type="http://schemas.openxmlformats.org/officeDocument/2006/relationships/slide" Target="slide70.xml"/></Relationships>
</file>

<file path=ppt/slides/_rels/slide69.xml.rels><?xml version="1.0" encoding="UTF-8" standalone="yes"?>
<Relationships xmlns="http://schemas.openxmlformats.org/package/2006/relationships"><Relationship Id="rId8" Type="http://schemas.openxmlformats.org/officeDocument/2006/relationships/slide" Target="slide77.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68.xml"/><Relationship Id="rId7" Type="http://schemas.openxmlformats.org/officeDocument/2006/relationships/slide" Target="slide61.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69.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71.xml"/><Relationship Id="rId10" Type="http://schemas.openxmlformats.org/officeDocument/2006/relationships/slide" Target="slide93.xml"/><Relationship Id="rId19" Type="http://schemas.openxmlformats.org/officeDocument/2006/relationships/slide" Target="slide65.xml"/><Relationship Id="rId4" Type="http://schemas.openxmlformats.org/officeDocument/2006/relationships/slide" Target="slide37.xml"/><Relationship Id="rId9" Type="http://schemas.openxmlformats.org/officeDocument/2006/relationships/slide" Target="slide85.xml"/><Relationship Id="rId14" Type="http://schemas.openxmlformats.org/officeDocument/2006/relationships/slide" Target="slide125.xml"/><Relationship Id="rId22" Type="http://schemas.openxmlformats.org/officeDocument/2006/relationships/slide" Target="slide70.xml"/></Relationships>
</file>

<file path=ppt/slides/_rels/slide70.xml.rels><?xml version="1.0" encoding="UTF-8" standalone="yes"?>
<Relationships xmlns="http://schemas.openxmlformats.org/package/2006/relationships"><Relationship Id="rId8" Type="http://schemas.openxmlformats.org/officeDocument/2006/relationships/slide" Target="slide78.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68.xml"/><Relationship Id="rId7" Type="http://schemas.openxmlformats.org/officeDocument/2006/relationships/slide" Target="slide62.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70.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71.xml"/><Relationship Id="rId10" Type="http://schemas.openxmlformats.org/officeDocument/2006/relationships/slide" Target="slide94.xml"/><Relationship Id="rId19" Type="http://schemas.openxmlformats.org/officeDocument/2006/relationships/slide" Target="slide66.xml"/><Relationship Id="rId4" Type="http://schemas.openxmlformats.org/officeDocument/2006/relationships/slide" Target="slide38.xml"/><Relationship Id="rId9" Type="http://schemas.openxmlformats.org/officeDocument/2006/relationships/slide" Target="slide86.xml"/><Relationship Id="rId14" Type="http://schemas.openxmlformats.org/officeDocument/2006/relationships/slide" Target="slide126.xml"/><Relationship Id="rId22" Type="http://schemas.openxmlformats.org/officeDocument/2006/relationships/slide" Target="slide69.xml"/></Relationships>
</file>

<file path=ppt/slides/_rels/slide71.xml.rels><?xml version="1.0" encoding="UTF-8" standalone="yes"?>
<Relationships xmlns="http://schemas.openxmlformats.org/package/2006/relationships"><Relationship Id="rId8" Type="http://schemas.openxmlformats.org/officeDocument/2006/relationships/slide" Target="slide79.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68.xml"/><Relationship Id="rId7" Type="http://schemas.openxmlformats.org/officeDocument/2006/relationships/slide" Target="slide63.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32.png"/><Relationship Id="rId2" Type="http://schemas.openxmlformats.org/officeDocument/2006/relationships/notesSlide" Target="../notesSlides/notesSlide71.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70.xml"/><Relationship Id="rId10" Type="http://schemas.openxmlformats.org/officeDocument/2006/relationships/slide" Target="slide95.xml"/><Relationship Id="rId19" Type="http://schemas.openxmlformats.org/officeDocument/2006/relationships/slide" Target="slide67.xml"/><Relationship Id="rId4" Type="http://schemas.openxmlformats.org/officeDocument/2006/relationships/slide" Target="slide39.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69.xml"/></Relationships>
</file>

<file path=ppt/slides/_rels/slide72.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73.xml"/><Relationship Id="rId7" Type="http://schemas.openxmlformats.org/officeDocument/2006/relationships/slide" Target="slide56.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72.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75.xml"/><Relationship Id="rId10" Type="http://schemas.openxmlformats.org/officeDocument/2006/relationships/slide" Target="slide88.xml"/><Relationship Id="rId19" Type="http://schemas.openxmlformats.org/officeDocument/2006/relationships/slide" Target="slide76.xml"/><Relationship Id="rId4" Type="http://schemas.openxmlformats.org/officeDocument/2006/relationships/slide" Target="slide32.xml"/><Relationship Id="rId9" Type="http://schemas.openxmlformats.org/officeDocument/2006/relationships/slide" Target="slide80.xml"/><Relationship Id="rId14" Type="http://schemas.openxmlformats.org/officeDocument/2006/relationships/slide" Target="slide120.xml"/><Relationship Id="rId22" Type="http://schemas.openxmlformats.org/officeDocument/2006/relationships/slide" Target="slide74.xml"/></Relationships>
</file>

<file path=ppt/slides/_rels/slide73.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72.xml"/><Relationship Id="rId7" Type="http://schemas.openxmlformats.org/officeDocument/2006/relationships/slide" Target="slide57.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73.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75.xml"/><Relationship Id="rId10" Type="http://schemas.openxmlformats.org/officeDocument/2006/relationships/slide" Target="slide89.xml"/><Relationship Id="rId19" Type="http://schemas.openxmlformats.org/officeDocument/2006/relationships/slide" Target="slide77.xml"/><Relationship Id="rId4" Type="http://schemas.openxmlformats.org/officeDocument/2006/relationships/slide" Target="slide33.xml"/><Relationship Id="rId9" Type="http://schemas.openxmlformats.org/officeDocument/2006/relationships/slide" Target="slide81.xml"/><Relationship Id="rId14" Type="http://schemas.openxmlformats.org/officeDocument/2006/relationships/slide" Target="slide121.xml"/><Relationship Id="rId22" Type="http://schemas.openxmlformats.org/officeDocument/2006/relationships/slide" Target="slide74.xml"/></Relationships>
</file>

<file path=ppt/slides/_rels/slide74.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72.xml"/><Relationship Id="rId7" Type="http://schemas.openxmlformats.org/officeDocument/2006/relationships/slide" Target="slide58.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74.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75.xml"/><Relationship Id="rId10" Type="http://schemas.openxmlformats.org/officeDocument/2006/relationships/slide" Target="slide90.xml"/><Relationship Id="rId19" Type="http://schemas.openxmlformats.org/officeDocument/2006/relationships/slide" Target="slide78.xml"/><Relationship Id="rId4" Type="http://schemas.openxmlformats.org/officeDocument/2006/relationships/slide" Target="slide34.xml"/><Relationship Id="rId9" Type="http://schemas.openxmlformats.org/officeDocument/2006/relationships/slide" Target="slide82.xml"/><Relationship Id="rId14" Type="http://schemas.openxmlformats.org/officeDocument/2006/relationships/slide" Target="slide122.xml"/><Relationship Id="rId22" Type="http://schemas.openxmlformats.org/officeDocument/2006/relationships/slide" Target="slide73.xml"/></Relationships>
</file>

<file path=ppt/slides/_rels/slide75.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72.xml"/><Relationship Id="rId7" Type="http://schemas.openxmlformats.org/officeDocument/2006/relationships/slide" Target="slide59.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75.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74.xml"/><Relationship Id="rId10" Type="http://schemas.openxmlformats.org/officeDocument/2006/relationships/slide" Target="slide91.xml"/><Relationship Id="rId19" Type="http://schemas.openxmlformats.org/officeDocument/2006/relationships/slide" Target="slide79.xml"/><Relationship Id="rId4" Type="http://schemas.openxmlformats.org/officeDocument/2006/relationships/slide" Target="slide35.xml"/><Relationship Id="rId9" Type="http://schemas.openxmlformats.org/officeDocument/2006/relationships/slide" Target="slide83.xml"/><Relationship Id="rId14" Type="http://schemas.openxmlformats.org/officeDocument/2006/relationships/slide" Target="slide123.xml"/><Relationship Id="rId22" Type="http://schemas.openxmlformats.org/officeDocument/2006/relationships/slide" Target="slide73.xml"/></Relationships>
</file>

<file path=ppt/slides/_rels/slide76.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77.xml"/><Relationship Id="rId7" Type="http://schemas.openxmlformats.org/officeDocument/2006/relationships/slide" Target="slide60.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76.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79.xml"/><Relationship Id="rId10" Type="http://schemas.openxmlformats.org/officeDocument/2006/relationships/slide" Target="slide92.xml"/><Relationship Id="rId19" Type="http://schemas.openxmlformats.org/officeDocument/2006/relationships/slide" Target="slide72.xml"/><Relationship Id="rId4" Type="http://schemas.openxmlformats.org/officeDocument/2006/relationships/slide" Target="slide36.xml"/><Relationship Id="rId9" Type="http://schemas.openxmlformats.org/officeDocument/2006/relationships/slide" Target="slide84.xml"/><Relationship Id="rId14" Type="http://schemas.openxmlformats.org/officeDocument/2006/relationships/slide" Target="slide124.xml"/><Relationship Id="rId22" Type="http://schemas.openxmlformats.org/officeDocument/2006/relationships/slide" Target="slide78.xml"/></Relationships>
</file>

<file path=ppt/slides/_rels/slide77.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76.xml"/><Relationship Id="rId7" Type="http://schemas.openxmlformats.org/officeDocument/2006/relationships/slide" Target="slide61.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77.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79.xml"/><Relationship Id="rId10" Type="http://schemas.openxmlformats.org/officeDocument/2006/relationships/slide" Target="slide93.xml"/><Relationship Id="rId19" Type="http://schemas.openxmlformats.org/officeDocument/2006/relationships/slide" Target="slide73.xml"/><Relationship Id="rId4" Type="http://schemas.openxmlformats.org/officeDocument/2006/relationships/slide" Target="slide37.xml"/><Relationship Id="rId9" Type="http://schemas.openxmlformats.org/officeDocument/2006/relationships/slide" Target="slide85.xml"/><Relationship Id="rId14" Type="http://schemas.openxmlformats.org/officeDocument/2006/relationships/slide" Target="slide125.xml"/><Relationship Id="rId22" Type="http://schemas.openxmlformats.org/officeDocument/2006/relationships/slide" Target="slide78.xml"/></Relationships>
</file>

<file path=ppt/slides/_rels/slide78.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76.xml"/><Relationship Id="rId7" Type="http://schemas.openxmlformats.org/officeDocument/2006/relationships/slide" Target="slide62.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78.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79.xml"/><Relationship Id="rId10" Type="http://schemas.openxmlformats.org/officeDocument/2006/relationships/slide" Target="slide94.xml"/><Relationship Id="rId19" Type="http://schemas.openxmlformats.org/officeDocument/2006/relationships/slide" Target="slide74.xml"/><Relationship Id="rId4" Type="http://schemas.openxmlformats.org/officeDocument/2006/relationships/slide" Target="slide38.xml"/><Relationship Id="rId9" Type="http://schemas.openxmlformats.org/officeDocument/2006/relationships/slide" Target="slide86.xml"/><Relationship Id="rId14" Type="http://schemas.openxmlformats.org/officeDocument/2006/relationships/slide" Target="slide126.xml"/><Relationship Id="rId22" Type="http://schemas.openxmlformats.org/officeDocument/2006/relationships/slide" Target="slide77.xml"/></Relationships>
</file>

<file path=ppt/slides/_rels/slide79.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76.xml"/><Relationship Id="rId7" Type="http://schemas.openxmlformats.org/officeDocument/2006/relationships/slide" Target="slide63.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79.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78.xml"/><Relationship Id="rId10" Type="http://schemas.openxmlformats.org/officeDocument/2006/relationships/slide" Target="slide95.xml"/><Relationship Id="rId19" Type="http://schemas.openxmlformats.org/officeDocument/2006/relationships/slide" Target="slide75.xml"/><Relationship Id="rId4" Type="http://schemas.openxmlformats.org/officeDocument/2006/relationships/slide" Target="slide39.xml"/><Relationship Id="rId9" Type="http://schemas.openxmlformats.org/officeDocument/2006/relationships/slide" Target="slide87.xml"/><Relationship Id="rId14" Type="http://schemas.openxmlformats.org/officeDocument/2006/relationships/slide" Target="slide127.xml"/><Relationship Id="rId22" Type="http://schemas.openxmlformats.org/officeDocument/2006/relationships/slide" Target="slide77.xml"/></Relationships>
</file>

<file path=ppt/slides/_rels/slide80.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81.xml"/><Relationship Id="rId7" Type="http://schemas.openxmlformats.org/officeDocument/2006/relationships/slide" Target="slide56.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32.png"/><Relationship Id="rId2" Type="http://schemas.openxmlformats.org/officeDocument/2006/relationships/notesSlide" Target="../notesSlides/notesSlide80.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83.xml"/><Relationship Id="rId10" Type="http://schemas.openxmlformats.org/officeDocument/2006/relationships/slide" Target="slide88.xml"/><Relationship Id="rId19" Type="http://schemas.openxmlformats.org/officeDocument/2006/relationships/slide" Target="slide84.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20.xml"/><Relationship Id="rId22" Type="http://schemas.openxmlformats.org/officeDocument/2006/relationships/slide" Target="slide82.xml"/></Relationships>
</file>

<file path=ppt/slides/_rels/slide81.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80.xml"/><Relationship Id="rId7" Type="http://schemas.openxmlformats.org/officeDocument/2006/relationships/slide" Target="slide57.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81.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83.xml"/><Relationship Id="rId10" Type="http://schemas.openxmlformats.org/officeDocument/2006/relationships/slide" Target="slide89.xml"/><Relationship Id="rId19" Type="http://schemas.openxmlformats.org/officeDocument/2006/relationships/slide" Target="slide85.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21.xml"/><Relationship Id="rId22" Type="http://schemas.openxmlformats.org/officeDocument/2006/relationships/slide" Target="slide82.xml"/></Relationships>
</file>

<file path=ppt/slides/_rels/slide82.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80.xml"/><Relationship Id="rId7" Type="http://schemas.openxmlformats.org/officeDocument/2006/relationships/slide" Target="slide58.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82.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83.xml"/><Relationship Id="rId10" Type="http://schemas.openxmlformats.org/officeDocument/2006/relationships/slide" Target="slide90.xml"/><Relationship Id="rId19" Type="http://schemas.openxmlformats.org/officeDocument/2006/relationships/slide" Target="slide86.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22.xml"/><Relationship Id="rId22" Type="http://schemas.openxmlformats.org/officeDocument/2006/relationships/slide" Target="slide81.xml"/></Relationships>
</file>

<file path=ppt/slides/_rels/slide83.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80.xml"/><Relationship Id="rId7" Type="http://schemas.openxmlformats.org/officeDocument/2006/relationships/slide" Target="slide59.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32.png"/><Relationship Id="rId2" Type="http://schemas.openxmlformats.org/officeDocument/2006/relationships/notesSlide" Target="../notesSlides/notesSlide83.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82.xml"/><Relationship Id="rId10" Type="http://schemas.openxmlformats.org/officeDocument/2006/relationships/slide" Target="slide91.xml"/><Relationship Id="rId19" Type="http://schemas.openxmlformats.org/officeDocument/2006/relationships/slide" Target="slide87.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23.xml"/><Relationship Id="rId22" Type="http://schemas.openxmlformats.org/officeDocument/2006/relationships/slide" Target="slide81.xml"/></Relationships>
</file>

<file path=ppt/slides/_rels/slide84.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85.xml"/><Relationship Id="rId7" Type="http://schemas.openxmlformats.org/officeDocument/2006/relationships/slide" Target="slide60.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32.png"/><Relationship Id="rId2" Type="http://schemas.openxmlformats.org/officeDocument/2006/relationships/notesSlide" Target="../notesSlides/notesSlide84.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87.xml"/><Relationship Id="rId10" Type="http://schemas.openxmlformats.org/officeDocument/2006/relationships/slide" Target="slide92.xml"/><Relationship Id="rId19" Type="http://schemas.openxmlformats.org/officeDocument/2006/relationships/slide" Target="slide80.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24.xml"/><Relationship Id="rId22" Type="http://schemas.openxmlformats.org/officeDocument/2006/relationships/slide" Target="slide86.xml"/></Relationships>
</file>

<file path=ppt/slides/_rels/slide85.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84.xml"/><Relationship Id="rId7" Type="http://schemas.openxmlformats.org/officeDocument/2006/relationships/slide" Target="slide61.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85.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87.xml"/><Relationship Id="rId10" Type="http://schemas.openxmlformats.org/officeDocument/2006/relationships/slide" Target="slide93.xml"/><Relationship Id="rId19" Type="http://schemas.openxmlformats.org/officeDocument/2006/relationships/slide" Target="slide81.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25.xml"/><Relationship Id="rId22" Type="http://schemas.openxmlformats.org/officeDocument/2006/relationships/slide" Target="slide86.xml"/></Relationships>
</file>

<file path=ppt/slides/_rels/slide86.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84.xml"/><Relationship Id="rId7" Type="http://schemas.openxmlformats.org/officeDocument/2006/relationships/slide" Target="slide62.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86.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87.xml"/><Relationship Id="rId10" Type="http://schemas.openxmlformats.org/officeDocument/2006/relationships/slide" Target="slide94.xml"/><Relationship Id="rId19" Type="http://schemas.openxmlformats.org/officeDocument/2006/relationships/slide" Target="slide82.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26.xml"/><Relationship Id="rId22" Type="http://schemas.openxmlformats.org/officeDocument/2006/relationships/slide" Target="slide85.xml"/></Relationships>
</file>

<file path=ppt/slides/_rels/slide87.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84.xml"/><Relationship Id="rId7" Type="http://schemas.openxmlformats.org/officeDocument/2006/relationships/slide" Target="slide63.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32.png"/><Relationship Id="rId2" Type="http://schemas.openxmlformats.org/officeDocument/2006/relationships/notesSlide" Target="../notesSlides/notesSlide87.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86.xml"/><Relationship Id="rId10" Type="http://schemas.openxmlformats.org/officeDocument/2006/relationships/slide" Target="slide95.xml"/><Relationship Id="rId19" Type="http://schemas.openxmlformats.org/officeDocument/2006/relationships/slide" Target="slide83.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27.xml"/><Relationship Id="rId22" Type="http://schemas.openxmlformats.org/officeDocument/2006/relationships/slide" Target="slide85.xml"/></Relationships>
</file>

<file path=ppt/slides/_rels/slide88.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89.xml"/><Relationship Id="rId7" Type="http://schemas.openxmlformats.org/officeDocument/2006/relationships/slide" Target="slide56.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88.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96.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91.xml"/><Relationship Id="rId10" Type="http://schemas.openxmlformats.org/officeDocument/2006/relationships/slide" Target="slide80.xml"/><Relationship Id="rId19" Type="http://schemas.openxmlformats.org/officeDocument/2006/relationships/slide" Target="slide92.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20.xml"/><Relationship Id="rId22" Type="http://schemas.openxmlformats.org/officeDocument/2006/relationships/slide" Target="slide90.xml"/></Relationships>
</file>

<file path=ppt/slides/_rels/slide89.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88.xml"/><Relationship Id="rId7" Type="http://schemas.openxmlformats.org/officeDocument/2006/relationships/slide" Target="slide57.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89.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97.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91.xml"/><Relationship Id="rId10" Type="http://schemas.openxmlformats.org/officeDocument/2006/relationships/slide" Target="slide81.xml"/><Relationship Id="rId19" Type="http://schemas.openxmlformats.org/officeDocument/2006/relationships/slide" Target="slide93.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21.xml"/><Relationship Id="rId22" Type="http://schemas.openxmlformats.org/officeDocument/2006/relationships/slide" Target="slide90.xml"/></Relationships>
</file>

<file path=ppt/slides/_rels/slide90.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88.xml"/><Relationship Id="rId7" Type="http://schemas.openxmlformats.org/officeDocument/2006/relationships/slide" Target="slide58.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90.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8.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91.xml"/><Relationship Id="rId10" Type="http://schemas.openxmlformats.org/officeDocument/2006/relationships/slide" Target="slide82.xml"/><Relationship Id="rId19" Type="http://schemas.openxmlformats.org/officeDocument/2006/relationships/slide" Target="slide94.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22.xml"/><Relationship Id="rId22" Type="http://schemas.openxmlformats.org/officeDocument/2006/relationships/slide" Target="slide89.xml"/></Relationships>
</file>

<file path=ppt/slides/_rels/slide91.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88.xml"/><Relationship Id="rId7" Type="http://schemas.openxmlformats.org/officeDocument/2006/relationships/slide" Target="slide59.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91.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9.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90.xml"/><Relationship Id="rId10" Type="http://schemas.openxmlformats.org/officeDocument/2006/relationships/slide" Target="slide83.xml"/><Relationship Id="rId19" Type="http://schemas.openxmlformats.org/officeDocument/2006/relationships/slide" Target="slide95.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23.xml"/><Relationship Id="rId22" Type="http://schemas.openxmlformats.org/officeDocument/2006/relationships/slide" Target="slide89.xml"/></Relationships>
</file>

<file path=ppt/slides/_rels/slide92.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93.xml"/><Relationship Id="rId7" Type="http://schemas.openxmlformats.org/officeDocument/2006/relationships/slide" Target="slide60.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92.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100.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95.xml"/><Relationship Id="rId10" Type="http://schemas.openxmlformats.org/officeDocument/2006/relationships/slide" Target="slide84.xml"/><Relationship Id="rId19" Type="http://schemas.openxmlformats.org/officeDocument/2006/relationships/slide" Target="slide88.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24.xml"/><Relationship Id="rId22" Type="http://schemas.openxmlformats.org/officeDocument/2006/relationships/slide" Target="slide94.xml"/></Relationships>
</file>

<file path=ppt/slides/_rels/slide93.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92.xml"/><Relationship Id="rId7" Type="http://schemas.openxmlformats.org/officeDocument/2006/relationships/slide" Target="slide61.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93.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101.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95.xml"/><Relationship Id="rId10" Type="http://schemas.openxmlformats.org/officeDocument/2006/relationships/slide" Target="slide85.xml"/><Relationship Id="rId19" Type="http://schemas.openxmlformats.org/officeDocument/2006/relationships/slide" Target="slide89.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25.xml"/><Relationship Id="rId22" Type="http://schemas.openxmlformats.org/officeDocument/2006/relationships/slide" Target="slide94.xml"/></Relationships>
</file>

<file path=ppt/slides/_rels/slide94.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92.xml"/><Relationship Id="rId7" Type="http://schemas.openxmlformats.org/officeDocument/2006/relationships/slide" Target="slide62.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94.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102.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95.xml"/><Relationship Id="rId10" Type="http://schemas.openxmlformats.org/officeDocument/2006/relationships/slide" Target="slide86.xml"/><Relationship Id="rId19" Type="http://schemas.openxmlformats.org/officeDocument/2006/relationships/slide" Target="slide90.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26.xml"/><Relationship Id="rId22" Type="http://schemas.openxmlformats.org/officeDocument/2006/relationships/slide" Target="slide93.xml"/></Relationships>
</file>

<file path=ppt/slides/_rels/slide95.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92.xml"/><Relationship Id="rId7" Type="http://schemas.openxmlformats.org/officeDocument/2006/relationships/slide" Target="slide63.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95.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103.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94.xml"/><Relationship Id="rId10" Type="http://schemas.openxmlformats.org/officeDocument/2006/relationships/slide" Target="slide87.xml"/><Relationship Id="rId19" Type="http://schemas.openxmlformats.org/officeDocument/2006/relationships/slide" Target="slide91.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27.xml"/><Relationship Id="rId22" Type="http://schemas.openxmlformats.org/officeDocument/2006/relationships/slide" Target="slide93.xml"/></Relationships>
</file>

<file path=ppt/slides/_rels/slide96.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97.xml"/><Relationship Id="rId7" Type="http://schemas.openxmlformats.org/officeDocument/2006/relationships/slide" Target="slide56.xml"/><Relationship Id="rId12" Type="http://schemas.openxmlformats.org/officeDocument/2006/relationships/slide" Target="slide104.xml"/><Relationship Id="rId17" Type="http://schemas.openxmlformats.org/officeDocument/2006/relationships/slide" Target="slide144.xml"/><Relationship Id="rId25" Type="http://schemas.openxmlformats.org/officeDocument/2006/relationships/image" Target="../media/image32.png"/><Relationship Id="rId2" Type="http://schemas.openxmlformats.org/officeDocument/2006/relationships/notesSlide" Target="../notesSlides/notesSlide96.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99.xml"/><Relationship Id="rId10" Type="http://schemas.openxmlformats.org/officeDocument/2006/relationships/slide" Target="slide80.xml"/><Relationship Id="rId19" Type="http://schemas.openxmlformats.org/officeDocument/2006/relationships/slide" Target="slide100.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20.xml"/><Relationship Id="rId22" Type="http://schemas.openxmlformats.org/officeDocument/2006/relationships/slide" Target="slide98.xml"/></Relationships>
</file>

<file path=ppt/slides/_rels/slide97.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96.xml"/><Relationship Id="rId7" Type="http://schemas.openxmlformats.org/officeDocument/2006/relationships/slide" Target="slide57.xml"/><Relationship Id="rId12" Type="http://schemas.openxmlformats.org/officeDocument/2006/relationships/slide" Target="slide105.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97.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99.xml"/><Relationship Id="rId10" Type="http://schemas.openxmlformats.org/officeDocument/2006/relationships/slide" Target="slide81.xml"/><Relationship Id="rId19" Type="http://schemas.openxmlformats.org/officeDocument/2006/relationships/slide" Target="slide101.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21.xml"/><Relationship Id="rId22" Type="http://schemas.openxmlformats.org/officeDocument/2006/relationships/slide" Target="slide98.xml"/></Relationships>
</file>

<file path=ppt/slides/_rels/slide98.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96.xml"/><Relationship Id="rId7" Type="http://schemas.openxmlformats.org/officeDocument/2006/relationships/slide" Target="slide58.xml"/><Relationship Id="rId12" Type="http://schemas.openxmlformats.org/officeDocument/2006/relationships/slide" Target="slide106.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98.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99.xml"/><Relationship Id="rId10" Type="http://schemas.openxmlformats.org/officeDocument/2006/relationships/slide" Target="slide82.xml"/><Relationship Id="rId19" Type="http://schemas.openxmlformats.org/officeDocument/2006/relationships/slide" Target="slide102.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22.xml"/><Relationship Id="rId22" Type="http://schemas.openxmlformats.org/officeDocument/2006/relationships/slide" Target="slide97.xml"/></Relationships>
</file>

<file path=ppt/slides/_rels/slide9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96.xml"/><Relationship Id="rId7" Type="http://schemas.openxmlformats.org/officeDocument/2006/relationships/slide" Target="slide59.xml"/><Relationship Id="rId12" Type="http://schemas.openxmlformats.org/officeDocument/2006/relationships/slide" Target="slide107.xml"/><Relationship Id="rId17" Type="http://schemas.openxmlformats.org/officeDocument/2006/relationships/slide" Target="slide147.xml"/><Relationship Id="rId25" Type="http://schemas.openxmlformats.org/officeDocument/2006/relationships/image" Target="../media/image32.png"/><Relationship Id="rId2" Type="http://schemas.openxmlformats.org/officeDocument/2006/relationships/notesSlide" Target="../notesSlides/notesSlide99.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98.xml"/><Relationship Id="rId10" Type="http://schemas.openxmlformats.org/officeDocument/2006/relationships/slide" Target="slide83.xml"/><Relationship Id="rId19" Type="http://schemas.openxmlformats.org/officeDocument/2006/relationships/slide" Target="slide103.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23.xml"/><Relationship Id="rId22" Type="http://schemas.openxmlformats.org/officeDocument/2006/relationships/slide" Target="slide97.xml"/></Relationships>
</file>

<file path=ppt/slides/_rels/slide100.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01.xml"/><Relationship Id="rId7" Type="http://schemas.openxmlformats.org/officeDocument/2006/relationships/slide" Target="slide60.xml"/><Relationship Id="rId12" Type="http://schemas.openxmlformats.org/officeDocument/2006/relationships/slide" Target="slide108.xml"/><Relationship Id="rId17" Type="http://schemas.openxmlformats.org/officeDocument/2006/relationships/slide" Target="slide148.xml"/><Relationship Id="rId25" Type="http://schemas.openxmlformats.org/officeDocument/2006/relationships/image" Target="../media/image32.png"/><Relationship Id="rId2" Type="http://schemas.openxmlformats.org/officeDocument/2006/relationships/notesSlide" Target="../notesSlides/notesSlide100.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103.xml"/><Relationship Id="rId10" Type="http://schemas.openxmlformats.org/officeDocument/2006/relationships/slide" Target="slide84.xml"/><Relationship Id="rId19" Type="http://schemas.openxmlformats.org/officeDocument/2006/relationships/slide" Target="slide96.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24.xml"/><Relationship Id="rId22" Type="http://schemas.openxmlformats.org/officeDocument/2006/relationships/slide" Target="slide102.xml"/></Relationships>
</file>

<file path=ppt/slides/_rels/slide101.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00.xml"/><Relationship Id="rId7" Type="http://schemas.openxmlformats.org/officeDocument/2006/relationships/slide" Target="slide61.xml"/><Relationship Id="rId12" Type="http://schemas.openxmlformats.org/officeDocument/2006/relationships/slide" Target="slide109.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101.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103.xml"/><Relationship Id="rId10" Type="http://schemas.openxmlformats.org/officeDocument/2006/relationships/slide" Target="slide85.xml"/><Relationship Id="rId19" Type="http://schemas.openxmlformats.org/officeDocument/2006/relationships/slide" Target="slide97.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25.xml"/><Relationship Id="rId22" Type="http://schemas.openxmlformats.org/officeDocument/2006/relationships/slide" Target="slide102.xml"/></Relationships>
</file>

<file path=ppt/slides/_rels/slide102.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00.xml"/><Relationship Id="rId7" Type="http://schemas.openxmlformats.org/officeDocument/2006/relationships/slide" Target="slide62.xml"/><Relationship Id="rId12" Type="http://schemas.openxmlformats.org/officeDocument/2006/relationships/slide" Target="slide110.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102.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103.xml"/><Relationship Id="rId10" Type="http://schemas.openxmlformats.org/officeDocument/2006/relationships/slide" Target="slide86.xml"/><Relationship Id="rId19" Type="http://schemas.openxmlformats.org/officeDocument/2006/relationships/slide" Target="slide98.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26.xml"/><Relationship Id="rId22" Type="http://schemas.openxmlformats.org/officeDocument/2006/relationships/slide" Target="slide101.xml"/></Relationships>
</file>

<file path=ppt/slides/_rels/slide103.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00.xml"/><Relationship Id="rId7" Type="http://schemas.openxmlformats.org/officeDocument/2006/relationships/slide" Target="slide63.xml"/><Relationship Id="rId12" Type="http://schemas.openxmlformats.org/officeDocument/2006/relationships/slide" Target="slide111.xml"/><Relationship Id="rId17" Type="http://schemas.openxmlformats.org/officeDocument/2006/relationships/slide" Target="slide151.xml"/><Relationship Id="rId25" Type="http://schemas.openxmlformats.org/officeDocument/2006/relationships/image" Target="../media/image32.png"/><Relationship Id="rId2" Type="http://schemas.openxmlformats.org/officeDocument/2006/relationships/notesSlide" Target="../notesSlides/notesSlide103.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102.xml"/><Relationship Id="rId10" Type="http://schemas.openxmlformats.org/officeDocument/2006/relationships/slide" Target="slide87.xml"/><Relationship Id="rId19" Type="http://schemas.openxmlformats.org/officeDocument/2006/relationships/slide" Target="slide99.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27.xml"/><Relationship Id="rId22" Type="http://schemas.openxmlformats.org/officeDocument/2006/relationships/slide" Target="slide101.xml"/></Relationships>
</file>

<file path=ppt/slides/_rels/slide104.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12.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05.xml"/><Relationship Id="rId7" Type="http://schemas.openxmlformats.org/officeDocument/2006/relationships/slide" Target="slide56.xml"/><Relationship Id="rId12" Type="http://schemas.openxmlformats.org/officeDocument/2006/relationships/slide" Target="slide96.xml"/><Relationship Id="rId17" Type="http://schemas.openxmlformats.org/officeDocument/2006/relationships/slide" Target="slide144.xml"/><Relationship Id="rId25" Type="http://schemas.openxmlformats.org/officeDocument/2006/relationships/image" Target="../media/image32.png"/><Relationship Id="rId2" Type="http://schemas.openxmlformats.org/officeDocument/2006/relationships/notesSlide" Target="../notesSlides/notesSlide104.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107.xml"/><Relationship Id="rId10" Type="http://schemas.openxmlformats.org/officeDocument/2006/relationships/slide" Target="slide80.xml"/><Relationship Id="rId19" Type="http://schemas.openxmlformats.org/officeDocument/2006/relationships/slide" Target="slide108.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20.xml"/><Relationship Id="rId22" Type="http://schemas.openxmlformats.org/officeDocument/2006/relationships/slide" Target="slide106.xml"/></Relationships>
</file>

<file path=ppt/slides/_rels/slide105.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13.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04.xml"/><Relationship Id="rId7" Type="http://schemas.openxmlformats.org/officeDocument/2006/relationships/slide" Target="slide57.xml"/><Relationship Id="rId12" Type="http://schemas.openxmlformats.org/officeDocument/2006/relationships/slide" Target="slide97.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105.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107.xml"/><Relationship Id="rId10" Type="http://schemas.openxmlformats.org/officeDocument/2006/relationships/slide" Target="slide81.xml"/><Relationship Id="rId19" Type="http://schemas.openxmlformats.org/officeDocument/2006/relationships/slide" Target="slide109.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21.xml"/><Relationship Id="rId22" Type="http://schemas.openxmlformats.org/officeDocument/2006/relationships/slide" Target="slide106.xml"/></Relationships>
</file>

<file path=ppt/slides/_rels/slide106.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14.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04.xml"/><Relationship Id="rId7" Type="http://schemas.openxmlformats.org/officeDocument/2006/relationships/slide" Target="slide58.xml"/><Relationship Id="rId12" Type="http://schemas.openxmlformats.org/officeDocument/2006/relationships/slide" Target="slide98.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106.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107.xml"/><Relationship Id="rId10" Type="http://schemas.openxmlformats.org/officeDocument/2006/relationships/slide" Target="slide82.xml"/><Relationship Id="rId19" Type="http://schemas.openxmlformats.org/officeDocument/2006/relationships/slide" Target="slide110.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22.xml"/><Relationship Id="rId22" Type="http://schemas.openxmlformats.org/officeDocument/2006/relationships/slide" Target="slide105.xml"/></Relationships>
</file>

<file path=ppt/slides/_rels/slide107.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15.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04.xml"/><Relationship Id="rId7" Type="http://schemas.openxmlformats.org/officeDocument/2006/relationships/slide" Target="slide59.xml"/><Relationship Id="rId12" Type="http://schemas.openxmlformats.org/officeDocument/2006/relationships/slide" Target="slide99.xml"/><Relationship Id="rId17" Type="http://schemas.openxmlformats.org/officeDocument/2006/relationships/slide" Target="slide147.xml"/><Relationship Id="rId25" Type="http://schemas.openxmlformats.org/officeDocument/2006/relationships/image" Target="../media/image32.png"/><Relationship Id="rId2" Type="http://schemas.openxmlformats.org/officeDocument/2006/relationships/notesSlide" Target="../notesSlides/notesSlide107.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106.xml"/><Relationship Id="rId10" Type="http://schemas.openxmlformats.org/officeDocument/2006/relationships/slide" Target="slide83.xml"/><Relationship Id="rId19" Type="http://schemas.openxmlformats.org/officeDocument/2006/relationships/slide" Target="slide111.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23.xml"/><Relationship Id="rId22" Type="http://schemas.openxmlformats.org/officeDocument/2006/relationships/slide" Target="slide105.xml"/></Relationships>
</file>

<file path=ppt/slides/_rels/slide108.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16.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09.xml"/><Relationship Id="rId7" Type="http://schemas.openxmlformats.org/officeDocument/2006/relationships/slide" Target="slide60.xml"/><Relationship Id="rId12" Type="http://schemas.openxmlformats.org/officeDocument/2006/relationships/slide" Target="slide100.xml"/><Relationship Id="rId17" Type="http://schemas.openxmlformats.org/officeDocument/2006/relationships/slide" Target="slide148.xml"/><Relationship Id="rId25" Type="http://schemas.openxmlformats.org/officeDocument/2006/relationships/image" Target="../media/image32.png"/><Relationship Id="rId2" Type="http://schemas.openxmlformats.org/officeDocument/2006/relationships/notesSlide" Target="../notesSlides/notesSlide108.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111.xml"/><Relationship Id="rId10" Type="http://schemas.openxmlformats.org/officeDocument/2006/relationships/slide" Target="slide84.xml"/><Relationship Id="rId19" Type="http://schemas.openxmlformats.org/officeDocument/2006/relationships/slide" Target="slide104.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24.xml"/><Relationship Id="rId22" Type="http://schemas.openxmlformats.org/officeDocument/2006/relationships/slide" Target="slide110.xml"/></Relationships>
</file>

<file path=ppt/slides/_rels/slide109.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17.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08.xml"/><Relationship Id="rId7" Type="http://schemas.openxmlformats.org/officeDocument/2006/relationships/slide" Target="slide61.xml"/><Relationship Id="rId12" Type="http://schemas.openxmlformats.org/officeDocument/2006/relationships/slide" Target="slide101.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109.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111.xml"/><Relationship Id="rId10" Type="http://schemas.openxmlformats.org/officeDocument/2006/relationships/slide" Target="slide85.xml"/><Relationship Id="rId19" Type="http://schemas.openxmlformats.org/officeDocument/2006/relationships/slide" Target="slide105.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25.xml"/><Relationship Id="rId22" Type="http://schemas.openxmlformats.org/officeDocument/2006/relationships/slide" Target="slide110.xml"/></Relationships>
</file>

<file path=ppt/slides/_rels/slide110.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8.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08.xml"/><Relationship Id="rId7" Type="http://schemas.openxmlformats.org/officeDocument/2006/relationships/slide" Target="slide62.xml"/><Relationship Id="rId12" Type="http://schemas.openxmlformats.org/officeDocument/2006/relationships/slide" Target="slide102.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110.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111.xml"/><Relationship Id="rId10" Type="http://schemas.openxmlformats.org/officeDocument/2006/relationships/slide" Target="slide86.xml"/><Relationship Id="rId19" Type="http://schemas.openxmlformats.org/officeDocument/2006/relationships/slide" Target="slide106.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26.xml"/><Relationship Id="rId22" Type="http://schemas.openxmlformats.org/officeDocument/2006/relationships/slide" Target="slide109.xml"/></Relationships>
</file>

<file path=ppt/slides/_rels/slide111.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9.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08.xml"/><Relationship Id="rId7" Type="http://schemas.openxmlformats.org/officeDocument/2006/relationships/slide" Target="slide63.xml"/><Relationship Id="rId12" Type="http://schemas.openxmlformats.org/officeDocument/2006/relationships/slide" Target="slide103.xml"/><Relationship Id="rId17" Type="http://schemas.openxmlformats.org/officeDocument/2006/relationships/slide" Target="slide151.xml"/><Relationship Id="rId25" Type="http://schemas.openxmlformats.org/officeDocument/2006/relationships/image" Target="../media/image32.png"/><Relationship Id="rId2" Type="http://schemas.openxmlformats.org/officeDocument/2006/relationships/notesSlide" Target="../notesSlides/notesSlide111.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110.xml"/><Relationship Id="rId10" Type="http://schemas.openxmlformats.org/officeDocument/2006/relationships/slide" Target="slide87.xml"/><Relationship Id="rId19" Type="http://schemas.openxmlformats.org/officeDocument/2006/relationships/slide" Target="slide107.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27.xml"/><Relationship Id="rId22" Type="http://schemas.openxmlformats.org/officeDocument/2006/relationships/slide" Target="slide109.xml"/></Relationships>
</file>

<file path=ppt/slides/_rels/slide112.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04.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13.xml"/><Relationship Id="rId7" Type="http://schemas.openxmlformats.org/officeDocument/2006/relationships/slide" Target="slide56.xml"/><Relationship Id="rId12" Type="http://schemas.openxmlformats.org/officeDocument/2006/relationships/slide" Target="slide96.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112.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115.xml"/><Relationship Id="rId10" Type="http://schemas.openxmlformats.org/officeDocument/2006/relationships/slide" Target="slide80.xml"/><Relationship Id="rId19" Type="http://schemas.openxmlformats.org/officeDocument/2006/relationships/slide" Target="slide116.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20.xml"/><Relationship Id="rId22" Type="http://schemas.openxmlformats.org/officeDocument/2006/relationships/slide" Target="slide114.xml"/></Relationships>
</file>

<file path=ppt/slides/_rels/slide113.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05.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12.xml"/><Relationship Id="rId7" Type="http://schemas.openxmlformats.org/officeDocument/2006/relationships/slide" Target="slide57.xml"/><Relationship Id="rId12" Type="http://schemas.openxmlformats.org/officeDocument/2006/relationships/slide" Target="slide97.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113.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115.xml"/><Relationship Id="rId10" Type="http://schemas.openxmlformats.org/officeDocument/2006/relationships/slide" Target="slide81.xml"/><Relationship Id="rId19" Type="http://schemas.openxmlformats.org/officeDocument/2006/relationships/slide" Target="slide117.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21.xml"/><Relationship Id="rId22" Type="http://schemas.openxmlformats.org/officeDocument/2006/relationships/slide" Target="slide114.xml"/></Relationships>
</file>

<file path=ppt/slides/_rels/slide114.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06.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12.xml"/><Relationship Id="rId7" Type="http://schemas.openxmlformats.org/officeDocument/2006/relationships/slide" Target="slide58.xml"/><Relationship Id="rId12" Type="http://schemas.openxmlformats.org/officeDocument/2006/relationships/slide" Target="slide98.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114.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115.xml"/><Relationship Id="rId10" Type="http://schemas.openxmlformats.org/officeDocument/2006/relationships/slide" Target="slide82.xml"/><Relationship Id="rId19" Type="http://schemas.openxmlformats.org/officeDocument/2006/relationships/slide" Target="slide118.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22.xml"/><Relationship Id="rId22" Type="http://schemas.openxmlformats.org/officeDocument/2006/relationships/slide" Target="slide113.xml"/></Relationships>
</file>

<file path=ppt/slides/_rels/slide115.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07.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12.xml"/><Relationship Id="rId7" Type="http://schemas.openxmlformats.org/officeDocument/2006/relationships/slide" Target="slide59.xml"/><Relationship Id="rId12" Type="http://schemas.openxmlformats.org/officeDocument/2006/relationships/slide" Target="slide99.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115.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114.xml"/><Relationship Id="rId10" Type="http://schemas.openxmlformats.org/officeDocument/2006/relationships/slide" Target="slide83.xml"/><Relationship Id="rId19" Type="http://schemas.openxmlformats.org/officeDocument/2006/relationships/slide" Target="slide119.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23.xml"/><Relationship Id="rId22" Type="http://schemas.openxmlformats.org/officeDocument/2006/relationships/slide" Target="slide113.xml"/></Relationships>
</file>

<file path=ppt/slides/_rels/slide116.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08.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17.xml"/><Relationship Id="rId7" Type="http://schemas.openxmlformats.org/officeDocument/2006/relationships/slide" Target="slide60.xml"/><Relationship Id="rId12" Type="http://schemas.openxmlformats.org/officeDocument/2006/relationships/slide" Target="slide100.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116.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119.xml"/><Relationship Id="rId10" Type="http://schemas.openxmlformats.org/officeDocument/2006/relationships/slide" Target="slide84.xml"/><Relationship Id="rId19" Type="http://schemas.openxmlformats.org/officeDocument/2006/relationships/slide" Target="slide112.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24.xml"/><Relationship Id="rId22" Type="http://schemas.openxmlformats.org/officeDocument/2006/relationships/slide" Target="slide118.xml"/></Relationships>
</file>

<file path=ppt/slides/_rels/slide117.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09.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16.xml"/><Relationship Id="rId7" Type="http://schemas.openxmlformats.org/officeDocument/2006/relationships/slide" Target="slide61.xml"/><Relationship Id="rId12" Type="http://schemas.openxmlformats.org/officeDocument/2006/relationships/slide" Target="slide101.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117.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119.xml"/><Relationship Id="rId10" Type="http://schemas.openxmlformats.org/officeDocument/2006/relationships/slide" Target="slide85.xml"/><Relationship Id="rId19" Type="http://schemas.openxmlformats.org/officeDocument/2006/relationships/slide" Target="slide113.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25.xml"/><Relationship Id="rId22" Type="http://schemas.openxmlformats.org/officeDocument/2006/relationships/slide" Target="slide118.xml"/></Relationships>
</file>

<file path=ppt/slides/_rels/slide118.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0.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16.xml"/><Relationship Id="rId7" Type="http://schemas.openxmlformats.org/officeDocument/2006/relationships/slide" Target="slide62.xml"/><Relationship Id="rId12" Type="http://schemas.openxmlformats.org/officeDocument/2006/relationships/slide" Target="slide102.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118.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119.xml"/><Relationship Id="rId10" Type="http://schemas.openxmlformats.org/officeDocument/2006/relationships/slide" Target="slide86.xml"/><Relationship Id="rId19" Type="http://schemas.openxmlformats.org/officeDocument/2006/relationships/slide" Target="slide114.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26.xml"/><Relationship Id="rId22" Type="http://schemas.openxmlformats.org/officeDocument/2006/relationships/slide" Target="slide117.xml"/></Relationships>
</file>

<file path=ppt/slides/_rels/slide119.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1.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16.xml"/><Relationship Id="rId7" Type="http://schemas.openxmlformats.org/officeDocument/2006/relationships/slide" Target="slide63.xml"/><Relationship Id="rId12" Type="http://schemas.openxmlformats.org/officeDocument/2006/relationships/slide" Target="slide103.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119.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118.xml"/><Relationship Id="rId10" Type="http://schemas.openxmlformats.org/officeDocument/2006/relationships/slide" Target="slide87.xml"/><Relationship Id="rId19" Type="http://schemas.openxmlformats.org/officeDocument/2006/relationships/slide" Target="slide115.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27.xml"/><Relationship Id="rId22" Type="http://schemas.openxmlformats.org/officeDocument/2006/relationships/slide" Target="slide117.xml"/></Relationships>
</file>

<file path=ppt/slides/_rels/slide120.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04.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21.xml"/><Relationship Id="rId7" Type="http://schemas.openxmlformats.org/officeDocument/2006/relationships/slide" Target="slide56.xml"/><Relationship Id="rId12" Type="http://schemas.openxmlformats.org/officeDocument/2006/relationships/slide" Target="slide96.xml"/><Relationship Id="rId17" Type="http://schemas.openxmlformats.org/officeDocument/2006/relationships/slide" Target="slide144.xml"/><Relationship Id="rId25" Type="http://schemas.openxmlformats.org/officeDocument/2006/relationships/image" Target="../media/image32.png"/><Relationship Id="rId2" Type="http://schemas.openxmlformats.org/officeDocument/2006/relationships/notesSlide" Target="../notesSlides/notesSlide120.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8.xml"/><Relationship Id="rId23" Type="http://schemas.openxmlformats.org/officeDocument/2006/relationships/slide" Target="slide123.xml"/><Relationship Id="rId10" Type="http://schemas.openxmlformats.org/officeDocument/2006/relationships/slide" Target="slide80.xml"/><Relationship Id="rId19" Type="http://schemas.openxmlformats.org/officeDocument/2006/relationships/slide" Target="slide124.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12.xml"/><Relationship Id="rId22" Type="http://schemas.openxmlformats.org/officeDocument/2006/relationships/slide" Target="slide122.xml"/></Relationships>
</file>

<file path=ppt/slides/_rels/slide121.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05.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20.xml"/><Relationship Id="rId7" Type="http://schemas.openxmlformats.org/officeDocument/2006/relationships/slide" Target="slide57.xml"/><Relationship Id="rId12" Type="http://schemas.openxmlformats.org/officeDocument/2006/relationships/slide" Target="slide97.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121.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9.xml"/><Relationship Id="rId23" Type="http://schemas.openxmlformats.org/officeDocument/2006/relationships/slide" Target="slide123.xml"/><Relationship Id="rId10" Type="http://schemas.openxmlformats.org/officeDocument/2006/relationships/slide" Target="slide81.xml"/><Relationship Id="rId19" Type="http://schemas.openxmlformats.org/officeDocument/2006/relationships/slide" Target="slide125.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13.xml"/><Relationship Id="rId22" Type="http://schemas.openxmlformats.org/officeDocument/2006/relationships/slide" Target="slide122.xml"/></Relationships>
</file>

<file path=ppt/slides/_rels/slide122.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06.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20.xml"/><Relationship Id="rId7" Type="http://schemas.openxmlformats.org/officeDocument/2006/relationships/slide" Target="slide58.xml"/><Relationship Id="rId12" Type="http://schemas.openxmlformats.org/officeDocument/2006/relationships/slide" Target="slide98.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122.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30.xml"/><Relationship Id="rId23" Type="http://schemas.openxmlformats.org/officeDocument/2006/relationships/slide" Target="slide123.xml"/><Relationship Id="rId10" Type="http://schemas.openxmlformats.org/officeDocument/2006/relationships/slide" Target="slide82.xml"/><Relationship Id="rId19" Type="http://schemas.openxmlformats.org/officeDocument/2006/relationships/slide" Target="slide126.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14.xml"/><Relationship Id="rId22" Type="http://schemas.openxmlformats.org/officeDocument/2006/relationships/slide" Target="slide121.xml"/></Relationships>
</file>

<file path=ppt/slides/_rels/slide123.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07.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20.xml"/><Relationship Id="rId7" Type="http://schemas.openxmlformats.org/officeDocument/2006/relationships/slide" Target="slide59.xml"/><Relationship Id="rId12" Type="http://schemas.openxmlformats.org/officeDocument/2006/relationships/slide" Target="slide99.xml"/><Relationship Id="rId17" Type="http://schemas.openxmlformats.org/officeDocument/2006/relationships/slide" Target="slide147.xml"/><Relationship Id="rId25" Type="http://schemas.openxmlformats.org/officeDocument/2006/relationships/image" Target="../media/image32.png"/><Relationship Id="rId2" Type="http://schemas.openxmlformats.org/officeDocument/2006/relationships/notesSlide" Target="../notesSlides/notesSlide123.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31.xml"/><Relationship Id="rId23" Type="http://schemas.openxmlformats.org/officeDocument/2006/relationships/slide" Target="slide122.xml"/><Relationship Id="rId10" Type="http://schemas.openxmlformats.org/officeDocument/2006/relationships/slide" Target="slide83.xml"/><Relationship Id="rId19" Type="http://schemas.openxmlformats.org/officeDocument/2006/relationships/slide" Target="slide127.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15.xml"/><Relationship Id="rId22" Type="http://schemas.openxmlformats.org/officeDocument/2006/relationships/slide" Target="slide121.xml"/></Relationships>
</file>

<file path=ppt/slides/_rels/slide124.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08.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25.xml"/><Relationship Id="rId7" Type="http://schemas.openxmlformats.org/officeDocument/2006/relationships/slide" Target="slide60.xml"/><Relationship Id="rId12" Type="http://schemas.openxmlformats.org/officeDocument/2006/relationships/slide" Target="slide100.xml"/><Relationship Id="rId17" Type="http://schemas.openxmlformats.org/officeDocument/2006/relationships/slide" Target="slide148.xml"/><Relationship Id="rId25" Type="http://schemas.openxmlformats.org/officeDocument/2006/relationships/image" Target="../media/image32.png"/><Relationship Id="rId2" Type="http://schemas.openxmlformats.org/officeDocument/2006/relationships/notesSlide" Target="../notesSlides/notesSlide124.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32.xml"/><Relationship Id="rId23" Type="http://schemas.openxmlformats.org/officeDocument/2006/relationships/slide" Target="slide127.xml"/><Relationship Id="rId10" Type="http://schemas.openxmlformats.org/officeDocument/2006/relationships/slide" Target="slide84.xml"/><Relationship Id="rId19" Type="http://schemas.openxmlformats.org/officeDocument/2006/relationships/slide" Target="slide120.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16.xml"/><Relationship Id="rId22" Type="http://schemas.openxmlformats.org/officeDocument/2006/relationships/slide" Target="slide126.xml"/></Relationships>
</file>

<file path=ppt/slides/_rels/slide125.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09.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24.xml"/><Relationship Id="rId7" Type="http://schemas.openxmlformats.org/officeDocument/2006/relationships/slide" Target="slide61.xml"/><Relationship Id="rId12" Type="http://schemas.openxmlformats.org/officeDocument/2006/relationships/slide" Target="slide101.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125.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33.xml"/><Relationship Id="rId23" Type="http://schemas.openxmlformats.org/officeDocument/2006/relationships/slide" Target="slide127.xml"/><Relationship Id="rId10" Type="http://schemas.openxmlformats.org/officeDocument/2006/relationships/slide" Target="slide85.xml"/><Relationship Id="rId19" Type="http://schemas.openxmlformats.org/officeDocument/2006/relationships/slide" Target="slide121.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17.xml"/><Relationship Id="rId22" Type="http://schemas.openxmlformats.org/officeDocument/2006/relationships/slide" Target="slide126.xml"/></Relationships>
</file>

<file path=ppt/slides/_rels/slide126.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0.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24.xml"/><Relationship Id="rId7" Type="http://schemas.openxmlformats.org/officeDocument/2006/relationships/slide" Target="slide62.xml"/><Relationship Id="rId12" Type="http://schemas.openxmlformats.org/officeDocument/2006/relationships/slide" Target="slide102.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126.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34.xml"/><Relationship Id="rId23" Type="http://schemas.openxmlformats.org/officeDocument/2006/relationships/slide" Target="slide127.xml"/><Relationship Id="rId10" Type="http://schemas.openxmlformats.org/officeDocument/2006/relationships/slide" Target="slide86.xml"/><Relationship Id="rId19" Type="http://schemas.openxmlformats.org/officeDocument/2006/relationships/slide" Target="slide122.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18.xml"/><Relationship Id="rId22" Type="http://schemas.openxmlformats.org/officeDocument/2006/relationships/slide" Target="slide125.xml"/></Relationships>
</file>

<file path=ppt/slides/_rels/slide127.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1.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24.xml"/><Relationship Id="rId7" Type="http://schemas.openxmlformats.org/officeDocument/2006/relationships/slide" Target="slide63.xml"/><Relationship Id="rId12" Type="http://schemas.openxmlformats.org/officeDocument/2006/relationships/slide" Target="slide103.xml"/><Relationship Id="rId17" Type="http://schemas.openxmlformats.org/officeDocument/2006/relationships/slide" Target="slide151.xml"/><Relationship Id="rId25" Type="http://schemas.openxmlformats.org/officeDocument/2006/relationships/image" Target="../media/image32.png"/><Relationship Id="rId2" Type="http://schemas.openxmlformats.org/officeDocument/2006/relationships/notesSlide" Target="../notesSlides/notesSlide127.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35.xml"/><Relationship Id="rId23" Type="http://schemas.openxmlformats.org/officeDocument/2006/relationships/slide" Target="slide126.xml"/><Relationship Id="rId10" Type="http://schemas.openxmlformats.org/officeDocument/2006/relationships/slide" Target="slide87.xml"/><Relationship Id="rId19" Type="http://schemas.openxmlformats.org/officeDocument/2006/relationships/slide" Target="slide123.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19.xml"/><Relationship Id="rId22" Type="http://schemas.openxmlformats.org/officeDocument/2006/relationships/slide" Target="slide125.xml"/></Relationships>
</file>

<file path=ppt/slides/_rels/slide128.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04.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29.xml"/><Relationship Id="rId7" Type="http://schemas.openxmlformats.org/officeDocument/2006/relationships/slide" Target="slide56.xml"/><Relationship Id="rId12" Type="http://schemas.openxmlformats.org/officeDocument/2006/relationships/slide" Target="slide96.xml"/><Relationship Id="rId17" Type="http://schemas.openxmlformats.org/officeDocument/2006/relationships/slide" Target="slide144.xml"/><Relationship Id="rId25" Type="http://schemas.openxmlformats.org/officeDocument/2006/relationships/image" Target="../media/image32.png"/><Relationship Id="rId2" Type="http://schemas.openxmlformats.org/officeDocument/2006/relationships/notesSlide" Target="../notesSlides/notesSlide128.xml"/><Relationship Id="rId16" Type="http://schemas.openxmlformats.org/officeDocument/2006/relationships/slide" Target="slide136.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0.xml"/><Relationship Id="rId23" Type="http://schemas.openxmlformats.org/officeDocument/2006/relationships/slide" Target="slide131.xml"/><Relationship Id="rId10" Type="http://schemas.openxmlformats.org/officeDocument/2006/relationships/slide" Target="slide80.xml"/><Relationship Id="rId19" Type="http://schemas.openxmlformats.org/officeDocument/2006/relationships/slide" Target="slide132.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12.xml"/><Relationship Id="rId22" Type="http://schemas.openxmlformats.org/officeDocument/2006/relationships/slide" Target="slide130.xml"/></Relationships>
</file>

<file path=ppt/slides/_rels/slide129.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05.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28.xml"/><Relationship Id="rId7" Type="http://schemas.openxmlformats.org/officeDocument/2006/relationships/slide" Target="slide57.xml"/><Relationship Id="rId12" Type="http://schemas.openxmlformats.org/officeDocument/2006/relationships/slide" Target="slide97.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129.xml"/><Relationship Id="rId16" Type="http://schemas.openxmlformats.org/officeDocument/2006/relationships/slide" Target="slide137.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1.xml"/><Relationship Id="rId23" Type="http://schemas.openxmlformats.org/officeDocument/2006/relationships/slide" Target="slide131.xml"/><Relationship Id="rId10" Type="http://schemas.openxmlformats.org/officeDocument/2006/relationships/slide" Target="slide81.xml"/><Relationship Id="rId19" Type="http://schemas.openxmlformats.org/officeDocument/2006/relationships/slide" Target="slide133.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13.xml"/><Relationship Id="rId22" Type="http://schemas.openxmlformats.org/officeDocument/2006/relationships/slide" Target="slide130.xml"/></Relationships>
</file>

<file path=ppt/slides/_rels/slide130.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06.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28.xml"/><Relationship Id="rId7" Type="http://schemas.openxmlformats.org/officeDocument/2006/relationships/slide" Target="slide58.xml"/><Relationship Id="rId12" Type="http://schemas.openxmlformats.org/officeDocument/2006/relationships/slide" Target="slide98.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130.xml"/><Relationship Id="rId16" Type="http://schemas.openxmlformats.org/officeDocument/2006/relationships/slide" Target="slide13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22.xml"/><Relationship Id="rId23" Type="http://schemas.openxmlformats.org/officeDocument/2006/relationships/slide" Target="slide131.xml"/><Relationship Id="rId10" Type="http://schemas.openxmlformats.org/officeDocument/2006/relationships/slide" Target="slide82.xml"/><Relationship Id="rId19" Type="http://schemas.openxmlformats.org/officeDocument/2006/relationships/slide" Target="slide134.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14.xml"/><Relationship Id="rId22" Type="http://schemas.openxmlformats.org/officeDocument/2006/relationships/slide" Target="slide129.xml"/></Relationships>
</file>

<file path=ppt/slides/_rels/slide131.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07.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28.xml"/><Relationship Id="rId7" Type="http://schemas.openxmlformats.org/officeDocument/2006/relationships/slide" Target="slide59.xml"/><Relationship Id="rId12" Type="http://schemas.openxmlformats.org/officeDocument/2006/relationships/slide" Target="slide99.xml"/><Relationship Id="rId17" Type="http://schemas.openxmlformats.org/officeDocument/2006/relationships/slide" Target="slide147.xml"/><Relationship Id="rId25" Type="http://schemas.openxmlformats.org/officeDocument/2006/relationships/image" Target="../media/image32.png"/><Relationship Id="rId2" Type="http://schemas.openxmlformats.org/officeDocument/2006/relationships/notesSlide" Target="../notesSlides/notesSlide131.xml"/><Relationship Id="rId16" Type="http://schemas.openxmlformats.org/officeDocument/2006/relationships/slide" Target="slide13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23.xml"/><Relationship Id="rId23" Type="http://schemas.openxmlformats.org/officeDocument/2006/relationships/slide" Target="slide130.xml"/><Relationship Id="rId10" Type="http://schemas.openxmlformats.org/officeDocument/2006/relationships/slide" Target="slide83.xml"/><Relationship Id="rId19" Type="http://schemas.openxmlformats.org/officeDocument/2006/relationships/slide" Target="slide135.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15.xml"/><Relationship Id="rId22" Type="http://schemas.openxmlformats.org/officeDocument/2006/relationships/slide" Target="slide129.xml"/></Relationships>
</file>

<file path=ppt/slides/_rels/slide132.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08.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33.xml"/><Relationship Id="rId7" Type="http://schemas.openxmlformats.org/officeDocument/2006/relationships/slide" Target="slide60.xml"/><Relationship Id="rId12" Type="http://schemas.openxmlformats.org/officeDocument/2006/relationships/slide" Target="slide100.xml"/><Relationship Id="rId17" Type="http://schemas.openxmlformats.org/officeDocument/2006/relationships/slide" Target="slide148.xml"/><Relationship Id="rId25" Type="http://schemas.openxmlformats.org/officeDocument/2006/relationships/image" Target="../media/image32.png"/><Relationship Id="rId2" Type="http://schemas.openxmlformats.org/officeDocument/2006/relationships/notesSlide" Target="../notesSlides/notesSlide132.xml"/><Relationship Id="rId16" Type="http://schemas.openxmlformats.org/officeDocument/2006/relationships/slide" Target="slide14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24.xml"/><Relationship Id="rId23" Type="http://schemas.openxmlformats.org/officeDocument/2006/relationships/slide" Target="slide135.xml"/><Relationship Id="rId10" Type="http://schemas.openxmlformats.org/officeDocument/2006/relationships/slide" Target="slide84.xml"/><Relationship Id="rId19" Type="http://schemas.openxmlformats.org/officeDocument/2006/relationships/slide" Target="slide128.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16.xml"/><Relationship Id="rId22" Type="http://schemas.openxmlformats.org/officeDocument/2006/relationships/slide" Target="slide134.xml"/></Relationships>
</file>

<file path=ppt/slides/_rels/slide133.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09.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32.xml"/><Relationship Id="rId7" Type="http://schemas.openxmlformats.org/officeDocument/2006/relationships/slide" Target="slide61.xml"/><Relationship Id="rId12" Type="http://schemas.openxmlformats.org/officeDocument/2006/relationships/slide" Target="slide101.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133.xml"/><Relationship Id="rId16" Type="http://schemas.openxmlformats.org/officeDocument/2006/relationships/slide" Target="slide14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25.xml"/><Relationship Id="rId23" Type="http://schemas.openxmlformats.org/officeDocument/2006/relationships/slide" Target="slide135.xml"/><Relationship Id="rId10" Type="http://schemas.openxmlformats.org/officeDocument/2006/relationships/slide" Target="slide85.xml"/><Relationship Id="rId19" Type="http://schemas.openxmlformats.org/officeDocument/2006/relationships/slide" Target="slide129.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17.xml"/><Relationship Id="rId22" Type="http://schemas.openxmlformats.org/officeDocument/2006/relationships/slide" Target="slide134.xml"/></Relationships>
</file>

<file path=ppt/slides/_rels/slide134.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0.xml"/><Relationship Id="rId18" Type="http://schemas.openxmlformats.org/officeDocument/2006/relationships/image" Target="../media/image9.png"/><Relationship Id="rId26" Type="http://schemas.openxmlformats.org/officeDocument/2006/relationships/image" Target="../media/image32.png"/><Relationship Id="rId3" Type="http://schemas.openxmlformats.org/officeDocument/2006/relationships/image" Target="../media/image8.png"/><Relationship Id="rId21" Type="http://schemas.openxmlformats.org/officeDocument/2006/relationships/slide" Target="slide132.xml"/><Relationship Id="rId7" Type="http://schemas.openxmlformats.org/officeDocument/2006/relationships/slide" Target="slide62.xml"/><Relationship Id="rId12" Type="http://schemas.openxmlformats.org/officeDocument/2006/relationships/slide" Target="slide102.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134.xml"/><Relationship Id="rId16" Type="http://schemas.openxmlformats.org/officeDocument/2006/relationships/slide" Target="slide14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26.xml"/><Relationship Id="rId23" Type="http://schemas.openxmlformats.org/officeDocument/2006/relationships/slide" Target="slide135.xml"/><Relationship Id="rId10" Type="http://schemas.openxmlformats.org/officeDocument/2006/relationships/slide" Target="slide86.xml"/><Relationship Id="rId19" Type="http://schemas.openxmlformats.org/officeDocument/2006/relationships/slide" Target="slide130.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18.xml"/><Relationship Id="rId22" Type="http://schemas.openxmlformats.org/officeDocument/2006/relationships/slide" Target="slide133.xml"/></Relationships>
</file>

<file path=ppt/slides/_rels/slide135.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1.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32.xml"/><Relationship Id="rId7" Type="http://schemas.openxmlformats.org/officeDocument/2006/relationships/slide" Target="slide63.xml"/><Relationship Id="rId12" Type="http://schemas.openxmlformats.org/officeDocument/2006/relationships/slide" Target="slide103.xml"/><Relationship Id="rId17" Type="http://schemas.openxmlformats.org/officeDocument/2006/relationships/slide" Target="slide151.xml"/><Relationship Id="rId25" Type="http://schemas.openxmlformats.org/officeDocument/2006/relationships/image" Target="../media/image32.png"/><Relationship Id="rId2" Type="http://schemas.openxmlformats.org/officeDocument/2006/relationships/notesSlide" Target="../notesSlides/notesSlide135.xml"/><Relationship Id="rId16" Type="http://schemas.openxmlformats.org/officeDocument/2006/relationships/slide" Target="slide14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27.xml"/><Relationship Id="rId23" Type="http://schemas.openxmlformats.org/officeDocument/2006/relationships/slide" Target="slide134.xml"/><Relationship Id="rId10" Type="http://schemas.openxmlformats.org/officeDocument/2006/relationships/slide" Target="slide87.xml"/><Relationship Id="rId19" Type="http://schemas.openxmlformats.org/officeDocument/2006/relationships/slide" Target="slide131.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19.xml"/><Relationship Id="rId22" Type="http://schemas.openxmlformats.org/officeDocument/2006/relationships/slide" Target="slide133.xml"/></Relationships>
</file>

<file path=ppt/slides/_rels/slide136.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04.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37.xml"/><Relationship Id="rId7" Type="http://schemas.openxmlformats.org/officeDocument/2006/relationships/slide" Target="slide56.xml"/><Relationship Id="rId12" Type="http://schemas.openxmlformats.org/officeDocument/2006/relationships/slide" Target="slide96.xml"/><Relationship Id="rId17" Type="http://schemas.openxmlformats.org/officeDocument/2006/relationships/slide" Target="slide144.xml"/><Relationship Id="rId25" Type="http://schemas.openxmlformats.org/officeDocument/2006/relationships/image" Target="../media/image11.png"/><Relationship Id="rId2" Type="http://schemas.openxmlformats.org/officeDocument/2006/relationships/notesSlide" Target="../notesSlides/notesSlide136.xml"/><Relationship Id="rId16" Type="http://schemas.openxmlformats.org/officeDocument/2006/relationships/slide" Target="slide12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0.xml"/><Relationship Id="rId23" Type="http://schemas.openxmlformats.org/officeDocument/2006/relationships/slide" Target="slide139.xml"/><Relationship Id="rId10" Type="http://schemas.openxmlformats.org/officeDocument/2006/relationships/slide" Target="slide80.xml"/><Relationship Id="rId19" Type="http://schemas.openxmlformats.org/officeDocument/2006/relationships/slide" Target="slide140.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12.xml"/><Relationship Id="rId22" Type="http://schemas.openxmlformats.org/officeDocument/2006/relationships/slide" Target="slide138.xml"/></Relationships>
</file>

<file path=ppt/slides/_rels/slide137.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05.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36.xml"/><Relationship Id="rId7" Type="http://schemas.openxmlformats.org/officeDocument/2006/relationships/slide" Target="slide57.xml"/><Relationship Id="rId12" Type="http://schemas.openxmlformats.org/officeDocument/2006/relationships/slide" Target="slide97.xml"/><Relationship Id="rId17" Type="http://schemas.openxmlformats.org/officeDocument/2006/relationships/slide" Target="slide145.xml"/><Relationship Id="rId25" Type="http://schemas.openxmlformats.org/officeDocument/2006/relationships/image" Target="../media/image31.png"/><Relationship Id="rId2" Type="http://schemas.openxmlformats.org/officeDocument/2006/relationships/notesSlide" Target="../notesSlides/notesSlide137.xml"/><Relationship Id="rId16" Type="http://schemas.openxmlformats.org/officeDocument/2006/relationships/slide" Target="slide12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1.xml"/><Relationship Id="rId23" Type="http://schemas.openxmlformats.org/officeDocument/2006/relationships/slide" Target="slide139.xml"/><Relationship Id="rId10" Type="http://schemas.openxmlformats.org/officeDocument/2006/relationships/slide" Target="slide81.xml"/><Relationship Id="rId19" Type="http://schemas.openxmlformats.org/officeDocument/2006/relationships/slide" Target="slide141.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13.xml"/><Relationship Id="rId22" Type="http://schemas.openxmlformats.org/officeDocument/2006/relationships/slide" Target="slide138.xml"/></Relationships>
</file>

<file path=ppt/slides/_rels/slide138.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06.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36.xml"/><Relationship Id="rId7" Type="http://schemas.openxmlformats.org/officeDocument/2006/relationships/slide" Target="slide58.xml"/><Relationship Id="rId12" Type="http://schemas.openxmlformats.org/officeDocument/2006/relationships/slide" Target="slide98.xml"/><Relationship Id="rId17" Type="http://schemas.openxmlformats.org/officeDocument/2006/relationships/slide" Target="slide146.xml"/><Relationship Id="rId25" Type="http://schemas.openxmlformats.org/officeDocument/2006/relationships/image" Target="../media/image31.png"/><Relationship Id="rId2" Type="http://schemas.openxmlformats.org/officeDocument/2006/relationships/notesSlide" Target="../notesSlides/notesSlide138.xml"/><Relationship Id="rId16" Type="http://schemas.openxmlformats.org/officeDocument/2006/relationships/slide" Target="slide13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22.xml"/><Relationship Id="rId23" Type="http://schemas.openxmlformats.org/officeDocument/2006/relationships/slide" Target="slide139.xml"/><Relationship Id="rId10" Type="http://schemas.openxmlformats.org/officeDocument/2006/relationships/slide" Target="slide82.xml"/><Relationship Id="rId19" Type="http://schemas.openxmlformats.org/officeDocument/2006/relationships/slide" Target="slide142.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14.xml"/><Relationship Id="rId22" Type="http://schemas.openxmlformats.org/officeDocument/2006/relationships/slide" Target="slide137.xml"/></Relationships>
</file>

<file path=ppt/slides/_rels/slide13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07.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36.xml"/><Relationship Id="rId7" Type="http://schemas.openxmlformats.org/officeDocument/2006/relationships/slide" Target="slide59.xml"/><Relationship Id="rId12" Type="http://schemas.openxmlformats.org/officeDocument/2006/relationships/slide" Target="slide99.xml"/><Relationship Id="rId17" Type="http://schemas.openxmlformats.org/officeDocument/2006/relationships/slide" Target="slide147.xml"/><Relationship Id="rId25" Type="http://schemas.openxmlformats.org/officeDocument/2006/relationships/image" Target="../media/image11.png"/><Relationship Id="rId2" Type="http://schemas.openxmlformats.org/officeDocument/2006/relationships/notesSlide" Target="../notesSlides/notesSlide139.xml"/><Relationship Id="rId16" Type="http://schemas.openxmlformats.org/officeDocument/2006/relationships/slide" Target="slide13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23.xml"/><Relationship Id="rId23" Type="http://schemas.openxmlformats.org/officeDocument/2006/relationships/slide" Target="slide138.xml"/><Relationship Id="rId10" Type="http://schemas.openxmlformats.org/officeDocument/2006/relationships/slide" Target="slide83.xml"/><Relationship Id="rId19" Type="http://schemas.openxmlformats.org/officeDocument/2006/relationships/slide" Target="slide143.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15.xml"/><Relationship Id="rId22" Type="http://schemas.openxmlformats.org/officeDocument/2006/relationships/slide" Target="slide137.xml"/></Relationships>
</file>

<file path=ppt/slides/_rels/slide140.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08.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41.xml"/><Relationship Id="rId7" Type="http://schemas.openxmlformats.org/officeDocument/2006/relationships/slide" Target="slide60.xml"/><Relationship Id="rId12" Type="http://schemas.openxmlformats.org/officeDocument/2006/relationships/slide" Target="slide100.xml"/><Relationship Id="rId17" Type="http://schemas.openxmlformats.org/officeDocument/2006/relationships/slide" Target="slide148.xml"/><Relationship Id="rId25" Type="http://schemas.openxmlformats.org/officeDocument/2006/relationships/image" Target="../media/image11.png"/><Relationship Id="rId2" Type="http://schemas.openxmlformats.org/officeDocument/2006/relationships/notesSlide" Target="../notesSlides/notesSlide140.xml"/><Relationship Id="rId16" Type="http://schemas.openxmlformats.org/officeDocument/2006/relationships/slide" Target="slide13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24.xml"/><Relationship Id="rId23" Type="http://schemas.openxmlformats.org/officeDocument/2006/relationships/slide" Target="slide143.xml"/><Relationship Id="rId10" Type="http://schemas.openxmlformats.org/officeDocument/2006/relationships/slide" Target="slide84.xml"/><Relationship Id="rId19" Type="http://schemas.openxmlformats.org/officeDocument/2006/relationships/slide" Target="slide136.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16.xml"/><Relationship Id="rId22" Type="http://schemas.openxmlformats.org/officeDocument/2006/relationships/slide" Target="slide142.xml"/></Relationships>
</file>

<file path=ppt/slides/_rels/slide141.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09.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40.xml"/><Relationship Id="rId7" Type="http://schemas.openxmlformats.org/officeDocument/2006/relationships/slide" Target="slide61.xml"/><Relationship Id="rId12" Type="http://schemas.openxmlformats.org/officeDocument/2006/relationships/slide" Target="slide101.xml"/><Relationship Id="rId17" Type="http://schemas.openxmlformats.org/officeDocument/2006/relationships/slide" Target="slide149.xml"/><Relationship Id="rId25" Type="http://schemas.openxmlformats.org/officeDocument/2006/relationships/image" Target="../media/image31.png"/><Relationship Id="rId2" Type="http://schemas.openxmlformats.org/officeDocument/2006/relationships/notesSlide" Target="../notesSlides/notesSlide141.xml"/><Relationship Id="rId16" Type="http://schemas.openxmlformats.org/officeDocument/2006/relationships/slide" Target="slide13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25.xml"/><Relationship Id="rId23" Type="http://schemas.openxmlformats.org/officeDocument/2006/relationships/slide" Target="slide143.xml"/><Relationship Id="rId10" Type="http://schemas.openxmlformats.org/officeDocument/2006/relationships/slide" Target="slide85.xml"/><Relationship Id="rId19" Type="http://schemas.openxmlformats.org/officeDocument/2006/relationships/slide" Target="slide137.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17.xml"/><Relationship Id="rId22" Type="http://schemas.openxmlformats.org/officeDocument/2006/relationships/slide" Target="slide142.xml"/></Relationships>
</file>

<file path=ppt/slides/_rels/slide142.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0.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40.xml"/><Relationship Id="rId7" Type="http://schemas.openxmlformats.org/officeDocument/2006/relationships/slide" Target="slide62.xml"/><Relationship Id="rId12" Type="http://schemas.openxmlformats.org/officeDocument/2006/relationships/slide" Target="slide102.xml"/><Relationship Id="rId17" Type="http://schemas.openxmlformats.org/officeDocument/2006/relationships/slide" Target="slide150.xml"/><Relationship Id="rId25" Type="http://schemas.openxmlformats.org/officeDocument/2006/relationships/image" Target="../media/image31.png"/><Relationship Id="rId2" Type="http://schemas.openxmlformats.org/officeDocument/2006/relationships/notesSlide" Target="../notesSlides/notesSlide142.xml"/><Relationship Id="rId16" Type="http://schemas.openxmlformats.org/officeDocument/2006/relationships/slide" Target="slide134.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26.xml"/><Relationship Id="rId23" Type="http://schemas.openxmlformats.org/officeDocument/2006/relationships/slide" Target="slide143.xml"/><Relationship Id="rId10" Type="http://schemas.openxmlformats.org/officeDocument/2006/relationships/slide" Target="slide86.xml"/><Relationship Id="rId19" Type="http://schemas.openxmlformats.org/officeDocument/2006/relationships/slide" Target="slide138.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18.xml"/><Relationship Id="rId22" Type="http://schemas.openxmlformats.org/officeDocument/2006/relationships/slide" Target="slide141.xml"/></Relationships>
</file>

<file path=ppt/slides/_rels/slide143.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1.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40.xml"/><Relationship Id="rId7" Type="http://schemas.openxmlformats.org/officeDocument/2006/relationships/slide" Target="slide63.xml"/><Relationship Id="rId12" Type="http://schemas.openxmlformats.org/officeDocument/2006/relationships/slide" Target="slide103.xml"/><Relationship Id="rId17" Type="http://schemas.openxmlformats.org/officeDocument/2006/relationships/slide" Target="slide151.xml"/><Relationship Id="rId25" Type="http://schemas.openxmlformats.org/officeDocument/2006/relationships/image" Target="../media/image11.png"/><Relationship Id="rId2" Type="http://schemas.openxmlformats.org/officeDocument/2006/relationships/notesSlide" Target="../notesSlides/notesSlide143.xml"/><Relationship Id="rId16" Type="http://schemas.openxmlformats.org/officeDocument/2006/relationships/slide" Target="slide135.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27.xml"/><Relationship Id="rId23" Type="http://schemas.openxmlformats.org/officeDocument/2006/relationships/slide" Target="slide142.xml"/><Relationship Id="rId10" Type="http://schemas.openxmlformats.org/officeDocument/2006/relationships/slide" Target="slide87.xml"/><Relationship Id="rId19" Type="http://schemas.openxmlformats.org/officeDocument/2006/relationships/slide" Target="slide139.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19.xml"/><Relationship Id="rId22" Type="http://schemas.openxmlformats.org/officeDocument/2006/relationships/slide" Target="slide141.xml"/></Relationships>
</file>

<file path=ppt/slides/_rels/slide144.xml.rels><?xml version="1.0" encoding="UTF-8" standalone="yes"?>
<Relationships xmlns="http://schemas.openxmlformats.org/package/2006/relationships"><Relationship Id="rId8" Type="http://schemas.openxmlformats.org/officeDocument/2006/relationships/slide" Target="slide64.xml"/><Relationship Id="rId13" Type="http://schemas.openxmlformats.org/officeDocument/2006/relationships/slide" Target="slide104.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45.xml"/><Relationship Id="rId7" Type="http://schemas.openxmlformats.org/officeDocument/2006/relationships/slide" Target="slide56.xml"/><Relationship Id="rId12" Type="http://schemas.openxmlformats.org/officeDocument/2006/relationships/slide" Target="slide96.xml"/><Relationship Id="rId17" Type="http://schemas.openxmlformats.org/officeDocument/2006/relationships/slide" Target="slide136.xml"/><Relationship Id="rId25" Type="http://schemas.openxmlformats.org/officeDocument/2006/relationships/image" Target="../media/image11.png"/><Relationship Id="rId2" Type="http://schemas.openxmlformats.org/officeDocument/2006/relationships/notesSlide" Target="../notesSlides/notesSlide144.xml"/><Relationship Id="rId16" Type="http://schemas.openxmlformats.org/officeDocument/2006/relationships/slide" Target="slide128.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8.xml"/><Relationship Id="rId11" Type="http://schemas.openxmlformats.org/officeDocument/2006/relationships/slide" Target="slide88.xml"/><Relationship Id="rId24" Type="http://schemas.openxmlformats.org/officeDocument/2006/relationships/slide" Target="slide14.xml"/><Relationship Id="rId5" Type="http://schemas.openxmlformats.org/officeDocument/2006/relationships/slide" Target="slide40.xml"/><Relationship Id="rId15" Type="http://schemas.openxmlformats.org/officeDocument/2006/relationships/slide" Target="slide120.xml"/><Relationship Id="rId23" Type="http://schemas.openxmlformats.org/officeDocument/2006/relationships/slide" Target="slide147.xml"/><Relationship Id="rId10" Type="http://schemas.openxmlformats.org/officeDocument/2006/relationships/slide" Target="slide80.xml"/><Relationship Id="rId19" Type="http://schemas.openxmlformats.org/officeDocument/2006/relationships/slide" Target="slide148.xml"/><Relationship Id="rId4" Type="http://schemas.openxmlformats.org/officeDocument/2006/relationships/slide" Target="slide32.xml"/><Relationship Id="rId9" Type="http://schemas.openxmlformats.org/officeDocument/2006/relationships/slide" Target="slide72.xml"/><Relationship Id="rId14" Type="http://schemas.openxmlformats.org/officeDocument/2006/relationships/slide" Target="slide112.xml"/><Relationship Id="rId22" Type="http://schemas.openxmlformats.org/officeDocument/2006/relationships/slide" Target="slide146.xml"/></Relationships>
</file>

<file path=ppt/slides/_rels/slide145.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105.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44.xml"/><Relationship Id="rId7" Type="http://schemas.openxmlformats.org/officeDocument/2006/relationships/slide" Target="slide57.xml"/><Relationship Id="rId12" Type="http://schemas.openxmlformats.org/officeDocument/2006/relationships/slide" Target="slide97.xml"/><Relationship Id="rId17" Type="http://schemas.openxmlformats.org/officeDocument/2006/relationships/slide" Target="slide137.xml"/><Relationship Id="rId25" Type="http://schemas.openxmlformats.org/officeDocument/2006/relationships/image" Target="../media/image31.png"/><Relationship Id="rId2" Type="http://schemas.openxmlformats.org/officeDocument/2006/relationships/notesSlide" Target="../notesSlides/notesSlide145.xml"/><Relationship Id="rId16" Type="http://schemas.openxmlformats.org/officeDocument/2006/relationships/slide" Target="slide129.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49.xml"/><Relationship Id="rId11" Type="http://schemas.openxmlformats.org/officeDocument/2006/relationships/slide" Target="slide89.xml"/><Relationship Id="rId24" Type="http://schemas.openxmlformats.org/officeDocument/2006/relationships/slide" Target="slide14.xml"/><Relationship Id="rId5" Type="http://schemas.openxmlformats.org/officeDocument/2006/relationships/slide" Target="slide41.xml"/><Relationship Id="rId15" Type="http://schemas.openxmlformats.org/officeDocument/2006/relationships/slide" Target="slide121.xml"/><Relationship Id="rId23" Type="http://schemas.openxmlformats.org/officeDocument/2006/relationships/slide" Target="slide147.xml"/><Relationship Id="rId10" Type="http://schemas.openxmlformats.org/officeDocument/2006/relationships/slide" Target="slide81.xml"/><Relationship Id="rId19" Type="http://schemas.openxmlformats.org/officeDocument/2006/relationships/slide" Target="slide149.xml"/><Relationship Id="rId4" Type="http://schemas.openxmlformats.org/officeDocument/2006/relationships/slide" Target="slide33.xml"/><Relationship Id="rId9" Type="http://schemas.openxmlformats.org/officeDocument/2006/relationships/slide" Target="slide73.xml"/><Relationship Id="rId14" Type="http://schemas.openxmlformats.org/officeDocument/2006/relationships/slide" Target="slide113.xml"/><Relationship Id="rId22" Type="http://schemas.openxmlformats.org/officeDocument/2006/relationships/slide" Target="slide146.xml"/></Relationships>
</file>

<file path=ppt/slides/_rels/slide146.xml.rels><?xml version="1.0" encoding="UTF-8" standalone="yes"?>
<Relationships xmlns="http://schemas.openxmlformats.org/package/2006/relationships"><Relationship Id="rId8" Type="http://schemas.openxmlformats.org/officeDocument/2006/relationships/slide" Target="slide66.xml"/><Relationship Id="rId13" Type="http://schemas.openxmlformats.org/officeDocument/2006/relationships/slide" Target="slide106.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44.xml"/><Relationship Id="rId7" Type="http://schemas.openxmlformats.org/officeDocument/2006/relationships/slide" Target="slide58.xml"/><Relationship Id="rId12" Type="http://schemas.openxmlformats.org/officeDocument/2006/relationships/slide" Target="slide98.xml"/><Relationship Id="rId17" Type="http://schemas.openxmlformats.org/officeDocument/2006/relationships/slide" Target="slide138.xml"/><Relationship Id="rId25" Type="http://schemas.openxmlformats.org/officeDocument/2006/relationships/image" Target="../media/image31.png"/><Relationship Id="rId2" Type="http://schemas.openxmlformats.org/officeDocument/2006/relationships/notesSlide" Target="../notesSlides/notesSlide146.xml"/><Relationship Id="rId16" Type="http://schemas.openxmlformats.org/officeDocument/2006/relationships/slide" Target="slide130.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0.xml"/><Relationship Id="rId11" Type="http://schemas.openxmlformats.org/officeDocument/2006/relationships/slide" Target="slide90.xml"/><Relationship Id="rId24" Type="http://schemas.openxmlformats.org/officeDocument/2006/relationships/slide" Target="slide14.xml"/><Relationship Id="rId5" Type="http://schemas.openxmlformats.org/officeDocument/2006/relationships/slide" Target="slide42.xml"/><Relationship Id="rId15" Type="http://schemas.openxmlformats.org/officeDocument/2006/relationships/slide" Target="slide122.xml"/><Relationship Id="rId23" Type="http://schemas.openxmlformats.org/officeDocument/2006/relationships/slide" Target="slide147.xml"/><Relationship Id="rId10" Type="http://schemas.openxmlformats.org/officeDocument/2006/relationships/slide" Target="slide82.xml"/><Relationship Id="rId19" Type="http://schemas.openxmlformats.org/officeDocument/2006/relationships/slide" Target="slide150.xml"/><Relationship Id="rId4" Type="http://schemas.openxmlformats.org/officeDocument/2006/relationships/slide" Target="slide34.xml"/><Relationship Id="rId9" Type="http://schemas.openxmlformats.org/officeDocument/2006/relationships/slide" Target="slide74.xml"/><Relationship Id="rId14" Type="http://schemas.openxmlformats.org/officeDocument/2006/relationships/slide" Target="slide114.xml"/><Relationship Id="rId22" Type="http://schemas.openxmlformats.org/officeDocument/2006/relationships/slide" Target="slide145.xml"/></Relationships>
</file>

<file path=ppt/slides/_rels/slide147.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107.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44.xml"/><Relationship Id="rId7" Type="http://schemas.openxmlformats.org/officeDocument/2006/relationships/slide" Target="slide59.xml"/><Relationship Id="rId12" Type="http://schemas.openxmlformats.org/officeDocument/2006/relationships/slide" Target="slide99.xml"/><Relationship Id="rId17" Type="http://schemas.openxmlformats.org/officeDocument/2006/relationships/slide" Target="slide139.xml"/><Relationship Id="rId25" Type="http://schemas.openxmlformats.org/officeDocument/2006/relationships/image" Target="../media/image11.png"/><Relationship Id="rId2" Type="http://schemas.openxmlformats.org/officeDocument/2006/relationships/notesSlide" Target="../notesSlides/notesSlide147.xml"/><Relationship Id="rId16" Type="http://schemas.openxmlformats.org/officeDocument/2006/relationships/slide" Target="slide131.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1.xml"/><Relationship Id="rId11" Type="http://schemas.openxmlformats.org/officeDocument/2006/relationships/slide" Target="slide91.xml"/><Relationship Id="rId24" Type="http://schemas.openxmlformats.org/officeDocument/2006/relationships/slide" Target="slide14.xml"/><Relationship Id="rId5" Type="http://schemas.openxmlformats.org/officeDocument/2006/relationships/slide" Target="slide43.xml"/><Relationship Id="rId15" Type="http://schemas.openxmlformats.org/officeDocument/2006/relationships/slide" Target="slide123.xml"/><Relationship Id="rId23" Type="http://schemas.openxmlformats.org/officeDocument/2006/relationships/slide" Target="slide146.xml"/><Relationship Id="rId10" Type="http://schemas.openxmlformats.org/officeDocument/2006/relationships/slide" Target="slide83.xml"/><Relationship Id="rId19" Type="http://schemas.openxmlformats.org/officeDocument/2006/relationships/slide" Target="slide151.xml"/><Relationship Id="rId4" Type="http://schemas.openxmlformats.org/officeDocument/2006/relationships/slide" Target="slide35.xml"/><Relationship Id="rId9" Type="http://schemas.openxmlformats.org/officeDocument/2006/relationships/slide" Target="slide75.xml"/><Relationship Id="rId14" Type="http://schemas.openxmlformats.org/officeDocument/2006/relationships/slide" Target="slide115.xml"/><Relationship Id="rId22" Type="http://schemas.openxmlformats.org/officeDocument/2006/relationships/slide" Target="slide145.xml"/></Relationships>
</file>

<file path=ppt/slides/_rels/slide148.xml.rels><?xml version="1.0" encoding="UTF-8" standalone="yes"?>
<Relationships xmlns="http://schemas.openxmlformats.org/package/2006/relationships"><Relationship Id="rId8" Type="http://schemas.openxmlformats.org/officeDocument/2006/relationships/slide" Target="slide68.xml"/><Relationship Id="rId13" Type="http://schemas.openxmlformats.org/officeDocument/2006/relationships/slide" Target="slide108.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49.xml"/><Relationship Id="rId7" Type="http://schemas.openxmlformats.org/officeDocument/2006/relationships/slide" Target="slide60.xml"/><Relationship Id="rId12" Type="http://schemas.openxmlformats.org/officeDocument/2006/relationships/slide" Target="slide100.xml"/><Relationship Id="rId17" Type="http://schemas.openxmlformats.org/officeDocument/2006/relationships/slide" Target="slide140.xml"/><Relationship Id="rId25" Type="http://schemas.openxmlformats.org/officeDocument/2006/relationships/image" Target="../media/image11.png"/><Relationship Id="rId2" Type="http://schemas.openxmlformats.org/officeDocument/2006/relationships/notesSlide" Target="../notesSlides/notesSlide148.xml"/><Relationship Id="rId16" Type="http://schemas.openxmlformats.org/officeDocument/2006/relationships/slide" Target="slide132.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2.xml"/><Relationship Id="rId11" Type="http://schemas.openxmlformats.org/officeDocument/2006/relationships/slide" Target="slide92.xml"/><Relationship Id="rId24" Type="http://schemas.openxmlformats.org/officeDocument/2006/relationships/slide" Target="slide14.xml"/><Relationship Id="rId5" Type="http://schemas.openxmlformats.org/officeDocument/2006/relationships/slide" Target="slide44.xml"/><Relationship Id="rId15" Type="http://schemas.openxmlformats.org/officeDocument/2006/relationships/slide" Target="slide124.xml"/><Relationship Id="rId23" Type="http://schemas.openxmlformats.org/officeDocument/2006/relationships/slide" Target="slide151.xml"/><Relationship Id="rId10" Type="http://schemas.openxmlformats.org/officeDocument/2006/relationships/slide" Target="slide84.xml"/><Relationship Id="rId19" Type="http://schemas.openxmlformats.org/officeDocument/2006/relationships/slide" Target="slide144.xml"/><Relationship Id="rId4" Type="http://schemas.openxmlformats.org/officeDocument/2006/relationships/slide" Target="slide36.xml"/><Relationship Id="rId9" Type="http://schemas.openxmlformats.org/officeDocument/2006/relationships/slide" Target="slide76.xml"/><Relationship Id="rId14" Type="http://schemas.openxmlformats.org/officeDocument/2006/relationships/slide" Target="slide116.xml"/><Relationship Id="rId22" Type="http://schemas.openxmlformats.org/officeDocument/2006/relationships/slide" Target="slide150.xml"/></Relationships>
</file>

<file path=ppt/slides/_rels/slide149.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109.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48.xml"/><Relationship Id="rId7" Type="http://schemas.openxmlformats.org/officeDocument/2006/relationships/slide" Target="slide61.xml"/><Relationship Id="rId12" Type="http://schemas.openxmlformats.org/officeDocument/2006/relationships/slide" Target="slide101.xml"/><Relationship Id="rId17" Type="http://schemas.openxmlformats.org/officeDocument/2006/relationships/slide" Target="slide141.xml"/><Relationship Id="rId25" Type="http://schemas.openxmlformats.org/officeDocument/2006/relationships/image" Target="../media/image31.png"/><Relationship Id="rId2" Type="http://schemas.openxmlformats.org/officeDocument/2006/relationships/notesSlide" Target="../notesSlides/notesSlide149.xml"/><Relationship Id="rId16" Type="http://schemas.openxmlformats.org/officeDocument/2006/relationships/slide" Target="slide133.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3.xml"/><Relationship Id="rId11" Type="http://schemas.openxmlformats.org/officeDocument/2006/relationships/slide" Target="slide93.xml"/><Relationship Id="rId24" Type="http://schemas.openxmlformats.org/officeDocument/2006/relationships/slide" Target="slide14.xml"/><Relationship Id="rId5" Type="http://schemas.openxmlformats.org/officeDocument/2006/relationships/slide" Target="slide45.xml"/><Relationship Id="rId15" Type="http://schemas.openxmlformats.org/officeDocument/2006/relationships/slide" Target="slide125.xml"/><Relationship Id="rId23" Type="http://schemas.openxmlformats.org/officeDocument/2006/relationships/slide" Target="slide151.xml"/><Relationship Id="rId10" Type="http://schemas.openxmlformats.org/officeDocument/2006/relationships/slide" Target="slide85.xml"/><Relationship Id="rId19" Type="http://schemas.openxmlformats.org/officeDocument/2006/relationships/slide" Target="slide145.xml"/><Relationship Id="rId4" Type="http://schemas.openxmlformats.org/officeDocument/2006/relationships/slide" Target="slide37.xml"/><Relationship Id="rId9" Type="http://schemas.openxmlformats.org/officeDocument/2006/relationships/slide" Target="slide77.xml"/><Relationship Id="rId14" Type="http://schemas.openxmlformats.org/officeDocument/2006/relationships/slide" Target="slide117.xml"/><Relationship Id="rId22" Type="http://schemas.openxmlformats.org/officeDocument/2006/relationships/slide" Target="slide150.xml"/></Relationships>
</file>

<file path=ppt/slides/_rels/slide150.xml.rels><?xml version="1.0" encoding="UTF-8" standalone="yes"?>
<Relationships xmlns="http://schemas.openxmlformats.org/package/2006/relationships"><Relationship Id="rId8" Type="http://schemas.openxmlformats.org/officeDocument/2006/relationships/slide" Target="slide70.xml"/><Relationship Id="rId13" Type="http://schemas.openxmlformats.org/officeDocument/2006/relationships/slide" Target="slide110.xml"/><Relationship Id="rId18" Type="http://schemas.openxmlformats.org/officeDocument/2006/relationships/image" Target="../media/image9.png"/><Relationship Id="rId26" Type="http://schemas.openxmlformats.org/officeDocument/2006/relationships/image" Target="../media/image11.png"/><Relationship Id="rId3" Type="http://schemas.openxmlformats.org/officeDocument/2006/relationships/image" Target="../media/image8.png"/><Relationship Id="rId21" Type="http://schemas.openxmlformats.org/officeDocument/2006/relationships/slide" Target="slide148.xml"/><Relationship Id="rId7" Type="http://schemas.openxmlformats.org/officeDocument/2006/relationships/slide" Target="slide62.xml"/><Relationship Id="rId12" Type="http://schemas.openxmlformats.org/officeDocument/2006/relationships/slide" Target="slide102.xml"/><Relationship Id="rId17" Type="http://schemas.openxmlformats.org/officeDocument/2006/relationships/slide" Target="slide142.xml"/><Relationship Id="rId25" Type="http://schemas.openxmlformats.org/officeDocument/2006/relationships/image" Target="../media/image31.png"/><Relationship Id="rId2" Type="http://schemas.openxmlformats.org/officeDocument/2006/relationships/notesSlide" Target="../notesSlides/notesSlide150.xml"/><Relationship Id="rId16" Type="http://schemas.openxmlformats.org/officeDocument/2006/relationships/slide" Target="slide134.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4.xml"/><Relationship Id="rId11" Type="http://schemas.openxmlformats.org/officeDocument/2006/relationships/slide" Target="slide94.xml"/><Relationship Id="rId24" Type="http://schemas.openxmlformats.org/officeDocument/2006/relationships/slide" Target="slide14.xml"/><Relationship Id="rId5" Type="http://schemas.openxmlformats.org/officeDocument/2006/relationships/slide" Target="slide46.xml"/><Relationship Id="rId15" Type="http://schemas.openxmlformats.org/officeDocument/2006/relationships/slide" Target="slide126.xml"/><Relationship Id="rId23" Type="http://schemas.openxmlformats.org/officeDocument/2006/relationships/slide" Target="slide151.xml"/><Relationship Id="rId10" Type="http://schemas.openxmlformats.org/officeDocument/2006/relationships/slide" Target="slide86.xml"/><Relationship Id="rId19" Type="http://schemas.openxmlformats.org/officeDocument/2006/relationships/slide" Target="slide146.xml"/><Relationship Id="rId4" Type="http://schemas.openxmlformats.org/officeDocument/2006/relationships/slide" Target="slide38.xml"/><Relationship Id="rId9" Type="http://schemas.openxmlformats.org/officeDocument/2006/relationships/slide" Target="slide78.xml"/><Relationship Id="rId14" Type="http://schemas.openxmlformats.org/officeDocument/2006/relationships/slide" Target="slide118.xml"/><Relationship Id="rId22" Type="http://schemas.openxmlformats.org/officeDocument/2006/relationships/slide" Target="slide149.xml"/></Relationships>
</file>

<file path=ppt/slides/_rels/slide151.xml.rels><?xml version="1.0" encoding="UTF-8" standalone="yes"?>
<Relationships xmlns="http://schemas.openxmlformats.org/package/2006/relationships"><Relationship Id="rId8" Type="http://schemas.openxmlformats.org/officeDocument/2006/relationships/slide" Target="slide71.xml"/><Relationship Id="rId13" Type="http://schemas.openxmlformats.org/officeDocument/2006/relationships/slide" Target="slide111.xml"/><Relationship Id="rId18" Type="http://schemas.openxmlformats.org/officeDocument/2006/relationships/image" Target="../media/image9.png"/><Relationship Id="rId3" Type="http://schemas.openxmlformats.org/officeDocument/2006/relationships/image" Target="../media/image8.png"/><Relationship Id="rId21" Type="http://schemas.openxmlformats.org/officeDocument/2006/relationships/slide" Target="slide148.xml"/><Relationship Id="rId7" Type="http://schemas.openxmlformats.org/officeDocument/2006/relationships/slide" Target="slide63.xml"/><Relationship Id="rId12" Type="http://schemas.openxmlformats.org/officeDocument/2006/relationships/slide" Target="slide103.xml"/><Relationship Id="rId17" Type="http://schemas.openxmlformats.org/officeDocument/2006/relationships/slide" Target="slide143.xml"/><Relationship Id="rId25" Type="http://schemas.openxmlformats.org/officeDocument/2006/relationships/image" Target="../media/image11.png"/><Relationship Id="rId2" Type="http://schemas.openxmlformats.org/officeDocument/2006/relationships/notesSlide" Target="../notesSlides/notesSlide151.xml"/><Relationship Id="rId16" Type="http://schemas.openxmlformats.org/officeDocument/2006/relationships/slide" Target="slide135.xml"/><Relationship Id="rId20"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slide" Target="slide55.xml"/><Relationship Id="rId11" Type="http://schemas.openxmlformats.org/officeDocument/2006/relationships/slide" Target="slide95.xml"/><Relationship Id="rId24" Type="http://schemas.openxmlformats.org/officeDocument/2006/relationships/slide" Target="slide14.xml"/><Relationship Id="rId5" Type="http://schemas.openxmlformats.org/officeDocument/2006/relationships/slide" Target="slide47.xml"/><Relationship Id="rId15" Type="http://schemas.openxmlformats.org/officeDocument/2006/relationships/slide" Target="slide127.xml"/><Relationship Id="rId23" Type="http://schemas.openxmlformats.org/officeDocument/2006/relationships/slide" Target="slide150.xml"/><Relationship Id="rId10" Type="http://schemas.openxmlformats.org/officeDocument/2006/relationships/slide" Target="slide87.xml"/><Relationship Id="rId19" Type="http://schemas.openxmlformats.org/officeDocument/2006/relationships/slide" Target="slide147.xml"/><Relationship Id="rId4" Type="http://schemas.openxmlformats.org/officeDocument/2006/relationships/slide" Target="slide39.xml"/><Relationship Id="rId9" Type="http://schemas.openxmlformats.org/officeDocument/2006/relationships/slide" Target="slide79.xml"/><Relationship Id="rId14" Type="http://schemas.openxmlformats.org/officeDocument/2006/relationships/slide" Target="slide119.xml"/><Relationship Id="rId22" Type="http://schemas.openxmlformats.org/officeDocument/2006/relationships/slide" Target="slide1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ootball pitch viewed from above"/>
          <p:cNvPicPr>
            <a:picLocks noChangeAspect="1"/>
          </p:cNvPicPr>
          <p:nvPr/>
        </p:nvPicPr>
        <p:blipFill>
          <a:blip r:embed="rId3"/>
          <a:stretch>
            <a:fillRect/>
          </a:stretch>
        </p:blipFill>
        <p:spPr>
          <a:xfrm>
            <a:off x="0" y="0"/>
            <a:ext cx="9144000" cy="5143500"/>
          </a:xfrm>
          <a:prstGeom prst="rect">
            <a:avLst/>
          </a:prstGeom>
        </p:spPr>
      </p:pic>
      <p:sp>
        <p:nvSpPr>
          <p:cNvPr id="3" name="Text 0"/>
          <p:cNvSpPr txBox="1"/>
          <p:nvPr/>
        </p:nvSpPr>
        <p:spPr>
          <a:xfrm>
            <a:off x="640080" y="1417320"/>
            <a:ext cx="6035040" cy="365760"/>
          </a:xfrm>
          <a:prstGeom prst="rect">
            <a:avLst/>
          </a:prstGeom>
          <a:noFill/>
          <a:ln/>
        </p:spPr>
        <p:txBody>
          <a:bodyPr wrap="square" lIns="0" tIns="0" rIns="0" bIns="0" rtlCol="0" anchor="t"/>
          <a:lstStyle/>
          <a:p>
            <a:pPr marL="0" indent="0">
              <a:buNone/>
            </a:pPr>
            <a:r>
              <a:rPr lang="en-US" sz="1800" b="1">
                <a:solidFill>
                  <a:schemeClr val="accent2"/>
                </a:solidFill>
              </a:rPr>
              <a:t>OPIM 5671 · Data Mining and Time Series Forecasting</a:t>
            </a:r>
            <a:endParaRPr lang="en-US" sz="1800"/>
          </a:p>
        </p:txBody>
      </p:sp>
      <p:sp>
        <p:nvSpPr>
          <p:cNvPr id="4" name="Text 1"/>
          <p:cNvSpPr txBox="1"/>
          <p:nvPr/>
        </p:nvSpPr>
        <p:spPr>
          <a:xfrm>
            <a:off x="640080" y="1874520"/>
            <a:ext cx="5669280" cy="1554480"/>
          </a:xfrm>
          <a:prstGeom prst="rect">
            <a:avLst/>
          </a:prstGeom>
          <a:noFill/>
          <a:ln/>
        </p:spPr>
        <p:txBody>
          <a:bodyPr wrap="square" lIns="0" tIns="0" rIns="0" bIns="0" rtlCol="0" anchor="t"/>
          <a:lstStyle/>
          <a:p>
            <a:pPr marL="0" indent="0">
              <a:buNone/>
            </a:pPr>
            <a:r>
              <a:rPr lang="en-US" sz="4400" b="1">
                <a:solidFill>
                  <a:schemeClr val="bg1"/>
                </a:solidFill>
                <a:latin typeface="Cambria" pitchFamily="34" charset="0"/>
                <a:ea typeface="Cambria" pitchFamily="34" charset="-122"/>
                <a:cs typeface="Cambria" pitchFamily="34" charset="-120"/>
              </a:rPr>
              <a:t>Transfer Market Valuation Forecaster</a:t>
            </a:r>
            <a:endParaRPr lang="en-US" sz="4400"/>
          </a:p>
        </p:txBody>
      </p:sp>
      <p:sp>
        <p:nvSpPr>
          <p:cNvPr id="5" name="Text 2"/>
          <p:cNvSpPr txBox="1"/>
          <p:nvPr/>
        </p:nvSpPr>
        <p:spPr>
          <a:xfrm>
            <a:off x="640080" y="3566160"/>
            <a:ext cx="3657600" cy="457200"/>
          </a:xfrm>
          <a:prstGeom prst="rect">
            <a:avLst/>
          </a:prstGeom>
          <a:noFill/>
          <a:ln/>
        </p:spPr>
        <p:txBody>
          <a:bodyPr wrap="square" lIns="0" tIns="0" rIns="0" bIns="0" rtlCol="0" anchor="t"/>
          <a:lstStyle/>
          <a:p>
            <a:pPr marL="0" indent="0">
              <a:buNone/>
            </a:pPr>
            <a:r>
              <a:rPr lang="en-US" sz="2400" b="1">
                <a:solidFill>
                  <a:schemeClr val="bg1"/>
                </a:solidFill>
              </a:rPr>
              <a:t>Team 7</a:t>
            </a:r>
            <a:endParaRPr lang="en-US" sz="2400"/>
          </a:p>
        </p:txBody>
      </p:sp>
      <p:sp>
        <p:nvSpPr>
          <p:cNvPr id="40" name="Text 2">
            <a:extLst>
              <a:ext uri="{FF2B5EF4-FFF2-40B4-BE49-F238E27FC236}">
                <a16:creationId xmlns:a16="http://schemas.microsoft.com/office/drawing/2014/main" id="{FFF0B176-6620-8F7B-5A81-41B7086C06D2}"/>
              </a:ext>
            </a:extLst>
          </p:cNvPr>
          <p:cNvSpPr txBox="1"/>
          <p:nvPr/>
        </p:nvSpPr>
        <p:spPr>
          <a:xfrm>
            <a:off x="8354494" y="4914900"/>
            <a:ext cx="365760" cy="228600"/>
          </a:xfrm>
          <a:prstGeom prst="rect">
            <a:avLst/>
          </a:prstGeom>
          <a:noFill/>
          <a:ln/>
        </p:spPr>
        <p:txBody>
          <a:bodyPr wrap="square" lIns="0" tIns="0" rIns="0" bIns="0" rtlCol="0" anchor="t"/>
          <a:lstStyle/>
          <a:p>
            <a:pPr marL="0" indent="0" algn="r">
              <a:buNone/>
            </a:pPr>
            <a:r>
              <a:rPr lang="en-US" sz="1100">
                <a:solidFill>
                  <a:srgbClr val="6B7C74"/>
                </a:solidFill>
                <a:latin typeface="Calibri" pitchFamily="34" charset="0"/>
                <a:ea typeface="Calibri" pitchFamily="34" charset="-122"/>
                <a:cs typeface="Calibri" pitchFamily="34" charset="-120"/>
              </a:rPr>
              <a:t>1</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800" b="1">
                <a:solidFill>
                  <a:srgbClr val="0A3D2E"/>
                </a:solidFill>
                <a:latin typeface="Cambria" pitchFamily="34" charset="0"/>
                <a:ea typeface="Cambria" pitchFamily="34" charset="-122"/>
                <a:cs typeface="Cambria" pitchFamily="34" charset="-120"/>
              </a:rPr>
              <a:t>The decision: is this player worth the price?</a:t>
            </a:r>
            <a:endParaRPr lang="en-US" sz="2800"/>
          </a:p>
        </p:txBody>
      </p:sp>
      <p:sp>
        <p:nvSpPr>
          <p:cNvPr id="3" name="Text 1"/>
          <p:cNvSpPr txBox="1"/>
          <p:nvPr/>
        </p:nvSpPr>
        <p:spPr>
          <a:xfrm>
            <a:off x="457200" y="804672"/>
            <a:ext cx="8229600" cy="274320"/>
          </a:xfrm>
          <a:prstGeom prst="rect">
            <a:avLst/>
          </a:prstGeom>
          <a:noFill/>
          <a:ln/>
        </p:spPr>
        <p:txBody>
          <a:bodyPr wrap="square" lIns="0" tIns="0" rIns="0" bIns="0" rtlCol="0" anchor="t"/>
          <a:lstStyle/>
          <a:p>
            <a:pPr marL="0" indent="0">
              <a:buNone/>
            </a:pPr>
            <a:r>
              <a:rPr lang="en-US" sz="1400" i="1">
                <a:solidFill>
                  <a:srgbClr val="1F7A4F"/>
                </a:solidFill>
                <a:latin typeface="Calibri" pitchFamily="34" charset="0"/>
                <a:ea typeface="Calibri" pitchFamily="34" charset="-122"/>
                <a:cs typeface="Calibri" pitchFamily="34" charset="-120"/>
              </a:rPr>
              <a:t>A club has a quoted fee. Where will the player's market value be in 6 to 12 months?</a:t>
            </a:r>
            <a:endParaRPr lang="en-US" sz="1400"/>
          </a:p>
        </p:txBody>
      </p:sp>
      <p:sp>
        <p:nvSpPr>
          <p:cNvPr id="4" name="Text 2"/>
          <p:cNvSpPr txBox="1"/>
          <p:nvPr/>
        </p:nvSpPr>
        <p:spPr>
          <a:xfrm>
            <a:off x="8321040" y="4800600"/>
            <a:ext cx="365760" cy="228600"/>
          </a:xfrm>
          <a:prstGeom prst="rect">
            <a:avLst/>
          </a:prstGeom>
          <a:noFill/>
          <a:ln/>
        </p:spPr>
        <p:txBody>
          <a:bodyPr wrap="square" lIns="0" tIns="0" rIns="0" bIns="0" rtlCol="0" anchor="t"/>
          <a:lstStyle/>
          <a:p>
            <a:pPr marL="0" indent="0" algn="r">
              <a:buNone/>
            </a:pPr>
            <a:r>
              <a:rPr lang="en-US" sz="1100">
                <a:solidFill>
                  <a:srgbClr val="6B7C74"/>
                </a:solidFill>
                <a:latin typeface="Calibri" pitchFamily="34" charset="0"/>
                <a:ea typeface="Calibri" pitchFamily="34" charset="-122"/>
                <a:cs typeface="Calibri" pitchFamily="34" charset="-120"/>
              </a:rPr>
              <a:t>2</a:t>
            </a:r>
            <a:endParaRPr lang="en-US" sz="1100"/>
          </a:p>
        </p:txBody>
      </p:sp>
      <p:sp>
        <p:nvSpPr>
          <p:cNvPr id="12" name="Text 10"/>
          <p:cNvSpPr txBox="1"/>
          <p:nvPr/>
        </p:nvSpPr>
        <p:spPr>
          <a:xfrm>
            <a:off x="2331720" y="4727448"/>
            <a:ext cx="1188720" cy="164592"/>
          </a:xfrm>
          <a:prstGeom prst="rect">
            <a:avLst/>
          </a:prstGeom>
          <a:noFill/>
          <a:ln/>
        </p:spPr>
        <p:txBody>
          <a:bodyPr wrap="square" lIns="0" tIns="0" rIns="0" bIns="0" rtlCol="0" anchor="t"/>
          <a:lstStyle/>
          <a:p>
            <a:pPr marL="0" indent="0" algn="ctr">
              <a:buNone/>
            </a:pPr>
            <a:endParaRPr lang="en-US" sz="900"/>
          </a:p>
        </p:txBody>
      </p:sp>
      <p:sp>
        <p:nvSpPr>
          <p:cNvPr id="21" name="Shape 19"/>
          <p:cNvSpPr/>
          <p:nvPr/>
        </p:nvSpPr>
        <p:spPr>
          <a:xfrm>
            <a:off x="457200" y="1234440"/>
            <a:ext cx="2633472" cy="1234440"/>
          </a:xfrm>
          <a:prstGeom prst="roundRect">
            <a:avLst>
              <a:gd name="adj" fmla="val 5926"/>
            </a:avLst>
          </a:prstGeom>
          <a:solidFill>
            <a:srgbClr val="F2A900"/>
          </a:solidFill>
          <a:ln w="9525">
            <a:solidFill>
              <a:srgbClr val="F2A900"/>
            </a:solidFill>
            <a:prstDash val="solid"/>
          </a:ln>
        </p:spPr>
        <p:txBody>
          <a:bodyPr/>
          <a:lstStyle/>
          <a:p>
            <a:endParaRPr lang="en-US"/>
          </a:p>
        </p:txBody>
      </p:sp>
      <p:sp>
        <p:nvSpPr>
          <p:cNvPr id="22" name="Text 20"/>
          <p:cNvSpPr txBox="1"/>
          <p:nvPr/>
        </p:nvSpPr>
        <p:spPr>
          <a:xfrm>
            <a:off x="594360" y="1307592"/>
            <a:ext cx="2359152" cy="411480"/>
          </a:xfrm>
          <a:prstGeom prst="rect">
            <a:avLst/>
          </a:prstGeom>
          <a:noFill/>
          <a:ln/>
        </p:spPr>
        <p:txBody>
          <a:bodyPr wrap="square" lIns="0" tIns="0" rIns="0" bIns="0" rtlCol="0" anchor="t"/>
          <a:lstStyle/>
          <a:p>
            <a:pPr marL="0" indent="0">
              <a:buNone/>
            </a:pPr>
            <a:r>
              <a:rPr lang="en-US" sz="2400" b="1">
                <a:solidFill>
                  <a:srgbClr val="0A3D2E"/>
                </a:solidFill>
                <a:latin typeface="Cambria" pitchFamily="34" charset="0"/>
                <a:ea typeface="Cambria" pitchFamily="34" charset="-122"/>
                <a:cs typeface="Cambria" pitchFamily="34" charset="-120"/>
              </a:rPr>
              <a:t>BUY</a:t>
            </a:r>
            <a:endParaRPr lang="en-US" sz="2400"/>
          </a:p>
        </p:txBody>
      </p:sp>
      <p:sp>
        <p:nvSpPr>
          <p:cNvPr id="23" name="Text 21"/>
          <p:cNvSpPr txBox="1"/>
          <p:nvPr/>
        </p:nvSpPr>
        <p:spPr>
          <a:xfrm>
            <a:off x="594360" y="1783080"/>
            <a:ext cx="2359152" cy="640080"/>
          </a:xfrm>
          <a:prstGeom prst="rect">
            <a:avLst/>
          </a:prstGeom>
          <a:noFill/>
          <a:ln/>
        </p:spPr>
        <p:txBody>
          <a:bodyPr wrap="square" lIns="0" tIns="0" rIns="0" bIns="0" rtlCol="0" anchor="t"/>
          <a:lstStyle/>
          <a:p>
            <a:pPr marL="0" indent="0">
              <a:buNone/>
            </a:pPr>
            <a:r>
              <a:rPr lang="en-US" sz="1400">
                <a:solidFill>
                  <a:srgbClr val="0A3D2E"/>
                </a:solidFill>
                <a:latin typeface="Calibri" pitchFamily="34" charset="0"/>
                <a:ea typeface="Calibri" pitchFamily="34" charset="-122"/>
                <a:cs typeface="Calibri" pitchFamily="34" charset="-120"/>
              </a:rPr>
              <a:t>Is the quoted fee below the forecast value range?</a:t>
            </a:r>
            <a:endParaRPr lang="en-US" sz="1400"/>
          </a:p>
        </p:txBody>
      </p:sp>
      <p:sp>
        <p:nvSpPr>
          <p:cNvPr id="24" name="Shape 22"/>
          <p:cNvSpPr/>
          <p:nvPr/>
        </p:nvSpPr>
        <p:spPr>
          <a:xfrm>
            <a:off x="3255264" y="1234440"/>
            <a:ext cx="2633472" cy="1234440"/>
          </a:xfrm>
          <a:prstGeom prst="roundRect">
            <a:avLst>
              <a:gd name="adj" fmla="val 5926"/>
            </a:avLst>
          </a:prstGeom>
          <a:solidFill>
            <a:srgbClr val="1F7A4F"/>
          </a:solidFill>
          <a:ln w="9525">
            <a:solidFill>
              <a:srgbClr val="1F7A4F"/>
            </a:solidFill>
            <a:prstDash val="solid"/>
          </a:ln>
        </p:spPr>
        <p:txBody>
          <a:bodyPr/>
          <a:lstStyle/>
          <a:p>
            <a:endParaRPr lang="en-US"/>
          </a:p>
        </p:txBody>
      </p:sp>
      <p:sp>
        <p:nvSpPr>
          <p:cNvPr id="25" name="Text 23"/>
          <p:cNvSpPr txBox="1"/>
          <p:nvPr/>
        </p:nvSpPr>
        <p:spPr>
          <a:xfrm>
            <a:off x="3392424" y="1307592"/>
            <a:ext cx="2359152" cy="411480"/>
          </a:xfrm>
          <a:prstGeom prst="rect">
            <a:avLst/>
          </a:prstGeom>
          <a:noFill/>
          <a:ln/>
        </p:spPr>
        <p:txBody>
          <a:bodyPr wrap="square" lIns="0" tIns="0" rIns="0" bIns="0" rtlCol="0" anchor="t"/>
          <a:lstStyle/>
          <a:p>
            <a:pPr marL="0" indent="0">
              <a:buNone/>
            </a:pPr>
            <a:r>
              <a:rPr lang="en-US" sz="2400" b="1">
                <a:solidFill>
                  <a:srgbClr val="FFFFFF"/>
                </a:solidFill>
                <a:latin typeface="Cambria" pitchFamily="34" charset="0"/>
                <a:ea typeface="Cambria" pitchFamily="34" charset="-122"/>
                <a:cs typeface="Cambria" pitchFamily="34" charset="-120"/>
              </a:rPr>
              <a:t>HOLD / EXTEND</a:t>
            </a:r>
            <a:endParaRPr lang="en-US" sz="2400"/>
          </a:p>
        </p:txBody>
      </p:sp>
      <p:sp>
        <p:nvSpPr>
          <p:cNvPr id="26" name="Text 24"/>
          <p:cNvSpPr txBox="1"/>
          <p:nvPr/>
        </p:nvSpPr>
        <p:spPr>
          <a:xfrm>
            <a:off x="3392424" y="1783080"/>
            <a:ext cx="2359152" cy="640080"/>
          </a:xfrm>
          <a:prstGeom prst="rect">
            <a:avLst/>
          </a:prstGeom>
          <a:noFill/>
          <a:ln/>
        </p:spPr>
        <p:txBody>
          <a:bodyPr wrap="square" lIns="0" tIns="0" rIns="0" bIns="0" rtlCol="0" anchor="t"/>
          <a:lstStyle/>
          <a:p>
            <a:pPr marL="0" indent="0">
              <a:buNone/>
            </a:pPr>
            <a:r>
              <a:rPr lang="en-US" sz="1400">
                <a:solidFill>
                  <a:srgbClr val="FFFFFF"/>
                </a:solidFill>
                <a:latin typeface="Calibri" pitchFamily="34" charset="0"/>
                <a:ea typeface="Calibri" pitchFamily="34" charset="-122"/>
                <a:cs typeface="Calibri" pitchFamily="34" charset="-120"/>
              </a:rPr>
              <a:t>Is value expected to stay strong or rise?</a:t>
            </a:r>
            <a:endParaRPr lang="en-US" sz="1400"/>
          </a:p>
        </p:txBody>
      </p:sp>
      <p:sp>
        <p:nvSpPr>
          <p:cNvPr id="27" name="Shape 25"/>
          <p:cNvSpPr/>
          <p:nvPr/>
        </p:nvSpPr>
        <p:spPr>
          <a:xfrm>
            <a:off x="6053328" y="1234440"/>
            <a:ext cx="2633472" cy="1234440"/>
          </a:xfrm>
          <a:prstGeom prst="roundRect">
            <a:avLst>
              <a:gd name="adj" fmla="val 5926"/>
            </a:avLst>
          </a:prstGeom>
          <a:solidFill>
            <a:srgbClr val="C9553D"/>
          </a:solidFill>
          <a:ln w="9525">
            <a:solidFill>
              <a:srgbClr val="C9553D"/>
            </a:solidFill>
            <a:prstDash val="solid"/>
          </a:ln>
        </p:spPr>
        <p:txBody>
          <a:bodyPr/>
          <a:lstStyle/>
          <a:p>
            <a:endParaRPr lang="en-US"/>
          </a:p>
        </p:txBody>
      </p:sp>
      <p:sp>
        <p:nvSpPr>
          <p:cNvPr id="28" name="Text 26"/>
          <p:cNvSpPr txBox="1"/>
          <p:nvPr/>
        </p:nvSpPr>
        <p:spPr>
          <a:xfrm>
            <a:off x="6190488" y="1307592"/>
            <a:ext cx="2359152" cy="411480"/>
          </a:xfrm>
          <a:prstGeom prst="rect">
            <a:avLst/>
          </a:prstGeom>
          <a:noFill/>
          <a:ln/>
        </p:spPr>
        <p:txBody>
          <a:bodyPr wrap="square" lIns="0" tIns="0" rIns="0" bIns="0" rtlCol="0" anchor="t"/>
          <a:lstStyle/>
          <a:p>
            <a:pPr marL="0" indent="0">
              <a:buNone/>
            </a:pPr>
            <a:r>
              <a:rPr lang="en-US" sz="2400" b="1">
                <a:solidFill>
                  <a:srgbClr val="FFFFFF"/>
                </a:solidFill>
                <a:latin typeface="Cambria" pitchFamily="34" charset="0"/>
                <a:ea typeface="Cambria" pitchFamily="34" charset="-122"/>
                <a:cs typeface="Cambria" pitchFamily="34" charset="-120"/>
              </a:rPr>
              <a:t>SELL</a:t>
            </a:r>
            <a:endParaRPr lang="en-US" sz="2400"/>
          </a:p>
        </p:txBody>
      </p:sp>
      <p:sp>
        <p:nvSpPr>
          <p:cNvPr id="29" name="Text 27"/>
          <p:cNvSpPr txBox="1"/>
          <p:nvPr/>
        </p:nvSpPr>
        <p:spPr>
          <a:xfrm>
            <a:off x="6190488" y="1783080"/>
            <a:ext cx="2359152" cy="640080"/>
          </a:xfrm>
          <a:prstGeom prst="rect">
            <a:avLst/>
          </a:prstGeom>
          <a:noFill/>
          <a:ln/>
        </p:spPr>
        <p:txBody>
          <a:bodyPr wrap="square" lIns="0" tIns="0" rIns="0" bIns="0" rtlCol="0" anchor="t"/>
          <a:lstStyle/>
          <a:p>
            <a:pPr marL="0" indent="0">
              <a:buNone/>
            </a:pPr>
            <a:r>
              <a:rPr lang="en-US" sz="1400">
                <a:solidFill>
                  <a:srgbClr val="FFFFFF"/>
                </a:solidFill>
                <a:latin typeface="Calibri" pitchFamily="34" charset="0"/>
                <a:ea typeface="Calibri" pitchFamily="34" charset="-122"/>
                <a:cs typeface="Calibri" pitchFamily="34" charset="-120"/>
              </a:rPr>
              <a:t>Is value projected to decline?</a:t>
            </a:r>
            <a:endParaRPr lang="en-US" sz="1400"/>
          </a:p>
        </p:txBody>
      </p:sp>
      <p:sp>
        <p:nvSpPr>
          <p:cNvPr id="30" name="Shape 28"/>
          <p:cNvSpPr/>
          <p:nvPr/>
        </p:nvSpPr>
        <p:spPr>
          <a:xfrm>
            <a:off x="457200" y="2697480"/>
            <a:ext cx="2633472" cy="1828800"/>
          </a:xfrm>
          <a:prstGeom prst="roundRect">
            <a:avLst>
              <a:gd name="adj" fmla="val 4000"/>
            </a:avLst>
          </a:prstGeom>
          <a:solidFill>
            <a:srgbClr val="FFFFFF"/>
          </a:solidFill>
          <a:ln w="9525">
            <a:solidFill>
              <a:srgbClr val="D5E0DA"/>
            </a:solidFill>
            <a:prstDash val="solid"/>
          </a:ln>
        </p:spPr>
        <p:txBody>
          <a:bodyPr/>
          <a:lstStyle/>
          <a:p>
            <a:endParaRPr lang="en-US"/>
          </a:p>
        </p:txBody>
      </p:sp>
      <p:sp>
        <p:nvSpPr>
          <p:cNvPr id="31" name="Text 29"/>
          <p:cNvSpPr txBox="1"/>
          <p:nvPr/>
        </p:nvSpPr>
        <p:spPr>
          <a:xfrm>
            <a:off x="594360" y="2788920"/>
            <a:ext cx="2359152" cy="228600"/>
          </a:xfrm>
          <a:prstGeom prst="rect">
            <a:avLst/>
          </a:prstGeom>
          <a:noFill/>
          <a:ln/>
        </p:spPr>
        <p:txBody>
          <a:bodyPr wrap="square" lIns="0" tIns="0" rIns="0" bIns="0" rtlCol="0" anchor="t"/>
          <a:lstStyle/>
          <a:p>
            <a:pPr marL="0" indent="0">
              <a:buNone/>
            </a:pPr>
            <a:r>
              <a:rPr lang="en-US" sz="1100" b="1">
                <a:solidFill>
                  <a:srgbClr val="1F7A4F"/>
                </a:solidFill>
                <a:latin typeface="Calibri" pitchFamily="34" charset="0"/>
                <a:ea typeface="Calibri" pitchFamily="34" charset="-122"/>
                <a:cs typeface="Calibri" pitchFamily="34" charset="-120"/>
              </a:rPr>
              <a:t>OUR FORECASTING QUESTION</a:t>
            </a:r>
            <a:endParaRPr lang="en-US" sz="1100"/>
          </a:p>
        </p:txBody>
      </p:sp>
      <p:sp>
        <p:nvSpPr>
          <p:cNvPr id="32" name="Text 30"/>
          <p:cNvSpPr txBox="1"/>
          <p:nvPr/>
        </p:nvSpPr>
        <p:spPr>
          <a:xfrm>
            <a:off x="594360" y="3063240"/>
            <a:ext cx="2359152" cy="1371600"/>
          </a:xfrm>
          <a:prstGeom prst="rect">
            <a:avLst/>
          </a:prstGeom>
          <a:noFill/>
          <a:ln/>
        </p:spPr>
        <p:txBody>
          <a:bodyPr wrap="square" lIns="0" tIns="0" rIns="0" bIns="0" rtlCol="0" anchor="t"/>
          <a:lstStyle/>
          <a:p>
            <a:pPr marL="0" indent="0">
              <a:buNone/>
            </a:pPr>
            <a:r>
              <a:rPr lang="en-US" sz="1400">
                <a:solidFill>
                  <a:srgbClr val="1B2A24"/>
                </a:solidFill>
                <a:latin typeface="Calibri" pitchFamily="34" charset="0"/>
                <a:ea typeface="Calibri" pitchFamily="34" charset="-122"/>
                <a:cs typeface="Calibri" pitchFamily="34" charset="-120"/>
              </a:rPr>
              <a:t>Can historical market-value trends forecast a player's Transfermarkt value 6 to 12 months ahead?</a:t>
            </a:r>
            <a:endParaRPr lang="en-US" sz="1400"/>
          </a:p>
        </p:txBody>
      </p:sp>
      <p:sp>
        <p:nvSpPr>
          <p:cNvPr id="33" name="Shape 31"/>
          <p:cNvSpPr/>
          <p:nvPr/>
        </p:nvSpPr>
        <p:spPr>
          <a:xfrm>
            <a:off x="3255264" y="2697480"/>
            <a:ext cx="2633472" cy="1828800"/>
          </a:xfrm>
          <a:prstGeom prst="roundRect">
            <a:avLst>
              <a:gd name="adj" fmla="val 4000"/>
            </a:avLst>
          </a:prstGeom>
          <a:solidFill>
            <a:srgbClr val="FFFFFF"/>
          </a:solidFill>
          <a:ln w="9525">
            <a:solidFill>
              <a:srgbClr val="D5E0DA"/>
            </a:solidFill>
            <a:prstDash val="solid"/>
          </a:ln>
        </p:spPr>
        <p:txBody>
          <a:bodyPr/>
          <a:lstStyle/>
          <a:p>
            <a:endParaRPr lang="en-US"/>
          </a:p>
        </p:txBody>
      </p:sp>
      <p:sp>
        <p:nvSpPr>
          <p:cNvPr id="34" name="Text 32"/>
          <p:cNvSpPr txBox="1"/>
          <p:nvPr/>
        </p:nvSpPr>
        <p:spPr>
          <a:xfrm>
            <a:off x="3392424" y="2788920"/>
            <a:ext cx="2359152" cy="228600"/>
          </a:xfrm>
          <a:prstGeom prst="rect">
            <a:avLst/>
          </a:prstGeom>
          <a:noFill/>
          <a:ln/>
        </p:spPr>
        <p:txBody>
          <a:bodyPr wrap="square" lIns="0" tIns="0" rIns="0" bIns="0" rtlCol="0" anchor="t"/>
          <a:lstStyle/>
          <a:p>
            <a:pPr marL="0" indent="0">
              <a:buNone/>
            </a:pPr>
            <a:r>
              <a:rPr lang="en-US" sz="1100" b="1">
                <a:solidFill>
                  <a:srgbClr val="1F7A4F"/>
                </a:solidFill>
                <a:latin typeface="Calibri" pitchFamily="34" charset="0"/>
                <a:ea typeface="Calibri" pitchFamily="34" charset="-122"/>
                <a:cs typeface="Calibri" pitchFamily="34" charset="-120"/>
              </a:rPr>
              <a:t>INTENDED USERS</a:t>
            </a:r>
            <a:endParaRPr lang="en-US" sz="1100"/>
          </a:p>
        </p:txBody>
      </p:sp>
      <p:sp>
        <p:nvSpPr>
          <p:cNvPr id="35" name="Text 33"/>
          <p:cNvSpPr txBox="1"/>
          <p:nvPr/>
        </p:nvSpPr>
        <p:spPr>
          <a:xfrm>
            <a:off x="3392424" y="3063240"/>
            <a:ext cx="2359152" cy="1371600"/>
          </a:xfrm>
          <a:prstGeom prst="rect">
            <a:avLst/>
          </a:prstGeom>
          <a:noFill/>
          <a:ln/>
        </p:spPr>
        <p:txBody>
          <a:bodyPr wrap="square" lIns="0" tIns="0" rIns="0" bIns="0" rtlCol="0" anchor="t"/>
          <a:lstStyle/>
          <a:p>
            <a:pPr marL="0" indent="0">
              <a:buNone/>
            </a:pPr>
            <a:r>
              <a:rPr lang="en-US" sz="1400">
                <a:solidFill>
                  <a:srgbClr val="1B2A24"/>
                </a:solidFill>
                <a:latin typeface="Calibri" pitchFamily="34" charset="0"/>
                <a:ea typeface="Calibri" pitchFamily="34" charset="-122"/>
                <a:cs typeface="Calibri" pitchFamily="34" charset="-120"/>
              </a:rPr>
              <a:t>Sporting directors</a:t>
            </a:r>
            <a:endParaRPr lang="en-US" sz="1400"/>
          </a:p>
          <a:p>
            <a:pPr marL="0" indent="0">
              <a:buNone/>
            </a:pPr>
            <a:r>
              <a:rPr lang="en-US" sz="1400">
                <a:solidFill>
                  <a:srgbClr val="1B2A24"/>
                </a:solidFill>
                <a:latin typeface="Calibri" pitchFamily="34" charset="0"/>
                <a:ea typeface="Calibri" pitchFamily="34" charset="-122"/>
                <a:cs typeface="Calibri" pitchFamily="34" charset="-120"/>
              </a:rPr>
              <a:t>Technical / scouting directors</a:t>
            </a:r>
            <a:endParaRPr lang="en-US" sz="1400"/>
          </a:p>
          <a:p>
            <a:pPr marL="0" indent="0">
              <a:buNone/>
            </a:pPr>
            <a:r>
              <a:rPr lang="en-US" sz="1400">
                <a:solidFill>
                  <a:srgbClr val="1B2A24"/>
                </a:solidFill>
                <a:latin typeface="Calibri" pitchFamily="34" charset="0"/>
                <a:ea typeface="Calibri" pitchFamily="34" charset="-122"/>
                <a:cs typeface="Calibri" pitchFamily="34" charset="-120"/>
              </a:rPr>
              <a:t>Player agency and negotiation teams</a:t>
            </a:r>
            <a:endParaRPr lang="en-US" sz="1400"/>
          </a:p>
        </p:txBody>
      </p:sp>
      <p:sp>
        <p:nvSpPr>
          <p:cNvPr id="36" name="Shape 34"/>
          <p:cNvSpPr/>
          <p:nvPr/>
        </p:nvSpPr>
        <p:spPr>
          <a:xfrm>
            <a:off x="6053328" y="2697480"/>
            <a:ext cx="2633472" cy="1828800"/>
          </a:xfrm>
          <a:prstGeom prst="roundRect">
            <a:avLst>
              <a:gd name="adj" fmla="val 4000"/>
            </a:avLst>
          </a:prstGeom>
          <a:solidFill>
            <a:srgbClr val="FFFFFF"/>
          </a:solidFill>
          <a:ln w="9525">
            <a:solidFill>
              <a:srgbClr val="D5E0DA"/>
            </a:solidFill>
            <a:prstDash val="solid"/>
          </a:ln>
        </p:spPr>
        <p:txBody>
          <a:bodyPr/>
          <a:lstStyle/>
          <a:p>
            <a:endParaRPr lang="en-US"/>
          </a:p>
        </p:txBody>
      </p:sp>
      <p:sp>
        <p:nvSpPr>
          <p:cNvPr id="37" name="Text 35"/>
          <p:cNvSpPr txBox="1"/>
          <p:nvPr/>
        </p:nvSpPr>
        <p:spPr>
          <a:xfrm>
            <a:off x="6190488" y="2788920"/>
            <a:ext cx="2359152" cy="228600"/>
          </a:xfrm>
          <a:prstGeom prst="rect">
            <a:avLst/>
          </a:prstGeom>
          <a:noFill/>
          <a:ln/>
        </p:spPr>
        <p:txBody>
          <a:bodyPr wrap="square" lIns="0" tIns="0" rIns="0" bIns="0" rtlCol="0" anchor="t"/>
          <a:lstStyle/>
          <a:p>
            <a:pPr marL="0" indent="0">
              <a:buNone/>
            </a:pPr>
            <a:r>
              <a:rPr lang="en-US" sz="1100" b="1">
                <a:solidFill>
                  <a:srgbClr val="1F7A4F"/>
                </a:solidFill>
                <a:latin typeface="Calibri" pitchFamily="34" charset="0"/>
                <a:ea typeface="Calibri" pitchFamily="34" charset="-122"/>
                <a:cs typeface="Calibri" pitchFamily="34" charset="-120"/>
              </a:rPr>
              <a:t>TARGET AND HORIZON</a:t>
            </a:r>
            <a:endParaRPr lang="en-US" sz="1100"/>
          </a:p>
        </p:txBody>
      </p:sp>
      <p:sp>
        <p:nvSpPr>
          <p:cNvPr id="38" name="Text 36"/>
          <p:cNvSpPr txBox="1"/>
          <p:nvPr/>
        </p:nvSpPr>
        <p:spPr>
          <a:xfrm>
            <a:off x="6190488" y="3063240"/>
            <a:ext cx="2359152" cy="1371600"/>
          </a:xfrm>
          <a:prstGeom prst="rect">
            <a:avLst/>
          </a:prstGeom>
          <a:noFill/>
          <a:ln/>
        </p:spPr>
        <p:txBody>
          <a:bodyPr wrap="square" lIns="0" tIns="0" rIns="0" bIns="0" rtlCol="0" anchor="t"/>
          <a:lstStyle/>
          <a:p>
            <a:pPr marL="0" indent="0">
              <a:buNone/>
            </a:pPr>
            <a:r>
              <a:rPr lang="en-US" sz="1400">
                <a:solidFill>
                  <a:srgbClr val="1B2A24"/>
                </a:solidFill>
                <a:latin typeface="Calibri" pitchFamily="34" charset="0"/>
                <a:ea typeface="Calibri" pitchFamily="34" charset="-122"/>
                <a:cs typeface="Calibri" pitchFamily="34" charset="-120"/>
              </a:rPr>
              <a:t>Transfermarkt market value (€M), quarterly</a:t>
            </a:r>
            <a:endParaRPr lang="en-US" sz="1400"/>
          </a:p>
          <a:p>
            <a:pPr marL="0" indent="0">
              <a:buNone/>
            </a:pPr>
            <a:r>
              <a:rPr lang="en-US" sz="1400">
                <a:solidFill>
                  <a:srgbClr val="1B2A24"/>
                </a:solidFill>
                <a:latin typeface="Calibri" pitchFamily="34" charset="0"/>
                <a:ea typeface="Calibri" pitchFamily="34" charset="-122"/>
                <a:cs typeface="Calibri" pitchFamily="34" charset="-120"/>
              </a:rPr>
              <a:t>2 quarters ≈ 6 months</a:t>
            </a:r>
            <a:endParaRPr lang="en-US" sz="1400"/>
          </a:p>
          <a:p>
            <a:pPr marL="0" indent="0">
              <a:buNone/>
            </a:pPr>
            <a:r>
              <a:rPr lang="en-US" sz="1400">
                <a:solidFill>
                  <a:srgbClr val="1B2A24"/>
                </a:solidFill>
                <a:latin typeface="Calibri" pitchFamily="34" charset="0"/>
                <a:ea typeface="Calibri" pitchFamily="34" charset="-122"/>
                <a:cs typeface="Calibri" pitchFamily="34" charset="-120"/>
              </a:rPr>
              <a:t>4 quarters ≈ 12 months</a:t>
            </a:r>
            <a:endParaRPr lang="en-US"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Where our data comes from</a:t>
            </a:r>
            <a:endParaRPr lang="en-US" sz="3400"/>
          </a:p>
        </p:txBody>
      </p:sp>
      <p:sp>
        <p:nvSpPr>
          <p:cNvPr id="4" name="Text 1"/>
          <p:cNvSpPr txBox="1"/>
          <p:nvPr/>
        </p:nvSpPr>
        <p:spPr>
          <a:xfrm>
            <a:off x="457200" y="1005840"/>
            <a:ext cx="8229600" cy="274320"/>
          </a:xfrm>
          <a:prstGeom prst="rect">
            <a:avLst/>
          </a:prstGeom>
          <a:noFill/>
          <a:ln/>
        </p:spPr>
        <p:txBody>
          <a:bodyPr wrap="square" lIns="0" tIns="0" rIns="0" bIns="0" rtlCol="0" anchor="t"/>
          <a:lstStyle/>
          <a:p>
            <a:pPr marL="0" indent="0">
              <a:buNone/>
            </a:pPr>
            <a:r>
              <a:rPr lang="en-US" sz="1500" i="1">
                <a:solidFill>
                  <a:schemeClr val="accent1"/>
                </a:solidFill>
              </a:rPr>
              <a:t>Predicting player market values for roster planning and transfer-window negotiations</a:t>
            </a:r>
            <a:endParaRPr lang="en-US" sz="1500"/>
          </a:p>
        </p:txBody>
      </p:sp>
      <p:sp>
        <p:nvSpPr>
          <p:cNvPr id="5" name="Text 2"/>
          <p:cNvSpPr txBox="1"/>
          <p:nvPr/>
        </p:nvSpPr>
        <p:spPr>
          <a:xfrm>
            <a:off x="457200" y="1371600"/>
            <a:ext cx="8229600" cy="228600"/>
          </a:xfrm>
          <a:prstGeom prst="rect">
            <a:avLst/>
          </a:prstGeom>
          <a:noFill/>
          <a:ln/>
        </p:spPr>
        <p:txBody>
          <a:bodyPr wrap="square" lIns="0" tIns="0" rIns="0" bIns="0" rtlCol="0" anchor="t"/>
          <a:lstStyle/>
          <a:p>
            <a:pPr marL="0" indent="0">
              <a:buNone/>
            </a:pPr>
            <a:r>
              <a:rPr lang="en-US" sz="1300" b="1">
                <a:solidFill>
                  <a:srgbClr val="14211C"/>
                </a:solidFill>
              </a:rPr>
              <a:t>Our data is a public Kaggle dataset from Transfermarkt: </a:t>
            </a:r>
            <a:r>
              <a:rPr lang="en-US" sz="1300">
                <a:solidFill>
                  <a:srgbClr val="14211C"/>
                </a:solidFill>
              </a:rPr>
              <a:t>508 players, 9,764 value updates, 2009 to 2026</a:t>
            </a:r>
            <a:endParaRPr lang="en-US" sz="1300"/>
          </a:p>
        </p:txBody>
      </p:sp>
      <p:sp>
        <p:nvSpPr>
          <p:cNvPr id="6" name="card-1. What each player was worth"/>
          <p:cNvSpPr/>
          <p:nvPr/>
        </p:nvSpPr>
        <p:spPr>
          <a:xfrm>
            <a:off x="457200" y="1691640"/>
            <a:ext cx="3657600" cy="2697480"/>
          </a:xfrm>
          <a:prstGeom prst="roundRect">
            <a:avLst>
              <a:gd name="adj" fmla="val 2712"/>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640080" y="1810512"/>
            <a:ext cx="3291840" cy="292608"/>
          </a:xfrm>
          <a:prstGeom prst="rect">
            <a:avLst/>
          </a:prstGeom>
          <a:noFill/>
          <a:ln/>
        </p:spPr>
        <p:txBody>
          <a:bodyPr wrap="square" lIns="0" tIns="0" rIns="0" bIns="0" rtlCol="0" anchor="t"/>
          <a:lstStyle/>
          <a:p>
            <a:pPr marL="0" indent="0">
              <a:buNone/>
            </a:pPr>
            <a:r>
              <a:rPr lang="en-US" sz="1800" b="1">
                <a:solidFill>
                  <a:schemeClr val="tx2"/>
                </a:solidFill>
              </a:rPr>
              <a:t>1. What each player was worth</a:t>
            </a:r>
            <a:endParaRPr lang="en-US" sz="1800"/>
          </a:p>
        </p:txBody>
      </p:sp>
      <p:sp>
        <p:nvSpPr>
          <p:cNvPr id="8" name="Text 5"/>
          <p:cNvSpPr txBox="1"/>
          <p:nvPr/>
        </p:nvSpPr>
        <p:spPr>
          <a:xfrm>
            <a:off x="640080" y="2194560"/>
            <a:ext cx="3291840" cy="457200"/>
          </a:xfrm>
          <a:prstGeom prst="rect">
            <a:avLst/>
          </a:prstGeom>
          <a:noFill/>
          <a:ln/>
        </p:spPr>
        <p:txBody>
          <a:bodyPr wrap="square" lIns="0" tIns="0" rIns="0" bIns="0" rtlCol="0" anchor="t"/>
          <a:lstStyle/>
          <a:p>
            <a:pPr marL="0" indent="0">
              <a:buNone/>
            </a:pPr>
            <a:r>
              <a:rPr lang="en-US" sz="1300" i="1">
                <a:solidFill>
                  <a:srgbClr val="14211C"/>
                </a:solidFill>
              </a:rPr>
              <a:t>Like a diary of price tags: a new line each time a value was updated.</a:t>
            </a:r>
            <a:endParaRPr lang="en-US" sz="1300"/>
          </a:p>
        </p:txBody>
      </p:sp>
      <p:sp>
        <p:nvSpPr>
          <p:cNvPr id="9" name="Text 6"/>
          <p:cNvSpPr txBox="1"/>
          <p:nvPr/>
        </p:nvSpPr>
        <p:spPr>
          <a:xfrm>
            <a:off x="640080" y="2743200"/>
            <a:ext cx="2286000" cy="182880"/>
          </a:xfrm>
          <a:prstGeom prst="rect">
            <a:avLst/>
          </a:prstGeom>
          <a:noFill/>
          <a:ln/>
        </p:spPr>
        <p:txBody>
          <a:bodyPr wrap="square" lIns="0" tIns="0" rIns="0" bIns="0" rtlCol="0" anchor="t"/>
          <a:lstStyle/>
          <a:p>
            <a:pPr marL="0" indent="0">
              <a:buNone/>
            </a:pPr>
            <a:r>
              <a:rPr lang="en-US" sz="1100">
                <a:solidFill>
                  <a:srgbClr val="8A9A94"/>
                </a:solidFill>
              </a:rPr>
              <a:t>What's in each row</a:t>
            </a:r>
            <a:endParaRPr lang="en-US" sz="1100"/>
          </a:p>
        </p:txBody>
      </p:sp>
      <p:sp>
        <p:nvSpPr>
          <p:cNvPr id="10" name="Shape 7"/>
          <p:cNvSpPr/>
          <p:nvPr/>
        </p:nvSpPr>
        <p:spPr>
          <a:xfrm>
            <a:off x="640080" y="2971800"/>
            <a:ext cx="857707"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11" name="Text 8"/>
          <p:cNvSpPr txBox="1"/>
          <p:nvPr/>
        </p:nvSpPr>
        <p:spPr>
          <a:xfrm>
            <a:off x="640080" y="2971800"/>
            <a:ext cx="857707" cy="274320"/>
          </a:xfrm>
          <a:prstGeom prst="rect">
            <a:avLst/>
          </a:prstGeom>
          <a:noFill/>
          <a:ln/>
        </p:spPr>
        <p:txBody>
          <a:bodyPr wrap="square" lIns="0" tIns="0" rIns="0" bIns="0" rtlCol="0" anchor="ctr"/>
          <a:lstStyle/>
          <a:p>
            <a:pPr marL="0" indent="0" algn="ctr">
              <a:buNone/>
            </a:pPr>
            <a:r>
              <a:rPr lang="en-US" sz="1100">
                <a:solidFill>
                  <a:schemeClr val="tx1"/>
                </a:solidFill>
              </a:rPr>
              <a:t>Player ID</a:t>
            </a:r>
            <a:endParaRPr lang="en-US" sz="1100"/>
          </a:p>
        </p:txBody>
      </p:sp>
      <p:sp>
        <p:nvSpPr>
          <p:cNvPr id="12" name="Shape 9"/>
          <p:cNvSpPr/>
          <p:nvPr/>
        </p:nvSpPr>
        <p:spPr>
          <a:xfrm>
            <a:off x="1589227" y="2971800"/>
            <a:ext cx="482803"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13" name="Text 10"/>
          <p:cNvSpPr txBox="1"/>
          <p:nvPr/>
        </p:nvSpPr>
        <p:spPr>
          <a:xfrm>
            <a:off x="1589227" y="2971800"/>
            <a:ext cx="482803" cy="274320"/>
          </a:xfrm>
          <a:prstGeom prst="rect">
            <a:avLst/>
          </a:prstGeom>
          <a:noFill/>
          <a:ln/>
        </p:spPr>
        <p:txBody>
          <a:bodyPr wrap="square" lIns="0" tIns="0" rIns="0" bIns="0" rtlCol="0" anchor="ctr"/>
          <a:lstStyle/>
          <a:p>
            <a:pPr marL="0" indent="0" algn="ctr">
              <a:buNone/>
            </a:pPr>
            <a:r>
              <a:rPr lang="en-US" sz="1100">
                <a:solidFill>
                  <a:schemeClr val="tx1"/>
                </a:solidFill>
              </a:rPr>
              <a:t>Date</a:t>
            </a:r>
            <a:endParaRPr lang="en-US" sz="1100"/>
          </a:p>
        </p:txBody>
      </p:sp>
      <p:sp>
        <p:nvSpPr>
          <p:cNvPr id="14" name="Shape 11"/>
          <p:cNvSpPr/>
          <p:nvPr/>
        </p:nvSpPr>
        <p:spPr>
          <a:xfrm>
            <a:off x="2163470" y="2971800"/>
            <a:ext cx="1382573" cy="274320"/>
          </a:xfrm>
          <a:prstGeom prst="roundRect">
            <a:avLst>
              <a:gd name="adj" fmla="val 20000"/>
            </a:avLst>
          </a:prstGeom>
          <a:solidFill>
            <a:schemeClr val="accent2"/>
          </a:solidFill>
          <a:ln w="9525">
            <a:solidFill>
              <a:schemeClr val="accent2"/>
            </a:solidFill>
            <a:prstDash val="solid"/>
          </a:ln>
        </p:spPr>
        <p:txBody>
          <a:bodyPr/>
          <a:lstStyle/>
          <a:p>
            <a:endParaRPr lang="en-US"/>
          </a:p>
        </p:txBody>
      </p:sp>
      <p:sp>
        <p:nvSpPr>
          <p:cNvPr id="15" name="Text 12"/>
          <p:cNvSpPr txBox="1"/>
          <p:nvPr/>
        </p:nvSpPr>
        <p:spPr>
          <a:xfrm>
            <a:off x="2163470" y="2971800"/>
            <a:ext cx="1382573" cy="274320"/>
          </a:xfrm>
          <a:prstGeom prst="rect">
            <a:avLst/>
          </a:prstGeom>
          <a:noFill/>
          <a:ln/>
        </p:spPr>
        <p:txBody>
          <a:bodyPr wrap="square" lIns="0" tIns="0" rIns="0" bIns="0" rtlCol="0" anchor="ctr"/>
          <a:lstStyle/>
          <a:p>
            <a:pPr marL="0" indent="0" algn="ctr">
              <a:buNone/>
            </a:pPr>
            <a:r>
              <a:rPr lang="en-US" sz="1100" b="1">
                <a:solidFill>
                  <a:schemeClr val="tx1"/>
                </a:solidFill>
              </a:rPr>
              <a:t>Market value (€)</a:t>
            </a:r>
            <a:endParaRPr lang="en-US" sz="1100"/>
          </a:p>
        </p:txBody>
      </p:sp>
      <p:sp>
        <p:nvSpPr>
          <p:cNvPr id="16" name="Shape 13"/>
          <p:cNvSpPr/>
          <p:nvPr/>
        </p:nvSpPr>
        <p:spPr>
          <a:xfrm>
            <a:off x="640080" y="3319272"/>
            <a:ext cx="1307592"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17" name="Text 14"/>
          <p:cNvSpPr txBox="1"/>
          <p:nvPr/>
        </p:nvSpPr>
        <p:spPr>
          <a:xfrm>
            <a:off x="640080" y="3319272"/>
            <a:ext cx="1307592" cy="274320"/>
          </a:xfrm>
          <a:prstGeom prst="rect">
            <a:avLst/>
          </a:prstGeom>
          <a:noFill/>
          <a:ln/>
        </p:spPr>
        <p:txBody>
          <a:bodyPr wrap="square" lIns="0" tIns="0" rIns="0" bIns="0" rtlCol="0" anchor="ctr"/>
          <a:lstStyle/>
          <a:p>
            <a:pPr marL="0" indent="0" algn="ctr">
              <a:buNone/>
            </a:pPr>
            <a:r>
              <a:rPr lang="en-US" sz="1100">
                <a:solidFill>
                  <a:schemeClr val="tx1"/>
                </a:solidFill>
              </a:rPr>
              <a:t>Age at the time</a:t>
            </a:r>
            <a:endParaRPr lang="en-US" sz="1100"/>
          </a:p>
        </p:txBody>
      </p:sp>
      <p:sp>
        <p:nvSpPr>
          <p:cNvPr id="18" name="Shape 15"/>
          <p:cNvSpPr/>
          <p:nvPr/>
        </p:nvSpPr>
        <p:spPr>
          <a:xfrm>
            <a:off x="640080" y="3703320"/>
            <a:ext cx="3291840" cy="548640"/>
          </a:xfrm>
          <a:prstGeom prst="roundRect">
            <a:avLst>
              <a:gd name="adj" fmla="val 10000"/>
            </a:avLst>
          </a:prstGeom>
          <a:solidFill>
            <a:schemeClr val="tx2"/>
          </a:solidFill>
          <a:ln w="12700">
            <a:solidFill>
              <a:schemeClr val="tx2"/>
            </a:solidFill>
            <a:prstDash val="solid"/>
          </a:ln>
        </p:spPr>
        <p:txBody>
          <a:bodyPr/>
          <a:lstStyle/>
          <a:p>
            <a:endParaRPr lang="en-US"/>
          </a:p>
        </p:txBody>
      </p:sp>
      <p:sp>
        <p:nvSpPr>
          <p:cNvPr id="19" name="Text 16"/>
          <p:cNvSpPr txBox="1"/>
          <p:nvPr/>
        </p:nvSpPr>
        <p:spPr>
          <a:xfrm>
            <a:off x="777240" y="3703320"/>
            <a:ext cx="3017520" cy="548640"/>
          </a:xfrm>
          <a:prstGeom prst="rect">
            <a:avLst/>
          </a:prstGeom>
          <a:noFill/>
          <a:ln/>
        </p:spPr>
        <p:txBody>
          <a:bodyPr wrap="square" lIns="0" tIns="0" rIns="0" bIns="0" rtlCol="0" anchor="ctr"/>
          <a:lstStyle/>
          <a:p>
            <a:pPr marL="0" indent="0">
              <a:buNone/>
            </a:pPr>
            <a:r>
              <a:rPr lang="en-US" sz="1300" b="1">
                <a:solidFill>
                  <a:schemeClr val="bg1"/>
                </a:solidFill>
              </a:rPr>
              <a:t>Each row represents one valuation of one player on one date.</a:t>
            </a:r>
            <a:endParaRPr lang="en-US" sz="1300"/>
          </a:p>
        </p:txBody>
      </p:sp>
      <p:sp>
        <p:nvSpPr>
          <p:cNvPr id="20" name="card-2. Who each player is"/>
          <p:cNvSpPr/>
          <p:nvPr/>
        </p:nvSpPr>
        <p:spPr>
          <a:xfrm>
            <a:off x="5029200" y="1691640"/>
            <a:ext cx="3657600" cy="2697480"/>
          </a:xfrm>
          <a:prstGeom prst="roundRect">
            <a:avLst>
              <a:gd name="adj" fmla="val 2712"/>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8"/>
          <p:cNvSpPr txBox="1"/>
          <p:nvPr/>
        </p:nvSpPr>
        <p:spPr>
          <a:xfrm>
            <a:off x="5212080" y="1810512"/>
            <a:ext cx="3291840" cy="292608"/>
          </a:xfrm>
          <a:prstGeom prst="rect">
            <a:avLst/>
          </a:prstGeom>
          <a:noFill/>
          <a:ln/>
        </p:spPr>
        <p:txBody>
          <a:bodyPr wrap="square" lIns="0" tIns="0" rIns="0" bIns="0" rtlCol="0" anchor="t"/>
          <a:lstStyle/>
          <a:p>
            <a:pPr marL="0" indent="0">
              <a:buNone/>
            </a:pPr>
            <a:r>
              <a:rPr lang="en-US" sz="1800" b="1">
                <a:solidFill>
                  <a:schemeClr val="tx2"/>
                </a:solidFill>
              </a:rPr>
              <a:t>2. Who each player is</a:t>
            </a:r>
            <a:endParaRPr lang="en-US" sz="1800"/>
          </a:p>
        </p:txBody>
      </p:sp>
      <p:sp>
        <p:nvSpPr>
          <p:cNvPr id="22" name="Text 19"/>
          <p:cNvSpPr txBox="1"/>
          <p:nvPr/>
        </p:nvSpPr>
        <p:spPr>
          <a:xfrm>
            <a:off x="5212080" y="2194560"/>
            <a:ext cx="3291840" cy="457200"/>
          </a:xfrm>
          <a:prstGeom prst="rect">
            <a:avLst/>
          </a:prstGeom>
          <a:noFill/>
          <a:ln/>
        </p:spPr>
        <p:txBody>
          <a:bodyPr wrap="square" lIns="0" tIns="0" rIns="0" bIns="0" rtlCol="0" anchor="t"/>
          <a:lstStyle/>
          <a:p>
            <a:pPr marL="0" indent="0">
              <a:buNone/>
            </a:pPr>
            <a:r>
              <a:rPr lang="en-US" sz="1300" i="1">
                <a:solidFill>
                  <a:srgbClr val="14211C"/>
                </a:solidFill>
              </a:rPr>
              <a:t>Like a player card: who they are, where they play and for which club.</a:t>
            </a:r>
            <a:endParaRPr lang="en-US" sz="1300"/>
          </a:p>
        </p:txBody>
      </p:sp>
      <p:sp>
        <p:nvSpPr>
          <p:cNvPr id="23" name="Text 20"/>
          <p:cNvSpPr txBox="1"/>
          <p:nvPr/>
        </p:nvSpPr>
        <p:spPr>
          <a:xfrm>
            <a:off x="5212080" y="2743200"/>
            <a:ext cx="2286000" cy="182880"/>
          </a:xfrm>
          <a:prstGeom prst="rect">
            <a:avLst/>
          </a:prstGeom>
          <a:noFill/>
          <a:ln/>
        </p:spPr>
        <p:txBody>
          <a:bodyPr wrap="square" lIns="0" tIns="0" rIns="0" bIns="0" rtlCol="0" anchor="t"/>
          <a:lstStyle/>
          <a:p>
            <a:pPr marL="0" indent="0">
              <a:buNone/>
            </a:pPr>
            <a:r>
              <a:rPr lang="en-US" sz="1100">
                <a:solidFill>
                  <a:srgbClr val="8A9A94"/>
                </a:solidFill>
              </a:rPr>
              <a:t>What's in each row</a:t>
            </a:r>
            <a:endParaRPr lang="en-US" sz="1100"/>
          </a:p>
        </p:txBody>
      </p:sp>
      <p:sp>
        <p:nvSpPr>
          <p:cNvPr id="24" name="Shape 21"/>
          <p:cNvSpPr/>
          <p:nvPr/>
        </p:nvSpPr>
        <p:spPr>
          <a:xfrm>
            <a:off x="5212080" y="2971800"/>
            <a:ext cx="857707"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25" name="Text 22"/>
          <p:cNvSpPr txBox="1"/>
          <p:nvPr/>
        </p:nvSpPr>
        <p:spPr>
          <a:xfrm>
            <a:off x="5212080" y="2971800"/>
            <a:ext cx="857707" cy="274320"/>
          </a:xfrm>
          <a:prstGeom prst="rect">
            <a:avLst/>
          </a:prstGeom>
          <a:noFill/>
          <a:ln/>
        </p:spPr>
        <p:txBody>
          <a:bodyPr wrap="square" lIns="0" tIns="0" rIns="0" bIns="0" rtlCol="0" anchor="ctr"/>
          <a:lstStyle/>
          <a:p>
            <a:pPr marL="0" indent="0" algn="ctr">
              <a:buNone/>
            </a:pPr>
            <a:r>
              <a:rPr lang="en-US" sz="1100">
                <a:solidFill>
                  <a:schemeClr val="tx1"/>
                </a:solidFill>
              </a:rPr>
              <a:t>Player ID</a:t>
            </a:r>
            <a:endParaRPr lang="en-US" sz="1100"/>
          </a:p>
        </p:txBody>
      </p:sp>
      <p:sp>
        <p:nvSpPr>
          <p:cNvPr id="26" name="Shape 23"/>
          <p:cNvSpPr/>
          <p:nvPr/>
        </p:nvSpPr>
        <p:spPr>
          <a:xfrm>
            <a:off x="6161227" y="2971800"/>
            <a:ext cx="482803"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27" name="Text 24"/>
          <p:cNvSpPr txBox="1"/>
          <p:nvPr/>
        </p:nvSpPr>
        <p:spPr>
          <a:xfrm>
            <a:off x="6161227" y="2971800"/>
            <a:ext cx="482803" cy="274320"/>
          </a:xfrm>
          <a:prstGeom prst="rect">
            <a:avLst/>
          </a:prstGeom>
          <a:noFill/>
          <a:ln/>
        </p:spPr>
        <p:txBody>
          <a:bodyPr wrap="square" lIns="0" tIns="0" rIns="0" bIns="0" rtlCol="0" anchor="ctr"/>
          <a:lstStyle/>
          <a:p>
            <a:pPr marL="0" indent="0" algn="ctr">
              <a:buNone/>
            </a:pPr>
            <a:r>
              <a:rPr lang="en-US" sz="1100">
                <a:solidFill>
                  <a:schemeClr val="tx1"/>
                </a:solidFill>
              </a:rPr>
              <a:t>Name</a:t>
            </a:r>
            <a:endParaRPr lang="en-US" sz="1100"/>
          </a:p>
        </p:txBody>
      </p:sp>
      <p:sp>
        <p:nvSpPr>
          <p:cNvPr id="28" name="Shape 25"/>
          <p:cNvSpPr/>
          <p:nvPr/>
        </p:nvSpPr>
        <p:spPr>
          <a:xfrm>
            <a:off x="6735470" y="2971800"/>
            <a:ext cx="632765"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29" name="Text 26"/>
          <p:cNvSpPr txBox="1"/>
          <p:nvPr/>
        </p:nvSpPr>
        <p:spPr>
          <a:xfrm>
            <a:off x="6735470" y="2971800"/>
            <a:ext cx="632765" cy="274320"/>
          </a:xfrm>
          <a:prstGeom prst="rect">
            <a:avLst/>
          </a:prstGeom>
          <a:noFill/>
          <a:ln/>
        </p:spPr>
        <p:txBody>
          <a:bodyPr wrap="square" lIns="0" tIns="0" rIns="0" bIns="0" rtlCol="0" anchor="ctr"/>
          <a:lstStyle/>
          <a:p>
            <a:pPr marL="0" indent="0" algn="ctr">
              <a:buNone/>
            </a:pPr>
            <a:r>
              <a:rPr lang="en-US" sz="1100">
                <a:solidFill>
                  <a:schemeClr val="tx1"/>
                </a:solidFill>
              </a:rPr>
              <a:t>League</a:t>
            </a:r>
            <a:endParaRPr lang="en-US" sz="1100"/>
          </a:p>
        </p:txBody>
      </p:sp>
      <p:sp>
        <p:nvSpPr>
          <p:cNvPr id="30" name="Shape 27"/>
          <p:cNvSpPr/>
          <p:nvPr/>
        </p:nvSpPr>
        <p:spPr>
          <a:xfrm>
            <a:off x="7459675" y="2971800"/>
            <a:ext cx="782726"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31" name="Text 28"/>
          <p:cNvSpPr txBox="1"/>
          <p:nvPr/>
        </p:nvSpPr>
        <p:spPr>
          <a:xfrm>
            <a:off x="7459675" y="2971800"/>
            <a:ext cx="782726" cy="274320"/>
          </a:xfrm>
          <a:prstGeom prst="rect">
            <a:avLst/>
          </a:prstGeom>
          <a:noFill/>
          <a:ln/>
        </p:spPr>
        <p:txBody>
          <a:bodyPr wrap="square" lIns="0" tIns="0" rIns="0" bIns="0" rtlCol="0" anchor="ctr"/>
          <a:lstStyle/>
          <a:p>
            <a:pPr marL="0" indent="0" algn="ctr">
              <a:buNone/>
            </a:pPr>
            <a:r>
              <a:rPr lang="en-US" sz="1100">
                <a:solidFill>
                  <a:schemeClr val="tx1"/>
                </a:solidFill>
              </a:rPr>
              <a:t>Position</a:t>
            </a:r>
            <a:endParaRPr lang="en-US" sz="1100"/>
          </a:p>
        </p:txBody>
      </p:sp>
      <p:sp>
        <p:nvSpPr>
          <p:cNvPr id="32" name="Shape 29"/>
          <p:cNvSpPr/>
          <p:nvPr/>
        </p:nvSpPr>
        <p:spPr>
          <a:xfrm>
            <a:off x="5212080" y="3319272"/>
            <a:ext cx="1082650" cy="274320"/>
          </a:xfrm>
          <a:prstGeom prst="roundRect">
            <a:avLst>
              <a:gd name="adj" fmla="val 20000"/>
            </a:avLst>
          </a:prstGeom>
          <a:solidFill>
            <a:schemeClr val="accent6">
              <a:alpha val="50000"/>
            </a:schemeClr>
          </a:solidFill>
          <a:ln w="9525">
            <a:solidFill>
              <a:schemeClr val="accent6"/>
            </a:solidFill>
            <a:prstDash val="solid"/>
          </a:ln>
        </p:spPr>
        <p:txBody>
          <a:bodyPr/>
          <a:lstStyle/>
          <a:p>
            <a:endParaRPr lang="en-US"/>
          </a:p>
        </p:txBody>
      </p:sp>
      <p:sp>
        <p:nvSpPr>
          <p:cNvPr id="33" name="Text 30"/>
          <p:cNvSpPr txBox="1"/>
          <p:nvPr/>
        </p:nvSpPr>
        <p:spPr>
          <a:xfrm>
            <a:off x="5212080" y="3319272"/>
            <a:ext cx="1082650" cy="274320"/>
          </a:xfrm>
          <a:prstGeom prst="rect">
            <a:avLst/>
          </a:prstGeom>
          <a:noFill/>
          <a:ln/>
        </p:spPr>
        <p:txBody>
          <a:bodyPr wrap="square" lIns="0" tIns="0" rIns="0" bIns="0" rtlCol="0" anchor="ctr"/>
          <a:lstStyle/>
          <a:p>
            <a:pPr marL="0" indent="0" algn="ctr">
              <a:buNone/>
            </a:pPr>
            <a:r>
              <a:rPr lang="en-US" sz="1100">
                <a:solidFill>
                  <a:schemeClr val="tx1"/>
                </a:solidFill>
              </a:rPr>
              <a:t>Current club</a:t>
            </a:r>
            <a:endParaRPr lang="en-US" sz="1100"/>
          </a:p>
        </p:txBody>
      </p:sp>
      <p:sp>
        <p:nvSpPr>
          <p:cNvPr id="34" name="Shape 31"/>
          <p:cNvSpPr/>
          <p:nvPr/>
        </p:nvSpPr>
        <p:spPr>
          <a:xfrm>
            <a:off x="5212080" y="3703320"/>
            <a:ext cx="3291840" cy="548640"/>
          </a:xfrm>
          <a:prstGeom prst="roundRect">
            <a:avLst>
              <a:gd name="adj" fmla="val 10000"/>
            </a:avLst>
          </a:prstGeom>
          <a:solidFill>
            <a:schemeClr val="tx2"/>
          </a:solidFill>
          <a:ln w="12700">
            <a:solidFill>
              <a:schemeClr val="tx2"/>
            </a:solidFill>
            <a:prstDash val="solid"/>
          </a:ln>
        </p:spPr>
        <p:txBody>
          <a:bodyPr/>
          <a:lstStyle/>
          <a:p>
            <a:endParaRPr lang="en-US"/>
          </a:p>
        </p:txBody>
      </p:sp>
      <p:sp>
        <p:nvSpPr>
          <p:cNvPr id="35" name="Text 32"/>
          <p:cNvSpPr txBox="1"/>
          <p:nvPr/>
        </p:nvSpPr>
        <p:spPr>
          <a:xfrm>
            <a:off x="5349240" y="3703320"/>
            <a:ext cx="3017520" cy="548640"/>
          </a:xfrm>
          <a:prstGeom prst="rect">
            <a:avLst/>
          </a:prstGeom>
          <a:noFill/>
          <a:ln/>
        </p:spPr>
        <p:txBody>
          <a:bodyPr wrap="square" lIns="0" tIns="0" rIns="0" bIns="0" rtlCol="0" anchor="ctr"/>
          <a:lstStyle/>
          <a:p>
            <a:pPr marL="0" indent="0">
              <a:buNone/>
            </a:pPr>
            <a:r>
              <a:rPr lang="en-US" sz="1300" b="1">
                <a:solidFill>
                  <a:schemeClr val="bg1"/>
                </a:solidFill>
              </a:rPr>
              <a:t>Each row represents one player: their name, league and club.</a:t>
            </a:r>
            <a:endParaRPr lang="en-US" sz="1300"/>
          </a:p>
        </p:txBody>
      </p:sp>
      <p:sp>
        <p:nvSpPr>
          <p:cNvPr id="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3</a:t>
            </a:fld>
            <a:endParaRPr lang="en-US"/>
          </a:p>
        </p:txBody>
      </p:sp>
      <p:sp>
        <p:nvSpPr>
          <p:cNvPr id="36" name="Text 34">
            <a:extLst>
              <a:ext uri="{FF2B5EF4-FFF2-40B4-BE49-F238E27FC236}">
                <a16:creationId xmlns:a16="http://schemas.microsoft.com/office/drawing/2014/main" id="{677C7B3E-C880-6FEC-F5BB-4AE3E4F20458}"/>
              </a:ext>
            </a:extLst>
          </p:cNvPr>
          <p:cNvSpPr txBox="1"/>
          <p:nvPr/>
        </p:nvSpPr>
        <p:spPr>
          <a:xfrm>
            <a:off x="640080" y="4498848"/>
            <a:ext cx="7315200" cy="329184"/>
          </a:xfrm>
          <a:prstGeom prst="rect">
            <a:avLst/>
          </a:prstGeom>
          <a:noFill/>
          <a:ln/>
        </p:spPr>
        <p:txBody>
          <a:bodyPr wrap="square" lIns="0" tIns="0" rIns="0" bIns="0" rtlCol="0" anchor="ctr"/>
          <a:lstStyle/>
          <a:p>
            <a:pPr marL="0" indent="0">
              <a:buNone/>
            </a:pPr>
            <a:r>
              <a:rPr lang="en-US" sz="1300" b="1">
                <a:solidFill>
                  <a:schemeClr val="tx1"/>
                </a:solidFill>
              </a:rPr>
              <a:t>Target = Transfermarkt market value, </a:t>
            </a:r>
            <a:r>
              <a:rPr lang="en-US" sz="1300">
                <a:solidFill>
                  <a:schemeClr val="tx1"/>
                </a:solidFill>
              </a:rPr>
              <a:t>not the fee a club actually pays.</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Selection criteria</a:t>
            </a:r>
            <a:endParaRPr lang="en-US" sz="3400"/>
          </a:p>
        </p:txBody>
      </p:sp>
      <p:sp>
        <p:nvSpPr>
          <p:cNvPr id="4" name="Text 1"/>
          <p:cNvSpPr txBox="1"/>
          <p:nvPr/>
        </p:nvSpPr>
        <p:spPr>
          <a:xfrm>
            <a:off x="457200" y="1097280"/>
            <a:ext cx="8229600" cy="365760"/>
          </a:xfrm>
          <a:prstGeom prst="rect">
            <a:avLst/>
          </a:prstGeom>
          <a:noFill/>
          <a:ln/>
        </p:spPr>
        <p:txBody>
          <a:bodyPr wrap="square" lIns="0" tIns="0" rIns="0" bIns="0" rtlCol="0" anchor="t"/>
          <a:lstStyle/>
          <a:p>
            <a:pPr marL="0" indent="0">
              <a:buNone/>
            </a:pPr>
            <a:r>
              <a:rPr lang="en-US" sz="1400">
                <a:solidFill>
                  <a:srgbClr val="14211C"/>
                </a:solidFill>
              </a:rPr>
              <a:t>We measured how complete each player's history is, then kept only players who passed four checks.</a:t>
            </a:r>
            <a:endParaRPr lang="en-US" sz="1400"/>
          </a:p>
        </p:txBody>
      </p:sp>
      <p:sp>
        <p:nvSpPr>
          <p:cNvPr id="5" name="check-card-0"/>
          <p:cNvSpPr/>
          <p:nvPr/>
        </p:nvSpPr>
        <p:spPr>
          <a:xfrm>
            <a:off x="457200" y="1737360"/>
            <a:ext cx="4297680" cy="566928"/>
          </a:xfrm>
          <a:prstGeom prst="roundRect">
            <a:avLst>
              <a:gd name="adj" fmla="val 1290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6" name="check-badge-0"/>
          <p:cNvSpPr/>
          <p:nvPr/>
        </p:nvSpPr>
        <p:spPr>
          <a:xfrm>
            <a:off x="594360" y="1837944"/>
            <a:ext cx="365760" cy="365760"/>
          </a:xfrm>
          <a:prstGeom prst="ellipse">
            <a:avLst/>
          </a:prstGeom>
          <a:solidFill>
            <a:schemeClr val="accent1"/>
          </a:solidFill>
          <a:ln w="12700">
            <a:solidFill>
              <a:schemeClr val="accent1"/>
            </a:solidFill>
            <a:prstDash val="solid"/>
          </a:ln>
        </p:spPr>
        <p:txBody>
          <a:bodyPr/>
          <a:lstStyle/>
          <a:p>
            <a:endParaRPr lang="en-US"/>
          </a:p>
        </p:txBody>
      </p:sp>
      <p:pic>
        <p:nvPicPr>
          <p:cNvPr id="7" name="Image 0" descr="check"/>
          <p:cNvPicPr>
            <a:picLocks noChangeAspect="1"/>
          </p:cNvPicPr>
          <p:nvPr/>
        </p:nvPicPr>
        <p:blipFill>
          <a:blip r:embed="rId3"/>
          <a:stretch>
            <a:fillRect/>
          </a:stretch>
        </p:blipFill>
        <p:spPr>
          <a:xfrm>
            <a:off x="685800" y="1929384"/>
            <a:ext cx="182880" cy="182880"/>
          </a:xfrm>
          <a:prstGeom prst="rect">
            <a:avLst/>
          </a:prstGeom>
        </p:spPr>
      </p:pic>
      <p:sp>
        <p:nvSpPr>
          <p:cNvPr id="8" name="Text 4"/>
          <p:cNvSpPr txBox="1"/>
          <p:nvPr/>
        </p:nvSpPr>
        <p:spPr>
          <a:xfrm>
            <a:off x="1143000" y="1737360"/>
            <a:ext cx="3474720" cy="566928"/>
          </a:xfrm>
          <a:prstGeom prst="rect">
            <a:avLst/>
          </a:prstGeom>
          <a:noFill/>
          <a:ln/>
        </p:spPr>
        <p:txBody>
          <a:bodyPr wrap="square" lIns="0" tIns="0" rIns="0" bIns="0" rtlCol="0" anchor="ctr"/>
          <a:lstStyle/>
          <a:p>
            <a:pPr marL="0" indent="0">
              <a:buNone/>
            </a:pPr>
            <a:r>
              <a:rPr lang="en-US" sz="1300">
                <a:solidFill>
                  <a:schemeClr val="tx1"/>
                </a:solidFill>
              </a:rPr>
              <a:t>At least 6 years of history</a:t>
            </a:r>
            <a:endParaRPr lang="en-US" sz="1300"/>
          </a:p>
        </p:txBody>
      </p:sp>
      <p:sp>
        <p:nvSpPr>
          <p:cNvPr id="9" name="check-card-1"/>
          <p:cNvSpPr/>
          <p:nvPr/>
        </p:nvSpPr>
        <p:spPr>
          <a:xfrm>
            <a:off x="457200" y="2395728"/>
            <a:ext cx="4297680" cy="566928"/>
          </a:xfrm>
          <a:prstGeom prst="roundRect">
            <a:avLst>
              <a:gd name="adj" fmla="val 1290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10" name="check-badge-1"/>
          <p:cNvSpPr/>
          <p:nvPr/>
        </p:nvSpPr>
        <p:spPr>
          <a:xfrm>
            <a:off x="594360" y="2496312"/>
            <a:ext cx="365760" cy="365760"/>
          </a:xfrm>
          <a:prstGeom prst="ellipse">
            <a:avLst/>
          </a:prstGeom>
          <a:solidFill>
            <a:schemeClr val="accent1"/>
          </a:solidFill>
          <a:ln w="12700">
            <a:solidFill>
              <a:schemeClr val="accent1"/>
            </a:solidFill>
            <a:prstDash val="solid"/>
          </a:ln>
        </p:spPr>
        <p:txBody>
          <a:bodyPr/>
          <a:lstStyle/>
          <a:p>
            <a:endParaRPr lang="en-US"/>
          </a:p>
        </p:txBody>
      </p:sp>
      <p:pic>
        <p:nvPicPr>
          <p:cNvPr id="11" name="Image 1" descr="check"/>
          <p:cNvPicPr>
            <a:picLocks noChangeAspect="1"/>
          </p:cNvPicPr>
          <p:nvPr/>
        </p:nvPicPr>
        <p:blipFill>
          <a:blip r:embed="rId3"/>
          <a:stretch>
            <a:fillRect/>
          </a:stretch>
        </p:blipFill>
        <p:spPr>
          <a:xfrm>
            <a:off x="685800" y="2587752"/>
            <a:ext cx="182880" cy="182880"/>
          </a:xfrm>
          <a:prstGeom prst="rect">
            <a:avLst/>
          </a:prstGeom>
        </p:spPr>
      </p:pic>
      <p:sp>
        <p:nvSpPr>
          <p:cNvPr id="12" name="Text 7"/>
          <p:cNvSpPr txBox="1"/>
          <p:nvPr/>
        </p:nvSpPr>
        <p:spPr>
          <a:xfrm>
            <a:off x="1143000" y="2395728"/>
            <a:ext cx="3474720" cy="566928"/>
          </a:xfrm>
          <a:prstGeom prst="rect">
            <a:avLst/>
          </a:prstGeom>
          <a:noFill/>
          <a:ln/>
        </p:spPr>
        <p:txBody>
          <a:bodyPr wrap="square" lIns="0" tIns="0" rIns="0" bIns="0" rtlCol="0" anchor="ctr"/>
          <a:lstStyle/>
          <a:p>
            <a:pPr marL="0" indent="0">
              <a:buNone/>
            </a:pPr>
            <a:r>
              <a:rPr lang="en-US" sz="1300">
                <a:solidFill>
                  <a:schemeClr val="tx1"/>
                </a:solidFill>
              </a:rPr>
              <a:t>At least 55% of those quarters have a real valuation, not a filled-in one</a:t>
            </a:r>
            <a:endParaRPr lang="en-US" sz="1300"/>
          </a:p>
        </p:txBody>
      </p:sp>
      <p:sp>
        <p:nvSpPr>
          <p:cNvPr id="13" name="check-card-2"/>
          <p:cNvSpPr/>
          <p:nvPr/>
        </p:nvSpPr>
        <p:spPr>
          <a:xfrm>
            <a:off x="457200" y="3054096"/>
            <a:ext cx="4297680" cy="566928"/>
          </a:xfrm>
          <a:prstGeom prst="roundRect">
            <a:avLst>
              <a:gd name="adj" fmla="val 1290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14" name="check-badge-2"/>
          <p:cNvSpPr/>
          <p:nvPr/>
        </p:nvSpPr>
        <p:spPr>
          <a:xfrm>
            <a:off x="594360" y="3154680"/>
            <a:ext cx="365760" cy="365760"/>
          </a:xfrm>
          <a:prstGeom prst="ellipse">
            <a:avLst/>
          </a:prstGeom>
          <a:solidFill>
            <a:schemeClr val="accent1"/>
          </a:solidFill>
          <a:ln w="12700">
            <a:solidFill>
              <a:schemeClr val="accent1"/>
            </a:solidFill>
            <a:prstDash val="solid"/>
          </a:ln>
        </p:spPr>
        <p:txBody>
          <a:bodyPr/>
          <a:lstStyle/>
          <a:p>
            <a:endParaRPr lang="en-US"/>
          </a:p>
        </p:txBody>
      </p:sp>
      <p:pic>
        <p:nvPicPr>
          <p:cNvPr id="15" name="Image 2" descr="check"/>
          <p:cNvPicPr>
            <a:picLocks noChangeAspect="1"/>
          </p:cNvPicPr>
          <p:nvPr/>
        </p:nvPicPr>
        <p:blipFill>
          <a:blip r:embed="rId3"/>
          <a:stretch>
            <a:fillRect/>
          </a:stretch>
        </p:blipFill>
        <p:spPr>
          <a:xfrm>
            <a:off x="685800" y="3246120"/>
            <a:ext cx="182880" cy="182880"/>
          </a:xfrm>
          <a:prstGeom prst="rect">
            <a:avLst/>
          </a:prstGeom>
        </p:spPr>
      </p:pic>
      <p:sp>
        <p:nvSpPr>
          <p:cNvPr id="16" name="Text 10"/>
          <p:cNvSpPr txBox="1"/>
          <p:nvPr/>
        </p:nvSpPr>
        <p:spPr>
          <a:xfrm>
            <a:off x="1143000" y="3054096"/>
            <a:ext cx="3474720" cy="566928"/>
          </a:xfrm>
          <a:prstGeom prst="rect">
            <a:avLst/>
          </a:prstGeom>
          <a:noFill/>
          <a:ln/>
        </p:spPr>
        <p:txBody>
          <a:bodyPr wrap="square" lIns="0" tIns="0" rIns="0" bIns="0" rtlCol="0" anchor="ctr"/>
          <a:lstStyle/>
          <a:p>
            <a:pPr marL="0" indent="0">
              <a:buNone/>
            </a:pPr>
            <a:r>
              <a:rPr lang="en-US" sz="1300">
                <a:solidFill>
                  <a:schemeClr val="tx1"/>
                </a:solidFill>
              </a:rPr>
              <a:t>First valued by early 2019</a:t>
            </a:r>
            <a:endParaRPr lang="en-US" sz="1300"/>
          </a:p>
        </p:txBody>
      </p:sp>
      <p:sp>
        <p:nvSpPr>
          <p:cNvPr id="17" name="check-card-3"/>
          <p:cNvSpPr/>
          <p:nvPr/>
        </p:nvSpPr>
        <p:spPr>
          <a:xfrm>
            <a:off x="457200" y="3712464"/>
            <a:ext cx="4297680" cy="566928"/>
          </a:xfrm>
          <a:prstGeom prst="roundRect">
            <a:avLst>
              <a:gd name="adj" fmla="val 1290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18" name="check-badge-3"/>
          <p:cNvSpPr/>
          <p:nvPr/>
        </p:nvSpPr>
        <p:spPr>
          <a:xfrm>
            <a:off x="594360" y="3813048"/>
            <a:ext cx="365760" cy="365760"/>
          </a:xfrm>
          <a:prstGeom prst="ellipse">
            <a:avLst/>
          </a:prstGeom>
          <a:solidFill>
            <a:schemeClr val="accent1"/>
          </a:solidFill>
          <a:ln w="12700">
            <a:solidFill>
              <a:schemeClr val="accent1"/>
            </a:solidFill>
            <a:prstDash val="solid"/>
          </a:ln>
        </p:spPr>
        <p:txBody>
          <a:bodyPr/>
          <a:lstStyle/>
          <a:p>
            <a:endParaRPr lang="en-US"/>
          </a:p>
        </p:txBody>
      </p:sp>
      <p:pic>
        <p:nvPicPr>
          <p:cNvPr id="19" name="Image 3" descr="check"/>
          <p:cNvPicPr>
            <a:picLocks noChangeAspect="1"/>
          </p:cNvPicPr>
          <p:nvPr/>
        </p:nvPicPr>
        <p:blipFill>
          <a:blip r:embed="rId3"/>
          <a:stretch>
            <a:fillRect/>
          </a:stretch>
        </p:blipFill>
        <p:spPr>
          <a:xfrm>
            <a:off x="685800" y="3904488"/>
            <a:ext cx="182880" cy="182880"/>
          </a:xfrm>
          <a:prstGeom prst="rect">
            <a:avLst/>
          </a:prstGeom>
        </p:spPr>
      </p:pic>
      <p:sp>
        <p:nvSpPr>
          <p:cNvPr id="20" name="Text 13"/>
          <p:cNvSpPr txBox="1"/>
          <p:nvPr/>
        </p:nvSpPr>
        <p:spPr>
          <a:xfrm>
            <a:off x="1143000" y="3712464"/>
            <a:ext cx="3474720" cy="566928"/>
          </a:xfrm>
          <a:prstGeom prst="rect">
            <a:avLst/>
          </a:prstGeom>
          <a:noFill/>
          <a:ln/>
        </p:spPr>
        <p:txBody>
          <a:bodyPr wrap="square" lIns="0" tIns="0" rIns="0" bIns="0" rtlCol="0" anchor="ctr"/>
          <a:lstStyle/>
          <a:p>
            <a:pPr marL="0" indent="0">
              <a:buNone/>
            </a:pPr>
            <a:r>
              <a:rPr lang="en-US" sz="1300">
                <a:solidFill>
                  <a:schemeClr val="tx1"/>
                </a:solidFill>
              </a:rPr>
              <a:t>Still being valued recently</a:t>
            </a:r>
            <a:endParaRPr lang="en-US" sz="1300"/>
          </a:p>
        </p:txBody>
      </p:sp>
      <p:sp>
        <p:nvSpPr>
          <p:cNvPr id="21" name="funnel-0"/>
          <p:cNvSpPr/>
          <p:nvPr/>
        </p:nvSpPr>
        <p:spPr>
          <a:xfrm>
            <a:off x="5029200" y="1737360"/>
            <a:ext cx="3657600" cy="502920"/>
          </a:xfrm>
          <a:prstGeom prst="roundRect">
            <a:avLst>
              <a:gd name="adj" fmla="val 14545"/>
            </a:avLst>
          </a:prstGeom>
          <a:solidFill>
            <a:schemeClr val="tx2"/>
          </a:solidFill>
          <a:ln w="12700">
            <a:solidFill>
              <a:schemeClr val="tx2"/>
            </a:solidFill>
            <a:prstDash val="solid"/>
          </a:ln>
        </p:spPr>
        <p:txBody>
          <a:bodyPr/>
          <a:lstStyle/>
          <a:p>
            <a:endParaRPr lang="en-US"/>
          </a:p>
        </p:txBody>
      </p:sp>
      <p:sp>
        <p:nvSpPr>
          <p:cNvPr id="22" name="Text 15"/>
          <p:cNvSpPr txBox="1"/>
          <p:nvPr/>
        </p:nvSpPr>
        <p:spPr>
          <a:xfrm>
            <a:off x="5029200" y="1737360"/>
            <a:ext cx="3657600" cy="502920"/>
          </a:xfrm>
          <a:prstGeom prst="rect">
            <a:avLst/>
          </a:prstGeom>
          <a:noFill/>
          <a:ln/>
        </p:spPr>
        <p:txBody>
          <a:bodyPr wrap="square" lIns="0" tIns="0" rIns="0" bIns="0" rtlCol="0" anchor="ctr"/>
          <a:lstStyle/>
          <a:p>
            <a:pPr marL="0" indent="0" algn="ctr">
              <a:buNone/>
            </a:pPr>
            <a:r>
              <a:rPr lang="en-US" sz="1600" b="1">
                <a:solidFill>
                  <a:schemeClr val="bg1"/>
                </a:solidFill>
              </a:rPr>
              <a:t>508 players</a:t>
            </a:r>
            <a:endParaRPr lang="en-US" sz="1600"/>
          </a:p>
        </p:txBody>
      </p:sp>
      <p:sp>
        <p:nvSpPr>
          <p:cNvPr id="23" name="funnel-1"/>
          <p:cNvSpPr/>
          <p:nvPr/>
        </p:nvSpPr>
        <p:spPr>
          <a:xfrm>
            <a:off x="5486400" y="2331720"/>
            <a:ext cx="2743200" cy="502920"/>
          </a:xfrm>
          <a:prstGeom prst="roundRect">
            <a:avLst>
              <a:gd name="adj" fmla="val 14545"/>
            </a:avLst>
          </a:prstGeom>
          <a:solidFill>
            <a:schemeClr val="accent1"/>
          </a:solidFill>
          <a:ln w="12700">
            <a:solidFill>
              <a:schemeClr val="accent1"/>
            </a:solidFill>
            <a:prstDash val="solid"/>
          </a:ln>
        </p:spPr>
        <p:txBody>
          <a:bodyPr/>
          <a:lstStyle/>
          <a:p>
            <a:endParaRPr lang="en-US"/>
          </a:p>
        </p:txBody>
      </p:sp>
      <p:sp>
        <p:nvSpPr>
          <p:cNvPr id="24" name="Text 17"/>
          <p:cNvSpPr txBox="1"/>
          <p:nvPr/>
        </p:nvSpPr>
        <p:spPr>
          <a:xfrm>
            <a:off x="5486400" y="2331720"/>
            <a:ext cx="2743200" cy="502920"/>
          </a:xfrm>
          <a:prstGeom prst="rect">
            <a:avLst/>
          </a:prstGeom>
          <a:noFill/>
          <a:ln/>
        </p:spPr>
        <p:txBody>
          <a:bodyPr wrap="square" lIns="0" tIns="0" rIns="0" bIns="0" rtlCol="0" anchor="ctr"/>
          <a:lstStyle/>
          <a:p>
            <a:pPr marL="0" indent="0" algn="ctr">
              <a:buNone/>
            </a:pPr>
            <a:r>
              <a:rPr lang="en-US" sz="1400" b="1">
                <a:solidFill>
                  <a:schemeClr val="bg1"/>
                </a:solidFill>
              </a:rPr>
              <a:t>Pass the four checks</a:t>
            </a:r>
            <a:endParaRPr lang="en-US" sz="1400"/>
          </a:p>
        </p:txBody>
      </p:sp>
      <p:sp>
        <p:nvSpPr>
          <p:cNvPr id="25" name="funnel-2"/>
          <p:cNvSpPr/>
          <p:nvPr/>
        </p:nvSpPr>
        <p:spPr>
          <a:xfrm>
            <a:off x="5943600" y="2926080"/>
            <a:ext cx="1828800" cy="502920"/>
          </a:xfrm>
          <a:prstGeom prst="roundRect">
            <a:avLst>
              <a:gd name="adj" fmla="val 14545"/>
            </a:avLst>
          </a:prstGeom>
          <a:solidFill>
            <a:schemeClr val="accent2"/>
          </a:solidFill>
          <a:ln w="12700">
            <a:solidFill>
              <a:schemeClr val="accent2"/>
            </a:solidFill>
            <a:prstDash val="solid"/>
          </a:ln>
        </p:spPr>
        <p:txBody>
          <a:bodyPr/>
          <a:lstStyle/>
          <a:p>
            <a:endParaRPr lang="en-US"/>
          </a:p>
        </p:txBody>
      </p:sp>
      <p:sp>
        <p:nvSpPr>
          <p:cNvPr id="26" name="Text 19"/>
          <p:cNvSpPr txBox="1"/>
          <p:nvPr/>
        </p:nvSpPr>
        <p:spPr>
          <a:xfrm>
            <a:off x="5943600" y="2926080"/>
            <a:ext cx="1828800" cy="502920"/>
          </a:xfrm>
          <a:prstGeom prst="rect">
            <a:avLst/>
          </a:prstGeom>
          <a:noFill/>
          <a:ln/>
        </p:spPr>
        <p:txBody>
          <a:bodyPr wrap="square" lIns="0" tIns="0" rIns="0" bIns="0" rtlCol="0" anchor="ctr"/>
          <a:lstStyle/>
          <a:p>
            <a:pPr marL="0" indent="0" algn="ctr">
              <a:buNone/>
            </a:pPr>
            <a:r>
              <a:rPr lang="en-US" sz="1800" b="1">
                <a:solidFill>
                  <a:schemeClr val="tx1"/>
                </a:solidFill>
              </a:rPr>
              <a:t>15 players</a:t>
            </a:r>
            <a:endParaRPr lang="en-US" sz="1800"/>
          </a:p>
        </p:txBody>
      </p:sp>
      <p:sp>
        <p:nvSpPr>
          <p:cNvPr id="27" name="Text 20"/>
          <p:cNvSpPr txBox="1"/>
          <p:nvPr/>
        </p:nvSpPr>
        <p:spPr>
          <a:xfrm>
            <a:off x="5029200" y="3566160"/>
            <a:ext cx="3657600" cy="201168"/>
          </a:xfrm>
          <a:prstGeom prst="rect">
            <a:avLst/>
          </a:prstGeom>
          <a:noFill/>
          <a:ln/>
        </p:spPr>
        <p:txBody>
          <a:bodyPr wrap="square" lIns="0" tIns="0" rIns="0" bIns="0" rtlCol="0" anchor="t"/>
          <a:lstStyle/>
          <a:p>
            <a:pPr marL="0" indent="0">
              <a:buNone/>
            </a:pPr>
            <a:r>
              <a:rPr lang="en-US" sz="1200">
                <a:solidFill>
                  <a:srgbClr val="8A9A94"/>
                </a:solidFill>
              </a:rPr>
              <a:t>3 best-covered players from each big-five league:</a:t>
            </a:r>
            <a:endParaRPr lang="en-US" sz="1200"/>
          </a:p>
        </p:txBody>
      </p:sp>
      <p:sp>
        <p:nvSpPr>
          <p:cNvPr id="28" name="Shape 21"/>
          <p:cNvSpPr/>
          <p:nvPr/>
        </p:nvSpPr>
        <p:spPr>
          <a:xfrm>
            <a:off x="5029200" y="3840480"/>
            <a:ext cx="1232611" cy="256032"/>
          </a:xfrm>
          <a:prstGeom prst="roundRect">
            <a:avLst>
              <a:gd name="adj" fmla="val 21429"/>
            </a:avLst>
          </a:prstGeom>
          <a:solidFill>
            <a:schemeClr val="accent6">
              <a:alpha val="50000"/>
            </a:schemeClr>
          </a:solidFill>
          <a:ln w="9525">
            <a:solidFill>
              <a:schemeClr val="accent6"/>
            </a:solidFill>
            <a:prstDash val="solid"/>
          </a:ln>
        </p:spPr>
        <p:txBody>
          <a:bodyPr/>
          <a:lstStyle/>
          <a:p>
            <a:endParaRPr lang="en-US"/>
          </a:p>
        </p:txBody>
      </p:sp>
      <p:sp>
        <p:nvSpPr>
          <p:cNvPr id="29" name="Text 22"/>
          <p:cNvSpPr txBox="1"/>
          <p:nvPr/>
        </p:nvSpPr>
        <p:spPr>
          <a:xfrm>
            <a:off x="5029200" y="3840480"/>
            <a:ext cx="1232611" cy="256032"/>
          </a:xfrm>
          <a:prstGeom prst="rect">
            <a:avLst/>
          </a:prstGeom>
          <a:noFill/>
          <a:ln/>
        </p:spPr>
        <p:txBody>
          <a:bodyPr wrap="square" lIns="0" tIns="0" rIns="0" bIns="0" rtlCol="0" anchor="ctr"/>
          <a:lstStyle/>
          <a:p>
            <a:pPr marL="0" indent="0" algn="ctr">
              <a:buNone/>
            </a:pPr>
            <a:r>
              <a:rPr lang="en-US" sz="1100">
                <a:solidFill>
                  <a:schemeClr val="tx1"/>
                </a:solidFill>
              </a:rPr>
              <a:t>Premier League</a:t>
            </a:r>
            <a:endParaRPr lang="en-US" sz="1100"/>
          </a:p>
        </p:txBody>
      </p:sp>
      <p:sp>
        <p:nvSpPr>
          <p:cNvPr id="30" name="Shape 23"/>
          <p:cNvSpPr/>
          <p:nvPr/>
        </p:nvSpPr>
        <p:spPr>
          <a:xfrm>
            <a:off x="6353251" y="3840480"/>
            <a:ext cx="707746" cy="256032"/>
          </a:xfrm>
          <a:prstGeom prst="roundRect">
            <a:avLst>
              <a:gd name="adj" fmla="val 21429"/>
            </a:avLst>
          </a:prstGeom>
          <a:solidFill>
            <a:schemeClr val="accent6">
              <a:alpha val="50000"/>
            </a:schemeClr>
          </a:solidFill>
          <a:ln w="9525">
            <a:solidFill>
              <a:schemeClr val="accent6"/>
            </a:solidFill>
            <a:prstDash val="solid"/>
          </a:ln>
        </p:spPr>
        <p:txBody>
          <a:bodyPr/>
          <a:lstStyle/>
          <a:p>
            <a:endParaRPr lang="en-US"/>
          </a:p>
        </p:txBody>
      </p:sp>
      <p:sp>
        <p:nvSpPr>
          <p:cNvPr id="31" name="Text 24"/>
          <p:cNvSpPr txBox="1"/>
          <p:nvPr/>
        </p:nvSpPr>
        <p:spPr>
          <a:xfrm>
            <a:off x="6353251" y="3840480"/>
            <a:ext cx="707746" cy="256032"/>
          </a:xfrm>
          <a:prstGeom prst="rect">
            <a:avLst/>
          </a:prstGeom>
          <a:noFill/>
          <a:ln/>
        </p:spPr>
        <p:txBody>
          <a:bodyPr wrap="square" lIns="0" tIns="0" rIns="0" bIns="0" rtlCol="0" anchor="ctr"/>
          <a:lstStyle/>
          <a:p>
            <a:pPr marL="0" indent="0" algn="ctr">
              <a:buNone/>
            </a:pPr>
            <a:r>
              <a:rPr lang="en-US" sz="1100">
                <a:solidFill>
                  <a:schemeClr val="tx1"/>
                </a:solidFill>
              </a:rPr>
              <a:t>La Liga</a:t>
            </a:r>
            <a:endParaRPr lang="en-US" sz="1100"/>
          </a:p>
        </p:txBody>
      </p:sp>
      <p:sp>
        <p:nvSpPr>
          <p:cNvPr id="32" name="Shape 25"/>
          <p:cNvSpPr/>
          <p:nvPr/>
        </p:nvSpPr>
        <p:spPr>
          <a:xfrm>
            <a:off x="7152437" y="3840480"/>
            <a:ext cx="707746" cy="256032"/>
          </a:xfrm>
          <a:prstGeom prst="roundRect">
            <a:avLst>
              <a:gd name="adj" fmla="val 21429"/>
            </a:avLst>
          </a:prstGeom>
          <a:solidFill>
            <a:schemeClr val="accent6">
              <a:alpha val="50000"/>
            </a:schemeClr>
          </a:solidFill>
          <a:ln w="9525">
            <a:solidFill>
              <a:schemeClr val="accent6"/>
            </a:solidFill>
            <a:prstDash val="solid"/>
          </a:ln>
        </p:spPr>
        <p:txBody>
          <a:bodyPr/>
          <a:lstStyle/>
          <a:p>
            <a:endParaRPr lang="en-US"/>
          </a:p>
        </p:txBody>
      </p:sp>
      <p:sp>
        <p:nvSpPr>
          <p:cNvPr id="33" name="Text 26"/>
          <p:cNvSpPr txBox="1"/>
          <p:nvPr/>
        </p:nvSpPr>
        <p:spPr>
          <a:xfrm>
            <a:off x="7152437" y="3840480"/>
            <a:ext cx="707746" cy="256032"/>
          </a:xfrm>
          <a:prstGeom prst="rect">
            <a:avLst/>
          </a:prstGeom>
          <a:noFill/>
          <a:ln/>
        </p:spPr>
        <p:txBody>
          <a:bodyPr wrap="square" lIns="0" tIns="0" rIns="0" bIns="0" rtlCol="0" anchor="ctr"/>
          <a:lstStyle/>
          <a:p>
            <a:pPr marL="0" indent="0" algn="ctr">
              <a:buNone/>
            </a:pPr>
            <a:r>
              <a:rPr lang="en-US" sz="1100">
                <a:solidFill>
                  <a:schemeClr val="tx1"/>
                </a:solidFill>
              </a:rPr>
              <a:t>Serie A</a:t>
            </a:r>
            <a:endParaRPr lang="en-US" sz="1100"/>
          </a:p>
        </p:txBody>
      </p:sp>
      <p:sp>
        <p:nvSpPr>
          <p:cNvPr id="34" name="Shape 27"/>
          <p:cNvSpPr/>
          <p:nvPr/>
        </p:nvSpPr>
        <p:spPr>
          <a:xfrm>
            <a:off x="5029200" y="4169664"/>
            <a:ext cx="932688" cy="256032"/>
          </a:xfrm>
          <a:prstGeom prst="roundRect">
            <a:avLst>
              <a:gd name="adj" fmla="val 21429"/>
            </a:avLst>
          </a:prstGeom>
          <a:solidFill>
            <a:schemeClr val="accent6">
              <a:alpha val="50000"/>
            </a:schemeClr>
          </a:solidFill>
          <a:ln w="9525">
            <a:solidFill>
              <a:schemeClr val="accent6"/>
            </a:solidFill>
            <a:prstDash val="solid"/>
          </a:ln>
        </p:spPr>
        <p:txBody>
          <a:bodyPr/>
          <a:lstStyle/>
          <a:p>
            <a:endParaRPr lang="en-US"/>
          </a:p>
        </p:txBody>
      </p:sp>
      <p:sp>
        <p:nvSpPr>
          <p:cNvPr id="35" name="Text 28"/>
          <p:cNvSpPr txBox="1"/>
          <p:nvPr/>
        </p:nvSpPr>
        <p:spPr>
          <a:xfrm>
            <a:off x="5029200" y="4169664"/>
            <a:ext cx="932688" cy="256032"/>
          </a:xfrm>
          <a:prstGeom prst="rect">
            <a:avLst/>
          </a:prstGeom>
          <a:noFill/>
          <a:ln/>
        </p:spPr>
        <p:txBody>
          <a:bodyPr wrap="square" lIns="0" tIns="0" rIns="0" bIns="0" rtlCol="0" anchor="ctr"/>
          <a:lstStyle/>
          <a:p>
            <a:pPr marL="0" indent="0" algn="ctr">
              <a:buNone/>
            </a:pPr>
            <a:r>
              <a:rPr lang="en-US" sz="1100">
                <a:solidFill>
                  <a:schemeClr val="tx1"/>
                </a:solidFill>
              </a:rPr>
              <a:t>Bundesliga</a:t>
            </a:r>
            <a:endParaRPr lang="en-US" sz="1100"/>
          </a:p>
        </p:txBody>
      </p:sp>
      <p:sp>
        <p:nvSpPr>
          <p:cNvPr id="36" name="Shape 29"/>
          <p:cNvSpPr/>
          <p:nvPr/>
        </p:nvSpPr>
        <p:spPr>
          <a:xfrm>
            <a:off x="6053328" y="4169664"/>
            <a:ext cx="707746" cy="256032"/>
          </a:xfrm>
          <a:prstGeom prst="roundRect">
            <a:avLst>
              <a:gd name="adj" fmla="val 21429"/>
            </a:avLst>
          </a:prstGeom>
          <a:solidFill>
            <a:schemeClr val="accent6">
              <a:alpha val="50000"/>
            </a:schemeClr>
          </a:solidFill>
          <a:ln w="9525">
            <a:solidFill>
              <a:schemeClr val="accent6"/>
            </a:solidFill>
            <a:prstDash val="solid"/>
          </a:ln>
        </p:spPr>
        <p:txBody>
          <a:bodyPr/>
          <a:lstStyle/>
          <a:p>
            <a:endParaRPr lang="en-US"/>
          </a:p>
        </p:txBody>
      </p:sp>
      <p:sp>
        <p:nvSpPr>
          <p:cNvPr id="37" name="Text 30"/>
          <p:cNvSpPr txBox="1"/>
          <p:nvPr/>
        </p:nvSpPr>
        <p:spPr>
          <a:xfrm>
            <a:off x="6053328" y="4169664"/>
            <a:ext cx="707746" cy="256032"/>
          </a:xfrm>
          <a:prstGeom prst="rect">
            <a:avLst/>
          </a:prstGeom>
          <a:noFill/>
          <a:ln/>
        </p:spPr>
        <p:txBody>
          <a:bodyPr wrap="square" lIns="0" tIns="0" rIns="0" bIns="0" rtlCol="0" anchor="ctr"/>
          <a:lstStyle/>
          <a:p>
            <a:pPr marL="0" indent="0" algn="ctr">
              <a:buNone/>
            </a:pPr>
            <a:r>
              <a:rPr lang="en-US" sz="1100">
                <a:solidFill>
                  <a:schemeClr val="tx1"/>
                </a:solidFill>
              </a:rPr>
              <a:t>Ligue 1</a:t>
            </a:r>
            <a:endParaRPr lang="en-US" sz="1100"/>
          </a:p>
        </p:txBody>
      </p:sp>
      <p:sp>
        <p:nvSpPr>
          <p:cNvPr id="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4</a:t>
            </a:fld>
            <a:endParaRPr lang="en-US"/>
          </a:p>
        </p:txBody>
      </p:sp>
      <p:sp>
        <p:nvSpPr>
          <p:cNvPr id="39" name="TextBox 38">
            <a:extLst>
              <a:ext uri="{FF2B5EF4-FFF2-40B4-BE49-F238E27FC236}">
                <a16:creationId xmlns:a16="http://schemas.microsoft.com/office/drawing/2014/main" id="{428CB7B6-B441-9B03-84BD-AFFB02F5047C}"/>
              </a:ext>
            </a:extLst>
          </p:cNvPr>
          <p:cNvSpPr txBox="1"/>
          <p:nvPr/>
        </p:nvSpPr>
        <p:spPr>
          <a:xfrm>
            <a:off x="468351" y="1345943"/>
            <a:ext cx="6947210" cy="261610"/>
          </a:xfrm>
          <a:prstGeom prst="rect">
            <a:avLst/>
          </a:prstGeom>
          <a:noFill/>
        </p:spPr>
        <p:txBody>
          <a:bodyPr wrap="square">
            <a:spAutoFit/>
          </a:bodyPr>
          <a:lstStyle/>
          <a:p>
            <a:pPr marL="0" indent="0">
              <a:buNone/>
            </a:pPr>
            <a:r>
              <a:rPr lang="en-US" sz="1100" i="1">
                <a:solidFill>
                  <a:srgbClr val="1F7A4F"/>
                </a:solidFill>
                <a:latin typeface="Calibri" pitchFamily="34" charset="0"/>
                <a:ea typeface="Calibri" pitchFamily="34" charset="-122"/>
                <a:cs typeface="Calibri" pitchFamily="34" charset="-120"/>
              </a:rPr>
              <a:t>From 508 players to a 15-player modeling cohort</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Dates into quarters</a:t>
            </a:r>
            <a:endParaRPr lang="en-US" sz="3400"/>
          </a:p>
        </p:txBody>
      </p:sp>
      <p:sp>
        <p:nvSpPr>
          <p:cNvPr id="4" name="Text 1"/>
          <p:cNvSpPr txBox="1"/>
          <p:nvPr/>
        </p:nvSpPr>
        <p:spPr>
          <a:xfrm>
            <a:off x="457200" y="1051560"/>
            <a:ext cx="8229600" cy="365760"/>
          </a:xfrm>
          <a:prstGeom prst="rect">
            <a:avLst/>
          </a:prstGeom>
          <a:noFill/>
          <a:ln/>
        </p:spPr>
        <p:txBody>
          <a:bodyPr wrap="square" lIns="0" tIns="0" rIns="0" bIns="0" rtlCol="0" anchor="t"/>
          <a:lstStyle/>
          <a:p>
            <a:pPr marL="0" indent="0">
              <a:buNone/>
            </a:pPr>
            <a:r>
              <a:rPr lang="en-US" sz="1400">
                <a:solidFill>
                  <a:srgbClr val="14211C"/>
                </a:solidFill>
              </a:rPr>
              <a:t>Transfermarkt updates values at irregular times, so every player gets the same quarterly calendar.</a:t>
            </a:r>
            <a:endParaRPr lang="en-US" sz="1400"/>
          </a:p>
        </p:txBody>
      </p:sp>
      <p:sp>
        <p:nvSpPr>
          <p:cNvPr id="5" name="step-badge-1"/>
          <p:cNvSpPr/>
          <p:nvPr/>
        </p:nvSpPr>
        <p:spPr>
          <a:xfrm>
            <a:off x="457200" y="182880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6" name="Text 3"/>
          <p:cNvSpPr txBox="1"/>
          <p:nvPr/>
        </p:nvSpPr>
        <p:spPr>
          <a:xfrm>
            <a:off x="457200" y="1828800"/>
            <a:ext cx="457200" cy="457200"/>
          </a:xfrm>
          <a:prstGeom prst="rect">
            <a:avLst/>
          </a:prstGeom>
          <a:noFill/>
          <a:ln/>
        </p:spPr>
        <p:txBody>
          <a:bodyPr wrap="square" lIns="0" tIns="0" rIns="0" bIns="0" rtlCol="0" anchor="ctr"/>
          <a:lstStyle/>
          <a:p>
            <a:pPr marL="0" indent="0" algn="ctr">
              <a:buNone/>
            </a:pPr>
            <a:r>
              <a:rPr lang="en-US" sz="1800" b="1">
                <a:solidFill>
                  <a:schemeClr val="bg1"/>
                </a:solidFill>
              </a:rPr>
              <a:t>1</a:t>
            </a:r>
            <a:endParaRPr lang="en-US" sz="1800"/>
          </a:p>
        </p:txBody>
      </p:sp>
      <p:sp>
        <p:nvSpPr>
          <p:cNvPr id="7" name="Text 4"/>
          <p:cNvSpPr txBox="1"/>
          <p:nvPr/>
        </p:nvSpPr>
        <p:spPr>
          <a:xfrm>
            <a:off x="1097280" y="1783080"/>
            <a:ext cx="2103120" cy="274320"/>
          </a:xfrm>
          <a:prstGeom prst="rect">
            <a:avLst/>
          </a:prstGeom>
          <a:noFill/>
          <a:ln/>
        </p:spPr>
        <p:txBody>
          <a:bodyPr wrap="square" lIns="0" tIns="0" rIns="0" bIns="0" rtlCol="0" anchor="t"/>
          <a:lstStyle/>
          <a:p>
            <a:pPr marL="0" indent="0">
              <a:buNone/>
            </a:pPr>
            <a:r>
              <a:rPr lang="en-US" sz="1500" b="1">
                <a:solidFill>
                  <a:schemeClr val="tx2"/>
                </a:solidFill>
              </a:rPr>
              <a:t>Sorted into quarters</a:t>
            </a:r>
            <a:endParaRPr lang="en-US" sz="1500"/>
          </a:p>
        </p:txBody>
      </p:sp>
      <p:sp>
        <p:nvSpPr>
          <p:cNvPr id="8" name="Text 5"/>
          <p:cNvSpPr txBox="1"/>
          <p:nvPr/>
        </p:nvSpPr>
        <p:spPr>
          <a:xfrm>
            <a:off x="1097280" y="2084832"/>
            <a:ext cx="2057400" cy="731520"/>
          </a:xfrm>
          <a:prstGeom prst="rect">
            <a:avLst/>
          </a:prstGeom>
          <a:noFill/>
          <a:ln/>
        </p:spPr>
        <p:txBody>
          <a:bodyPr wrap="square" lIns="0" tIns="0" rIns="0" bIns="0" rtlCol="0" anchor="t"/>
          <a:lstStyle/>
          <a:p>
            <a:pPr marL="0" indent="0">
              <a:buNone/>
            </a:pPr>
            <a:r>
              <a:rPr lang="en-US" sz="1200">
                <a:solidFill>
                  <a:schemeClr val="tx1"/>
                </a:solidFill>
              </a:rPr>
              <a:t>Each update lands in a quarter. Two in one quarter? We keep the latest.</a:t>
            </a:r>
            <a:endParaRPr lang="en-US" sz="1200"/>
          </a:p>
        </p:txBody>
      </p:sp>
      <p:sp>
        <p:nvSpPr>
          <p:cNvPr id="9" name="step-badge-2"/>
          <p:cNvSpPr/>
          <p:nvPr/>
        </p:nvSpPr>
        <p:spPr>
          <a:xfrm>
            <a:off x="457200" y="297180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10" name="Text 7"/>
          <p:cNvSpPr txBox="1"/>
          <p:nvPr/>
        </p:nvSpPr>
        <p:spPr>
          <a:xfrm>
            <a:off x="457200" y="2971800"/>
            <a:ext cx="457200" cy="457200"/>
          </a:xfrm>
          <a:prstGeom prst="rect">
            <a:avLst/>
          </a:prstGeom>
          <a:noFill/>
          <a:ln/>
        </p:spPr>
        <p:txBody>
          <a:bodyPr wrap="square" lIns="0" tIns="0" rIns="0" bIns="0" rtlCol="0" anchor="ctr"/>
          <a:lstStyle/>
          <a:p>
            <a:pPr marL="0" indent="0" algn="ctr">
              <a:buNone/>
            </a:pPr>
            <a:r>
              <a:rPr lang="en-US" sz="1800" b="1">
                <a:solidFill>
                  <a:schemeClr val="bg1"/>
                </a:solidFill>
              </a:rPr>
              <a:t>2</a:t>
            </a:r>
            <a:endParaRPr lang="en-US" sz="1800"/>
          </a:p>
        </p:txBody>
      </p:sp>
      <p:sp>
        <p:nvSpPr>
          <p:cNvPr id="11" name="Text 8"/>
          <p:cNvSpPr txBox="1"/>
          <p:nvPr/>
        </p:nvSpPr>
        <p:spPr>
          <a:xfrm>
            <a:off x="1097280" y="2926080"/>
            <a:ext cx="2103120" cy="274320"/>
          </a:xfrm>
          <a:prstGeom prst="rect">
            <a:avLst/>
          </a:prstGeom>
          <a:noFill/>
          <a:ln/>
        </p:spPr>
        <p:txBody>
          <a:bodyPr wrap="square" lIns="0" tIns="0" rIns="0" bIns="0" rtlCol="0" anchor="t"/>
          <a:lstStyle/>
          <a:p>
            <a:pPr marL="0" indent="0">
              <a:buNone/>
            </a:pPr>
            <a:r>
              <a:rPr lang="en-US" sz="1500" b="1">
                <a:solidFill>
                  <a:schemeClr val="tx2"/>
                </a:solidFill>
              </a:rPr>
              <a:t>Quiet quarters filled</a:t>
            </a:r>
            <a:endParaRPr lang="en-US" sz="1500"/>
          </a:p>
        </p:txBody>
      </p:sp>
      <p:sp>
        <p:nvSpPr>
          <p:cNvPr id="12" name="Text 9"/>
          <p:cNvSpPr txBox="1"/>
          <p:nvPr/>
        </p:nvSpPr>
        <p:spPr>
          <a:xfrm>
            <a:off x="1097280" y="3227832"/>
            <a:ext cx="2057400" cy="731520"/>
          </a:xfrm>
          <a:prstGeom prst="rect">
            <a:avLst/>
          </a:prstGeom>
          <a:noFill/>
          <a:ln/>
        </p:spPr>
        <p:txBody>
          <a:bodyPr wrap="square" lIns="0" tIns="0" rIns="0" bIns="0" rtlCol="0" anchor="t"/>
          <a:lstStyle/>
          <a:p>
            <a:pPr marL="0" indent="0">
              <a:buNone/>
            </a:pPr>
            <a:r>
              <a:rPr lang="en-US" sz="1200">
                <a:solidFill>
                  <a:schemeClr val="tx1"/>
                </a:solidFill>
              </a:rPr>
              <a:t>The value carries forward until the next update (dashed = filled in).</a:t>
            </a:r>
            <a:endParaRPr lang="en-US" sz="1200"/>
          </a:p>
        </p:txBody>
      </p:sp>
      <p:sp>
        <p:nvSpPr>
          <p:cNvPr id="13" name="Shape 10"/>
          <p:cNvSpPr/>
          <p:nvPr/>
        </p:nvSpPr>
        <p:spPr>
          <a:xfrm>
            <a:off x="3291840" y="1737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14" name="Text 11"/>
          <p:cNvSpPr txBox="1"/>
          <p:nvPr/>
        </p:nvSpPr>
        <p:spPr>
          <a:xfrm>
            <a:off x="3291840" y="1810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2021Q1</a:t>
            </a:r>
            <a:endParaRPr lang="en-US" sz="1000"/>
          </a:p>
        </p:txBody>
      </p:sp>
      <p:sp>
        <p:nvSpPr>
          <p:cNvPr id="15" name="Text 12"/>
          <p:cNvSpPr txBox="1"/>
          <p:nvPr/>
        </p:nvSpPr>
        <p:spPr>
          <a:xfrm>
            <a:off x="3291840" y="2066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€60M</a:t>
            </a:r>
            <a:endParaRPr lang="en-US" sz="1500"/>
          </a:p>
        </p:txBody>
      </p:sp>
      <p:sp>
        <p:nvSpPr>
          <p:cNvPr id="16" name="Shape 13"/>
          <p:cNvSpPr/>
          <p:nvPr/>
        </p:nvSpPr>
        <p:spPr>
          <a:xfrm>
            <a:off x="3291840" y="2880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17" name="Text 14"/>
          <p:cNvSpPr txBox="1"/>
          <p:nvPr/>
        </p:nvSpPr>
        <p:spPr>
          <a:xfrm>
            <a:off x="3291840" y="2953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2021Q1</a:t>
            </a:r>
            <a:endParaRPr lang="en-US" sz="1000"/>
          </a:p>
        </p:txBody>
      </p:sp>
      <p:sp>
        <p:nvSpPr>
          <p:cNvPr id="18" name="Text 15"/>
          <p:cNvSpPr txBox="1"/>
          <p:nvPr/>
        </p:nvSpPr>
        <p:spPr>
          <a:xfrm>
            <a:off x="3291840" y="3209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€60M</a:t>
            </a:r>
            <a:endParaRPr lang="en-US" sz="1500"/>
          </a:p>
        </p:txBody>
      </p:sp>
      <p:sp>
        <p:nvSpPr>
          <p:cNvPr id="19" name="Shape 16"/>
          <p:cNvSpPr/>
          <p:nvPr/>
        </p:nvSpPr>
        <p:spPr>
          <a:xfrm>
            <a:off x="4206240" y="1737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20" name="Text 17"/>
          <p:cNvSpPr txBox="1"/>
          <p:nvPr/>
        </p:nvSpPr>
        <p:spPr>
          <a:xfrm>
            <a:off x="4206240" y="1810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2021Q2</a:t>
            </a:r>
            <a:endParaRPr lang="en-US" sz="1000"/>
          </a:p>
        </p:txBody>
      </p:sp>
      <p:sp>
        <p:nvSpPr>
          <p:cNvPr id="21" name="Text 18"/>
          <p:cNvSpPr txBox="1"/>
          <p:nvPr/>
        </p:nvSpPr>
        <p:spPr>
          <a:xfrm>
            <a:off x="4206240" y="2066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€70M</a:t>
            </a:r>
            <a:endParaRPr lang="en-US" sz="1500"/>
          </a:p>
        </p:txBody>
      </p:sp>
      <p:sp>
        <p:nvSpPr>
          <p:cNvPr id="22" name="Shape 19"/>
          <p:cNvSpPr/>
          <p:nvPr/>
        </p:nvSpPr>
        <p:spPr>
          <a:xfrm>
            <a:off x="4206240" y="2880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23" name="Text 20"/>
          <p:cNvSpPr txBox="1"/>
          <p:nvPr/>
        </p:nvSpPr>
        <p:spPr>
          <a:xfrm>
            <a:off x="4206240" y="2953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2021Q2</a:t>
            </a:r>
            <a:endParaRPr lang="en-US" sz="1000"/>
          </a:p>
        </p:txBody>
      </p:sp>
      <p:sp>
        <p:nvSpPr>
          <p:cNvPr id="24" name="Text 21"/>
          <p:cNvSpPr txBox="1"/>
          <p:nvPr/>
        </p:nvSpPr>
        <p:spPr>
          <a:xfrm>
            <a:off x="4206240" y="3209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€70M</a:t>
            </a:r>
            <a:endParaRPr lang="en-US" sz="1500"/>
          </a:p>
        </p:txBody>
      </p:sp>
      <p:sp>
        <p:nvSpPr>
          <p:cNvPr id="25" name="Shape 22"/>
          <p:cNvSpPr/>
          <p:nvPr/>
        </p:nvSpPr>
        <p:spPr>
          <a:xfrm>
            <a:off x="5120640" y="1737360"/>
            <a:ext cx="822960" cy="777240"/>
          </a:xfrm>
          <a:prstGeom prst="roundRect">
            <a:avLst>
              <a:gd name="adj" fmla="val 7059"/>
            </a:avLst>
          </a:prstGeom>
          <a:solidFill>
            <a:schemeClr val="bg1"/>
          </a:solidFill>
          <a:ln w="12700">
            <a:solidFill>
              <a:srgbClr val="8A9A94"/>
            </a:solidFill>
            <a:prstDash val="solid"/>
          </a:ln>
        </p:spPr>
        <p:txBody>
          <a:bodyPr/>
          <a:lstStyle/>
          <a:p>
            <a:endParaRPr lang="en-US"/>
          </a:p>
        </p:txBody>
      </p:sp>
      <p:sp>
        <p:nvSpPr>
          <p:cNvPr id="26" name="Text 23"/>
          <p:cNvSpPr txBox="1"/>
          <p:nvPr/>
        </p:nvSpPr>
        <p:spPr>
          <a:xfrm>
            <a:off x="5120640" y="1810512"/>
            <a:ext cx="822960" cy="201168"/>
          </a:xfrm>
          <a:prstGeom prst="rect">
            <a:avLst/>
          </a:prstGeom>
          <a:noFill/>
          <a:ln/>
        </p:spPr>
        <p:txBody>
          <a:bodyPr wrap="square" lIns="0" tIns="0" rIns="0" bIns="0" rtlCol="0" anchor="t"/>
          <a:lstStyle/>
          <a:p>
            <a:pPr marL="0" indent="0" algn="ctr">
              <a:buNone/>
            </a:pPr>
            <a:r>
              <a:rPr lang="en-US" sz="1000">
                <a:solidFill>
                  <a:srgbClr val="8A9A94"/>
                </a:solidFill>
              </a:rPr>
              <a:t>2021Q3</a:t>
            </a:r>
            <a:endParaRPr lang="en-US" sz="1000"/>
          </a:p>
        </p:txBody>
      </p:sp>
      <p:sp>
        <p:nvSpPr>
          <p:cNvPr id="27" name="Text 24"/>
          <p:cNvSpPr txBox="1"/>
          <p:nvPr/>
        </p:nvSpPr>
        <p:spPr>
          <a:xfrm>
            <a:off x="5120640" y="2066544"/>
            <a:ext cx="822960" cy="320040"/>
          </a:xfrm>
          <a:prstGeom prst="rect">
            <a:avLst/>
          </a:prstGeom>
          <a:noFill/>
          <a:ln/>
        </p:spPr>
        <p:txBody>
          <a:bodyPr wrap="square" lIns="0" tIns="0" rIns="0" bIns="0" rtlCol="0" anchor="t"/>
          <a:lstStyle/>
          <a:p>
            <a:pPr marL="0" indent="0" algn="ctr">
              <a:buNone/>
            </a:pPr>
            <a:r>
              <a:rPr lang="en-US" sz="1500" b="1">
                <a:solidFill>
                  <a:schemeClr val="tx1"/>
                </a:solidFill>
              </a:rPr>
              <a:t>–</a:t>
            </a:r>
            <a:endParaRPr lang="en-US" sz="1500"/>
          </a:p>
        </p:txBody>
      </p:sp>
      <p:sp>
        <p:nvSpPr>
          <p:cNvPr id="28" name="Shape 25"/>
          <p:cNvSpPr/>
          <p:nvPr/>
        </p:nvSpPr>
        <p:spPr>
          <a:xfrm>
            <a:off x="5120640" y="2880360"/>
            <a:ext cx="822960" cy="777240"/>
          </a:xfrm>
          <a:prstGeom prst="roundRect">
            <a:avLst>
              <a:gd name="adj" fmla="val 7059"/>
            </a:avLst>
          </a:prstGeom>
          <a:solidFill>
            <a:schemeClr val="bg1"/>
          </a:solidFill>
          <a:ln w="25400">
            <a:solidFill>
              <a:schemeClr val="accent2"/>
            </a:solidFill>
            <a:prstDash val="dash"/>
          </a:ln>
        </p:spPr>
        <p:txBody>
          <a:bodyPr/>
          <a:lstStyle/>
          <a:p>
            <a:endParaRPr lang="en-US"/>
          </a:p>
        </p:txBody>
      </p:sp>
      <p:sp>
        <p:nvSpPr>
          <p:cNvPr id="29" name="Text 26"/>
          <p:cNvSpPr txBox="1"/>
          <p:nvPr/>
        </p:nvSpPr>
        <p:spPr>
          <a:xfrm>
            <a:off x="5120640" y="2953512"/>
            <a:ext cx="822960" cy="201168"/>
          </a:xfrm>
          <a:prstGeom prst="rect">
            <a:avLst/>
          </a:prstGeom>
          <a:noFill/>
          <a:ln/>
        </p:spPr>
        <p:txBody>
          <a:bodyPr wrap="square" lIns="0" tIns="0" rIns="0" bIns="0" rtlCol="0" anchor="t"/>
          <a:lstStyle/>
          <a:p>
            <a:pPr marL="0" indent="0" algn="ctr">
              <a:buNone/>
            </a:pPr>
            <a:r>
              <a:rPr lang="en-US" sz="1000">
                <a:solidFill>
                  <a:srgbClr val="8A9A94"/>
                </a:solidFill>
              </a:rPr>
              <a:t>2021Q3</a:t>
            </a:r>
            <a:endParaRPr lang="en-US" sz="1000"/>
          </a:p>
        </p:txBody>
      </p:sp>
      <p:sp>
        <p:nvSpPr>
          <p:cNvPr id="30" name="Text 27"/>
          <p:cNvSpPr txBox="1"/>
          <p:nvPr/>
        </p:nvSpPr>
        <p:spPr>
          <a:xfrm>
            <a:off x="5120640" y="3209544"/>
            <a:ext cx="822960" cy="320040"/>
          </a:xfrm>
          <a:prstGeom prst="rect">
            <a:avLst/>
          </a:prstGeom>
          <a:noFill/>
          <a:ln/>
        </p:spPr>
        <p:txBody>
          <a:bodyPr wrap="square" lIns="0" tIns="0" rIns="0" bIns="0" rtlCol="0" anchor="t"/>
          <a:lstStyle/>
          <a:p>
            <a:pPr marL="0" indent="0" algn="ctr">
              <a:buNone/>
            </a:pPr>
            <a:r>
              <a:rPr lang="en-US" sz="1500" b="1">
                <a:solidFill>
                  <a:schemeClr val="tx1"/>
                </a:solidFill>
              </a:rPr>
              <a:t>€70M</a:t>
            </a:r>
            <a:endParaRPr lang="en-US" sz="1500"/>
          </a:p>
        </p:txBody>
      </p:sp>
      <p:sp>
        <p:nvSpPr>
          <p:cNvPr id="31" name="Shape 28"/>
          <p:cNvSpPr/>
          <p:nvPr/>
        </p:nvSpPr>
        <p:spPr>
          <a:xfrm>
            <a:off x="6035040" y="1737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32" name="Text 29"/>
          <p:cNvSpPr txBox="1"/>
          <p:nvPr/>
        </p:nvSpPr>
        <p:spPr>
          <a:xfrm>
            <a:off x="6035040" y="1810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2021Q4</a:t>
            </a:r>
            <a:endParaRPr lang="en-US" sz="1000"/>
          </a:p>
        </p:txBody>
      </p:sp>
      <p:sp>
        <p:nvSpPr>
          <p:cNvPr id="33" name="Text 30"/>
          <p:cNvSpPr txBox="1"/>
          <p:nvPr/>
        </p:nvSpPr>
        <p:spPr>
          <a:xfrm>
            <a:off x="6035040" y="2066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€75M</a:t>
            </a:r>
            <a:endParaRPr lang="en-US" sz="1500"/>
          </a:p>
        </p:txBody>
      </p:sp>
      <p:sp>
        <p:nvSpPr>
          <p:cNvPr id="34" name="Shape 31"/>
          <p:cNvSpPr/>
          <p:nvPr/>
        </p:nvSpPr>
        <p:spPr>
          <a:xfrm>
            <a:off x="6035040" y="2880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35" name="Text 32"/>
          <p:cNvSpPr txBox="1"/>
          <p:nvPr/>
        </p:nvSpPr>
        <p:spPr>
          <a:xfrm>
            <a:off x="6035040" y="2953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2021Q4</a:t>
            </a:r>
            <a:endParaRPr lang="en-US" sz="1000"/>
          </a:p>
        </p:txBody>
      </p:sp>
      <p:sp>
        <p:nvSpPr>
          <p:cNvPr id="36" name="Text 33"/>
          <p:cNvSpPr txBox="1"/>
          <p:nvPr/>
        </p:nvSpPr>
        <p:spPr>
          <a:xfrm>
            <a:off x="6035040" y="3209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€75M</a:t>
            </a:r>
            <a:endParaRPr lang="en-US" sz="1500"/>
          </a:p>
        </p:txBody>
      </p:sp>
      <p:sp>
        <p:nvSpPr>
          <p:cNvPr id="37" name="Shape 34"/>
          <p:cNvSpPr/>
          <p:nvPr/>
        </p:nvSpPr>
        <p:spPr>
          <a:xfrm>
            <a:off x="6949440" y="1737360"/>
            <a:ext cx="822960" cy="777240"/>
          </a:xfrm>
          <a:prstGeom prst="roundRect">
            <a:avLst>
              <a:gd name="adj" fmla="val 7059"/>
            </a:avLst>
          </a:prstGeom>
          <a:solidFill>
            <a:schemeClr val="bg1"/>
          </a:solidFill>
          <a:ln w="12700">
            <a:solidFill>
              <a:srgbClr val="8A9A94"/>
            </a:solidFill>
            <a:prstDash val="solid"/>
          </a:ln>
        </p:spPr>
        <p:txBody>
          <a:bodyPr/>
          <a:lstStyle/>
          <a:p>
            <a:endParaRPr lang="en-US"/>
          </a:p>
        </p:txBody>
      </p:sp>
      <p:sp>
        <p:nvSpPr>
          <p:cNvPr id="38" name="Text 35"/>
          <p:cNvSpPr txBox="1"/>
          <p:nvPr/>
        </p:nvSpPr>
        <p:spPr>
          <a:xfrm>
            <a:off x="6949440" y="1810512"/>
            <a:ext cx="822960" cy="201168"/>
          </a:xfrm>
          <a:prstGeom prst="rect">
            <a:avLst/>
          </a:prstGeom>
          <a:noFill/>
          <a:ln/>
        </p:spPr>
        <p:txBody>
          <a:bodyPr wrap="square" lIns="0" tIns="0" rIns="0" bIns="0" rtlCol="0" anchor="t"/>
          <a:lstStyle/>
          <a:p>
            <a:pPr marL="0" indent="0" algn="ctr">
              <a:buNone/>
            </a:pPr>
            <a:r>
              <a:rPr lang="en-US" sz="1000">
                <a:solidFill>
                  <a:srgbClr val="8A9A94"/>
                </a:solidFill>
              </a:rPr>
              <a:t>2022Q1</a:t>
            </a:r>
            <a:endParaRPr lang="en-US" sz="1000"/>
          </a:p>
        </p:txBody>
      </p:sp>
      <p:sp>
        <p:nvSpPr>
          <p:cNvPr id="39" name="Text 36"/>
          <p:cNvSpPr txBox="1"/>
          <p:nvPr/>
        </p:nvSpPr>
        <p:spPr>
          <a:xfrm>
            <a:off x="6949440" y="2066544"/>
            <a:ext cx="822960" cy="320040"/>
          </a:xfrm>
          <a:prstGeom prst="rect">
            <a:avLst/>
          </a:prstGeom>
          <a:noFill/>
          <a:ln/>
        </p:spPr>
        <p:txBody>
          <a:bodyPr wrap="square" lIns="0" tIns="0" rIns="0" bIns="0" rtlCol="0" anchor="t"/>
          <a:lstStyle/>
          <a:p>
            <a:pPr marL="0" indent="0" algn="ctr">
              <a:buNone/>
            </a:pPr>
            <a:r>
              <a:rPr lang="en-US" sz="1500" b="1">
                <a:solidFill>
                  <a:schemeClr val="tx1"/>
                </a:solidFill>
              </a:rPr>
              <a:t>–</a:t>
            </a:r>
            <a:endParaRPr lang="en-US" sz="1500"/>
          </a:p>
        </p:txBody>
      </p:sp>
      <p:sp>
        <p:nvSpPr>
          <p:cNvPr id="40" name="Shape 37"/>
          <p:cNvSpPr/>
          <p:nvPr/>
        </p:nvSpPr>
        <p:spPr>
          <a:xfrm>
            <a:off x="6949440" y="2880360"/>
            <a:ext cx="822960" cy="777240"/>
          </a:xfrm>
          <a:prstGeom prst="roundRect">
            <a:avLst>
              <a:gd name="adj" fmla="val 7059"/>
            </a:avLst>
          </a:prstGeom>
          <a:solidFill>
            <a:schemeClr val="bg1"/>
          </a:solidFill>
          <a:ln w="25400">
            <a:solidFill>
              <a:schemeClr val="accent2"/>
            </a:solidFill>
            <a:prstDash val="dash"/>
          </a:ln>
        </p:spPr>
        <p:txBody>
          <a:bodyPr/>
          <a:lstStyle/>
          <a:p>
            <a:endParaRPr lang="en-US"/>
          </a:p>
        </p:txBody>
      </p:sp>
      <p:sp>
        <p:nvSpPr>
          <p:cNvPr id="41" name="Text 38"/>
          <p:cNvSpPr txBox="1"/>
          <p:nvPr/>
        </p:nvSpPr>
        <p:spPr>
          <a:xfrm>
            <a:off x="6949440" y="2953512"/>
            <a:ext cx="822960" cy="201168"/>
          </a:xfrm>
          <a:prstGeom prst="rect">
            <a:avLst/>
          </a:prstGeom>
          <a:noFill/>
          <a:ln/>
        </p:spPr>
        <p:txBody>
          <a:bodyPr wrap="square" lIns="0" tIns="0" rIns="0" bIns="0" rtlCol="0" anchor="t"/>
          <a:lstStyle/>
          <a:p>
            <a:pPr marL="0" indent="0" algn="ctr">
              <a:buNone/>
            </a:pPr>
            <a:r>
              <a:rPr lang="en-US" sz="1000">
                <a:solidFill>
                  <a:srgbClr val="8A9A94"/>
                </a:solidFill>
              </a:rPr>
              <a:t>2022Q1</a:t>
            </a:r>
            <a:endParaRPr lang="en-US" sz="1000"/>
          </a:p>
        </p:txBody>
      </p:sp>
      <p:sp>
        <p:nvSpPr>
          <p:cNvPr id="42" name="Text 39"/>
          <p:cNvSpPr txBox="1"/>
          <p:nvPr/>
        </p:nvSpPr>
        <p:spPr>
          <a:xfrm>
            <a:off x="6949440" y="3209544"/>
            <a:ext cx="822960" cy="320040"/>
          </a:xfrm>
          <a:prstGeom prst="rect">
            <a:avLst/>
          </a:prstGeom>
          <a:noFill/>
          <a:ln/>
        </p:spPr>
        <p:txBody>
          <a:bodyPr wrap="square" lIns="0" tIns="0" rIns="0" bIns="0" rtlCol="0" anchor="t"/>
          <a:lstStyle/>
          <a:p>
            <a:pPr marL="0" indent="0" algn="ctr">
              <a:buNone/>
            </a:pPr>
            <a:r>
              <a:rPr lang="en-US" sz="1500" b="1">
                <a:solidFill>
                  <a:schemeClr val="tx1"/>
                </a:solidFill>
              </a:rPr>
              <a:t>€75M</a:t>
            </a:r>
            <a:endParaRPr lang="en-US" sz="1500"/>
          </a:p>
        </p:txBody>
      </p:sp>
      <p:sp>
        <p:nvSpPr>
          <p:cNvPr id="43" name="Shape 40"/>
          <p:cNvSpPr/>
          <p:nvPr/>
        </p:nvSpPr>
        <p:spPr>
          <a:xfrm>
            <a:off x="7863840" y="1737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44" name="Text 41"/>
          <p:cNvSpPr txBox="1"/>
          <p:nvPr/>
        </p:nvSpPr>
        <p:spPr>
          <a:xfrm>
            <a:off x="7863840" y="1810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2022Q2</a:t>
            </a:r>
            <a:endParaRPr lang="en-US" sz="1000"/>
          </a:p>
        </p:txBody>
      </p:sp>
      <p:sp>
        <p:nvSpPr>
          <p:cNvPr id="45" name="Text 42"/>
          <p:cNvSpPr txBox="1"/>
          <p:nvPr/>
        </p:nvSpPr>
        <p:spPr>
          <a:xfrm>
            <a:off x="7863840" y="2066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€85M</a:t>
            </a:r>
            <a:endParaRPr lang="en-US" sz="1500"/>
          </a:p>
        </p:txBody>
      </p:sp>
      <p:sp>
        <p:nvSpPr>
          <p:cNvPr id="46" name="Shape 43"/>
          <p:cNvSpPr/>
          <p:nvPr/>
        </p:nvSpPr>
        <p:spPr>
          <a:xfrm>
            <a:off x="7863840" y="2880360"/>
            <a:ext cx="822960" cy="777240"/>
          </a:xfrm>
          <a:prstGeom prst="roundRect">
            <a:avLst>
              <a:gd name="adj" fmla="val 7059"/>
            </a:avLst>
          </a:prstGeom>
          <a:solidFill>
            <a:schemeClr val="accent1"/>
          </a:solidFill>
          <a:ln w="12700">
            <a:solidFill>
              <a:schemeClr val="accent1"/>
            </a:solidFill>
            <a:prstDash val="solid"/>
          </a:ln>
        </p:spPr>
        <p:txBody>
          <a:bodyPr/>
          <a:lstStyle/>
          <a:p>
            <a:endParaRPr lang="en-US"/>
          </a:p>
        </p:txBody>
      </p:sp>
      <p:sp>
        <p:nvSpPr>
          <p:cNvPr id="47" name="Text 44"/>
          <p:cNvSpPr txBox="1"/>
          <p:nvPr/>
        </p:nvSpPr>
        <p:spPr>
          <a:xfrm>
            <a:off x="7863840" y="2953512"/>
            <a:ext cx="822960" cy="201168"/>
          </a:xfrm>
          <a:prstGeom prst="rect">
            <a:avLst/>
          </a:prstGeom>
          <a:noFill/>
          <a:ln/>
        </p:spPr>
        <p:txBody>
          <a:bodyPr wrap="square" lIns="0" tIns="0" rIns="0" bIns="0" rtlCol="0" anchor="t"/>
          <a:lstStyle/>
          <a:p>
            <a:pPr marL="0" indent="0" algn="ctr">
              <a:buNone/>
            </a:pPr>
            <a:r>
              <a:rPr lang="en-US" sz="1000">
                <a:solidFill>
                  <a:schemeClr val="accent6"/>
                </a:solidFill>
              </a:rPr>
              <a:t>2022Q2</a:t>
            </a:r>
            <a:endParaRPr lang="en-US" sz="1000"/>
          </a:p>
        </p:txBody>
      </p:sp>
      <p:sp>
        <p:nvSpPr>
          <p:cNvPr id="48" name="Text 45"/>
          <p:cNvSpPr txBox="1"/>
          <p:nvPr/>
        </p:nvSpPr>
        <p:spPr>
          <a:xfrm>
            <a:off x="7863840" y="3209544"/>
            <a:ext cx="822960" cy="320040"/>
          </a:xfrm>
          <a:prstGeom prst="rect">
            <a:avLst/>
          </a:prstGeom>
          <a:noFill/>
          <a:ln/>
        </p:spPr>
        <p:txBody>
          <a:bodyPr wrap="square" lIns="0" tIns="0" rIns="0" bIns="0" rtlCol="0" anchor="t"/>
          <a:lstStyle/>
          <a:p>
            <a:pPr marL="0" indent="0" algn="ctr">
              <a:buNone/>
            </a:pPr>
            <a:r>
              <a:rPr lang="en-US" sz="1500" b="1">
                <a:solidFill>
                  <a:schemeClr val="bg1"/>
                </a:solidFill>
              </a:rPr>
              <a:t>€85M</a:t>
            </a:r>
            <a:endParaRPr lang="en-US" sz="1500"/>
          </a:p>
        </p:txBody>
      </p:sp>
      <p:sp>
        <p:nvSpPr>
          <p:cNvPr id="49" name="Shape 46"/>
          <p:cNvSpPr/>
          <p:nvPr/>
        </p:nvSpPr>
        <p:spPr>
          <a:xfrm>
            <a:off x="457200" y="4160520"/>
            <a:ext cx="8229600" cy="457200"/>
          </a:xfrm>
          <a:prstGeom prst="roundRect">
            <a:avLst>
              <a:gd name="adj" fmla="val 16000"/>
            </a:avLst>
          </a:prstGeom>
          <a:solidFill>
            <a:schemeClr val="tx2"/>
          </a:solidFill>
          <a:ln w="12700">
            <a:solidFill>
              <a:schemeClr val="tx2"/>
            </a:solidFill>
            <a:prstDash val="solid"/>
          </a:ln>
        </p:spPr>
        <p:txBody>
          <a:bodyPr/>
          <a:lstStyle/>
          <a:p>
            <a:endParaRPr lang="en-US"/>
          </a:p>
        </p:txBody>
      </p:sp>
      <p:sp>
        <p:nvSpPr>
          <p:cNvPr id="50" name="Text 47"/>
          <p:cNvSpPr txBox="1"/>
          <p:nvPr/>
        </p:nvSpPr>
        <p:spPr>
          <a:xfrm>
            <a:off x="640080" y="4160520"/>
            <a:ext cx="5669280" cy="457200"/>
          </a:xfrm>
          <a:prstGeom prst="rect">
            <a:avLst/>
          </a:prstGeom>
          <a:noFill/>
          <a:ln/>
        </p:spPr>
        <p:txBody>
          <a:bodyPr wrap="square" lIns="0" tIns="0" rIns="0" bIns="0" rtlCol="0" anchor="ctr"/>
          <a:lstStyle/>
          <a:p>
            <a:pPr marL="0" indent="0">
              <a:buNone/>
            </a:pPr>
            <a:r>
              <a:rPr lang="en-US" sz="1300" b="1">
                <a:solidFill>
                  <a:schemeClr val="bg1"/>
                </a:solidFill>
              </a:rPr>
              <a:t>Result: 455 quarterly rows, 334 real and 121 filled (through 2024Q4)</a:t>
            </a:r>
            <a:endParaRPr lang="en-US" sz="1300"/>
          </a:p>
        </p:txBody>
      </p:sp>
      <p:sp>
        <p:nvSpPr>
          <p:cNvPr id="51" name="Text 48"/>
          <p:cNvSpPr txBox="1"/>
          <p:nvPr/>
        </p:nvSpPr>
        <p:spPr>
          <a:xfrm>
            <a:off x="6309360" y="4160520"/>
            <a:ext cx="2194560" cy="457200"/>
          </a:xfrm>
          <a:prstGeom prst="rect">
            <a:avLst/>
          </a:prstGeom>
          <a:noFill/>
          <a:ln/>
        </p:spPr>
        <p:txBody>
          <a:bodyPr wrap="square" lIns="0" tIns="0" rIns="0" bIns="0" rtlCol="0" anchor="ctr"/>
          <a:lstStyle/>
          <a:p>
            <a:pPr marL="0" indent="0" algn="r">
              <a:buNone/>
            </a:pPr>
            <a:r>
              <a:rPr lang="en-US" sz="1100">
                <a:solidFill>
                  <a:schemeClr val="accent6"/>
                </a:solidFill>
              </a:rPr>
              <a:t>Example player is illustrative</a:t>
            </a:r>
            <a:endParaRPr lang="en-US" sz="1100"/>
          </a:p>
        </p:txBody>
      </p:sp>
      <p:sp>
        <p:nvSpPr>
          <p:cNvPr id="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Market value path</a:t>
            </a:r>
            <a:endParaRPr lang="en-US" sz="3400"/>
          </a:p>
        </p:txBody>
      </p:sp>
      <p:pic>
        <p:nvPicPr>
          <p:cNvPr id="4" name="Image 0" descr="Market value paths of the 15 players, with a dashed line where the test period starts"/>
          <p:cNvPicPr>
            <a:picLocks noChangeAspect="1"/>
          </p:cNvPicPr>
          <p:nvPr/>
        </p:nvPicPr>
        <p:blipFill>
          <a:blip r:embed="rId3"/>
          <a:stretch>
            <a:fillRect/>
          </a:stretch>
        </p:blipFill>
        <p:spPr>
          <a:xfrm>
            <a:off x="2505110" y="1069848"/>
            <a:ext cx="4133780" cy="3410709"/>
          </a:xfrm>
          <a:prstGeom prst="rect">
            <a:avLst/>
          </a:prstGeom>
        </p:spPr>
      </p:pic>
      <p:sp>
        <p:nvSpPr>
          <p:cNvPr id="5" name="Text 1"/>
          <p:cNvSpPr txBox="1"/>
          <p:nvPr/>
        </p:nvSpPr>
        <p:spPr>
          <a:xfrm>
            <a:off x="457200" y="4526278"/>
            <a:ext cx="8229600" cy="228601"/>
          </a:xfrm>
          <a:prstGeom prst="rect">
            <a:avLst/>
          </a:prstGeom>
          <a:noFill/>
          <a:ln/>
        </p:spPr>
        <p:txBody>
          <a:bodyPr wrap="square" lIns="0" tIns="0" rIns="0" bIns="0" rtlCol="0" anchor="t"/>
          <a:lstStyle/>
          <a:p>
            <a:pPr marL="0" indent="0" algn="ctr">
              <a:spcAft>
                <a:spcPts val="200"/>
              </a:spcAft>
              <a:buNone/>
            </a:pPr>
            <a:r>
              <a:rPr lang="en-US" sz="1300" b="1">
                <a:solidFill>
                  <a:schemeClr val="tx1"/>
                </a:solidFill>
              </a:rPr>
              <a:t>Each line</a:t>
            </a:r>
            <a:r>
              <a:rPr lang="en-US" sz="1300">
                <a:solidFill>
                  <a:schemeClr val="tx1"/>
                </a:solidFill>
              </a:rPr>
              <a:t> is one player. </a:t>
            </a:r>
          </a:p>
          <a:p>
            <a:pPr marL="0" indent="0" algn="ctr">
              <a:spcAft>
                <a:spcPts val="200"/>
              </a:spcAft>
              <a:buNone/>
            </a:pPr>
            <a:r>
              <a:rPr lang="en-US" sz="1300" b="1">
                <a:solidFill>
                  <a:srgbClr val="1F77B4"/>
                </a:solidFill>
              </a:rPr>
              <a:t>Dashed line</a:t>
            </a:r>
            <a:r>
              <a:rPr lang="en-US" sz="1300">
                <a:solidFill>
                  <a:schemeClr val="tx1"/>
                </a:solidFill>
              </a:rPr>
              <a:t>: where testing starts (Jan 2023). </a:t>
            </a:r>
            <a:endParaRPr lang="en-US" sz="130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Aging curve and quarter of year</a:t>
            </a:r>
            <a:endParaRPr lang="en-US" sz="3400"/>
          </a:p>
        </p:txBody>
      </p:sp>
      <p:pic>
        <p:nvPicPr>
          <p:cNvPr id="4" name="Image 0" descr="Left: median market value by age. Right: average quarterly log-value change by quarter of the year."/>
          <p:cNvPicPr>
            <a:picLocks noChangeAspect="1"/>
          </p:cNvPicPr>
          <p:nvPr/>
        </p:nvPicPr>
        <p:blipFill>
          <a:blip r:embed="rId3"/>
          <a:stretch>
            <a:fillRect/>
          </a:stretch>
        </p:blipFill>
        <p:spPr>
          <a:xfrm>
            <a:off x="457200" y="1143000"/>
            <a:ext cx="8229600" cy="2808737"/>
          </a:xfrm>
          <a:prstGeom prst="rect">
            <a:avLst/>
          </a:prstGeom>
        </p:spPr>
      </p:pic>
      <p:sp>
        <p:nvSpPr>
          <p:cNvPr id="5" name="Text 1"/>
          <p:cNvSpPr txBox="1"/>
          <p:nvPr/>
        </p:nvSpPr>
        <p:spPr>
          <a:xfrm>
            <a:off x="548640" y="4114800"/>
            <a:ext cx="3840480" cy="640080"/>
          </a:xfrm>
          <a:prstGeom prst="rect">
            <a:avLst/>
          </a:prstGeom>
          <a:noFill/>
          <a:ln/>
        </p:spPr>
        <p:txBody>
          <a:bodyPr wrap="square" lIns="0" tIns="0" rIns="0" bIns="0" rtlCol="0" anchor="t"/>
          <a:lstStyle/>
          <a:p>
            <a:pPr marL="0" indent="0">
              <a:buNone/>
            </a:pPr>
            <a:r>
              <a:rPr lang="en-US" sz="1400" b="1">
                <a:solidFill>
                  <a:schemeClr val="tx1"/>
                </a:solidFill>
              </a:rPr>
              <a:t>Age range: </a:t>
            </a:r>
            <a:r>
              <a:rPr lang="en-US" sz="1400">
                <a:solidFill>
                  <a:schemeClr val="tx1"/>
                </a:solidFill>
              </a:rPr>
              <a:t>17.3–29.3</a:t>
            </a:r>
            <a:endParaRPr lang="en-US" sz="1400"/>
          </a:p>
        </p:txBody>
      </p:sp>
      <p:sp>
        <p:nvSpPr>
          <p:cNvPr id="6" name="Text 2"/>
          <p:cNvSpPr txBox="1"/>
          <p:nvPr/>
        </p:nvSpPr>
        <p:spPr>
          <a:xfrm>
            <a:off x="4754880" y="4114800"/>
            <a:ext cx="3931920" cy="640080"/>
          </a:xfrm>
          <a:prstGeom prst="rect">
            <a:avLst/>
          </a:prstGeom>
          <a:noFill/>
          <a:ln/>
        </p:spPr>
        <p:txBody>
          <a:bodyPr wrap="square" lIns="0" tIns="0" rIns="0" bIns="0" rtlCol="0" anchor="t"/>
          <a:lstStyle/>
          <a:p>
            <a:pPr marL="0" indent="0">
              <a:buNone/>
            </a:pPr>
            <a:r>
              <a:rPr lang="en-US" sz="1400" b="1">
                <a:solidFill>
                  <a:schemeClr val="tx1"/>
                </a:solidFill>
              </a:rPr>
              <a:t>Note: </a:t>
            </a:r>
            <a:r>
              <a:rPr lang="en-US" sz="1400">
                <a:solidFill>
                  <a:schemeClr val="tx1"/>
                </a:solidFill>
              </a:rPr>
              <a:t>quarter effects may partly reflect Transfermarkt update timing, not transfer-price seasonality.</a:t>
            </a:r>
            <a:endParaRPr lang="en-US" sz="140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Split summary</a:t>
            </a:r>
            <a:endParaRPr lang="en-US" sz="3400"/>
          </a:p>
        </p:txBody>
      </p:sp>
      <p:sp>
        <p:nvSpPr>
          <p:cNvPr id="4" name="output-card"/>
          <p:cNvSpPr/>
          <p:nvPr/>
        </p:nvSpPr>
        <p:spPr>
          <a:xfrm>
            <a:off x="457200" y="1371600"/>
            <a:ext cx="8229600" cy="3247420"/>
          </a:xfrm>
          <a:prstGeom prst="roundRect">
            <a:avLst>
              <a:gd name="adj" fmla="val 225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5" name="Image 0" descr="Notebook output: validation origins, main test, extra holdout with dates and roles; 335 training rows, 120 test rows, 15 players"/>
          <p:cNvPicPr>
            <a:picLocks noChangeAspect="1"/>
          </p:cNvPicPr>
          <p:nvPr/>
        </p:nvPicPr>
        <p:blipFill>
          <a:blip r:embed="rId3"/>
          <a:stretch>
            <a:fillRect/>
          </a:stretch>
        </p:blipFill>
        <p:spPr>
          <a:xfrm>
            <a:off x="822960" y="1554480"/>
            <a:ext cx="7498080" cy="28816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Candidate models: validation and test</a:t>
            </a:r>
            <a:endParaRPr lang="en-US" sz="340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3118104"/>
        </p:xfrm>
        <a:graphic>
          <a:graphicData uri="http://schemas.openxmlformats.org/drawingml/2006/table">
            <a:tbl>
              <a:tblPr/>
              <a:tblGrid>
                <a:gridCol w="30175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tblGrid>
              <a:tr h="283464">
                <a:tc rowSpan="2">
                  <a:txBody>
                    <a:bodyPr/>
                    <a:lstStyle/>
                    <a:p>
                      <a:pPr marL="0" indent="0" algn="l">
                        <a:buNone/>
                      </a:pPr>
                      <a:r>
                        <a:rPr lang="en-US" sz="1200" b="1">
                          <a:solidFill>
                            <a:srgbClr val="FFFFFF"/>
                          </a:solidFill>
                        </a:rPr>
                        <a:t>Model</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tc gridSpan="3">
                  <a:txBody>
                    <a:bodyPr/>
                    <a:lstStyle/>
                    <a:p>
                      <a:pPr marL="0" indent="0" algn="ctr">
                        <a:buNone/>
                      </a:pPr>
                      <a:r>
                        <a:rPr lang="en-US" sz="1200" b="1">
                          <a:solidFill>
                            <a:srgbClr val="FFFFFF"/>
                          </a:solidFill>
                        </a:rPr>
                        <a:t>Validation</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1F7A4D"/>
                    </a:solidFill>
                  </a:tcPr>
                </a:tc>
                <a:tc hMerge="1">
                  <a:txBody>
                    <a:bodyPr/>
                    <a:lstStyle/>
                    <a:p>
                      <a:endParaRPr lang="en-US"/>
                    </a:p>
                  </a:txBody>
                  <a:tcPr/>
                </a:tc>
                <a:tc hMerge="1">
                  <a:txBody>
                    <a:bodyPr/>
                    <a:lstStyle/>
                    <a:p>
                      <a:endParaRPr lang="en-US"/>
                    </a:p>
                  </a:txBody>
                  <a:tcPr/>
                </a:tc>
                <a:tc gridSpan="3">
                  <a:txBody>
                    <a:bodyPr/>
                    <a:lstStyle/>
                    <a:p>
                      <a:pPr marL="0" indent="0" algn="ctr">
                        <a:buNone/>
                      </a:pPr>
                      <a:r>
                        <a:rPr lang="en-US" sz="1200" b="1">
                          <a:solidFill>
                            <a:srgbClr val="FFFFFF"/>
                          </a:solidFill>
                        </a:rPr>
                        <a:t>Test 2023–24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83464">
                <a:tc vMerge="1">
                  <a:txBody>
                    <a:bodyPr/>
                    <a:lstStyle/>
                    <a:p>
                      <a:endParaRPr lang="en-US"/>
                    </a:p>
                  </a:txBody>
                  <a:tcPr/>
                </a:tc>
                <a:tc>
                  <a:txBody>
                    <a:bodyPr/>
                    <a:lstStyle/>
                    <a:p>
                      <a:pPr marL="0" indent="0" algn="ctr">
                        <a:buNone/>
                      </a:pPr>
                      <a:r>
                        <a:rPr lang="en-US" sz="1100" b="1">
                          <a:solidFill>
                            <a:srgbClr val="14211C"/>
                          </a:solidFill>
                        </a:rPr>
                        <a:t>h=2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CE9E1"/>
                    </a:solidFill>
                  </a:tcPr>
                </a:tc>
                <a:tc>
                  <a:txBody>
                    <a:bodyPr/>
                    <a:lstStyle/>
                    <a:p>
                      <a:pPr marL="0" indent="0" algn="ctr">
                        <a:buNone/>
                      </a:pPr>
                      <a:r>
                        <a:rPr lang="en-US" sz="1100" b="1">
                          <a:solidFill>
                            <a:srgbClr val="14211C"/>
                          </a:solidFill>
                        </a:rPr>
                        <a:t>h=4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CE9E1"/>
                    </a:solidFill>
                  </a:tcPr>
                </a:tc>
                <a:tc>
                  <a:txBody>
                    <a:bodyPr/>
                    <a:lstStyle/>
                    <a:p>
                      <a:pPr marL="0" indent="0" algn="ctr">
                        <a:buNone/>
                      </a:pPr>
                      <a:r>
                        <a:rPr lang="en-US" sz="1100" b="1">
                          <a:solidFill>
                            <a:srgbClr val="14211C"/>
                          </a:solidFill>
                        </a:rPr>
                        <a:t>Avg</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CE9E1"/>
                    </a:solidFill>
                  </a:tcPr>
                </a:tc>
                <a:tc>
                  <a:txBody>
                    <a:bodyPr/>
                    <a:lstStyle/>
                    <a:p>
                      <a:pPr marL="0" indent="0" algn="ctr">
                        <a:buNone/>
                      </a:pPr>
                      <a:r>
                        <a:rPr lang="en-US" sz="1100" b="1">
                          <a:solidFill>
                            <a:srgbClr val="14211C"/>
                          </a:solidFill>
                        </a:rPr>
                        <a:t>h=2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tc>
                  <a:txBody>
                    <a:bodyPr/>
                    <a:lstStyle/>
                    <a:p>
                      <a:pPr marL="0" indent="0" algn="ctr">
                        <a:buNone/>
                      </a:pPr>
                      <a:r>
                        <a:rPr lang="en-US" sz="1100" b="1">
                          <a:solidFill>
                            <a:srgbClr val="14211C"/>
                          </a:solidFill>
                        </a:rPr>
                        <a:t>h=4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tc>
                  <a:txBody>
                    <a:bodyPr/>
                    <a:lstStyle/>
                    <a:p>
                      <a:pPr marL="0" indent="0" algn="ctr">
                        <a:buNone/>
                      </a:pPr>
                      <a:r>
                        <a:rPr lang="en-US" sz="1100" b="1">
                          <a:solidFill>
                            <a:srgbClr val="14211C"/>
                          </a:solidFill>
                        </a:rPr>
                        <a:t>Avg</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extLst>
                  <a:ext uri="{0D108BD9-81ED-4DB2-BD59-A6C34878D82A}">
                    <a16:rowId xmlns:a16="http://schemas.microsoft.com/office/drawing/2014/main" val="10001"/>
                  </a:ext>
                </a:extLst>
              </a:tr>
              <a:tr h="283464">
                <a:tc>
                  <a:txBody>
                    <a:bodyPr/>
                    <a:lstStyle/>
                    <a:p>
                      <a:pPr marL="0" indent="0">
                        <a:buNone/>
                      </a:pPr>
                      <a:r>
                        <a:rPr lang="en-US" sz="1200" b="1">
                          <a:solidFill>
                            <a:srgbClr val="14211C"/>
                          </a:solidFill>
                        </a:rPr>
                        <a:t>Damped Holt (selected)</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200" b="1">
                          <a:solidFill>
                            <a:srgbClr val="14211C"/>
                          </a:solidFill>
                        </a:rPr>
                        <a:t>0.342</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200" b="1">
                          <a:solidFill>
                            <a:srgbClr val="14211C"/>
                          </a:solidFill>
                        </a:rPr>
                        <a:t>0.505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200" b="1">
                          <a:solidFill>
                            <a:srgbClr val="14211C"/>
                          </a:solidFill>
                        </a:rPr>
                        <a:t>0.424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200" b="1">
                          <a:solidFill>
                            <a:srgbClr val="14211C"/>
                          </a:solidFill>
                        </a:rPr>
                        <a:t>0.243</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200" b="1">
                          <a:solidFill>
                            <a:srgbClr val="14211C"/>
                          </a:solidFill>
                        </a:rPr>
                        <a:t>0.350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200" b="1">
                          <a:solidFill>
                            <a:srgbClr val="14211C"/>
                          </a:solidFill>
                        </a:rPr>
                        <a:t>0.297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extLst>
                  <a:ext uri="{0D108BD9-81ED-4DB2-BD59-A6C34878D82A}">
                    <a16:rowId xmlns:a16="http://schemas.microsoft.com/office/drawing/2014/main" val="10002"/>
                  </a:ext>
                </a:extLst>
              </a:tr>
              <a:tr h="283464">
                <a:tc>
                  <a:txBody>
                    <a:bodyPr/>
                    <a:lstStyle/>
                    <a:p>
                      <a:pPr marL="0" indent="0">
                        <a:buNone/>
                      </a:pPr>
                      <a:r>
                        <a:rPr lang="en-US" sz="1200">
                          <a:solidFill>
                            <a:srgbClr val="14211C"/>
                          </a:solidFill>
                        </a:rPr>
                        <a:t>SARIMAX</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0.343</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0.512</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0.427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0.256</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0.366</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0.311</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3464">
                <a:tc>
                  <a:txBody>
                    <a:bodyPr/>
                    <a:lstStyle/>
                    <a:p>
                      <a:pPr marL="0" indent="0">
                        <a:buNone/>
                      </a:pPr>
                      <a:r>
                        <a:rPr lang="en-US" sz="1200">
                          <a:solidFill>
                            <a:srgbClr val="14211C"/>
                          </a:solidFill>
                        </a:rPr>
                        <a:t>Persistence (benchmark)</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0.352</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0.538</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0.445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0.285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0.470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0.377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3464">
                <a:tc>
                  <a:txBody>
                    <a:bodyPr/>
                    <a:lstStyle/>
                    <a:p>
                      <a:pPr marL="0" indent="0">
                        <a:buNone/>
                      </a:pPr>
                      <a:r>
                        <a:rPr lang="en-US" sz="1200">
                          <a:solidFill>
                            <a:srgbClr val="14211C"/>
                          </a:solidFill>
                        </a:rPr>
                        <a:t>Holt + age blend</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0.350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0.564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0.457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0.237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0.351</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0.294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3464">
                <a:tc>
                  <a:txBody>
                    <a:bodyPr/>
                    <a:lstStyle/>
                    <a:p>
                      <a:pPr marL="0" indent="0">
                        <a:buNone/>
                      </a:pPr>
                      <a:r>
                        <a:rPr lang="en-US" sz="1200">
                          <a:solidFill>
                            <a:srgbClr val="14211C"/>
                          </a:solidFill>
                        </a:rPr>
                        <a:t>Holt, trend stops at zero-growth age</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0.349</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0.570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0.460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b="1">
                          <a:solidFill>
                            <a:srgbClr val="14211C"/>
                          </a:solidFill>
                        </a:rPr>
                        <a:t>0.234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0.357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0.295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3464">
                <a:tc>
                  <a:txBody>
                    <a:bodyPr/>
                    <a:lstStyle/>
                    <a:p>
                      <a:pPr marL="0" indent="0">
                        <a:buNone/>
                      </a:pPr>
                      <a:r>
                        <a:rPr lang="en-US" sz="1200">
                          <a:solidFill>
                            <a:srgbClr val="14211C"/>
                          </a:solidFill>
                        </a:rPr>
                        <a:t>Holt</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0.359</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0.581</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0.470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0.243</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b="1">
                          <a:solidFill>
                            <a:srgbClr val="14211C"/>
                          </a:solidFill>
                        </a:rPr>
                        <a:t>0.338</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b="1">
                          <a:solidFill>
                            <a:srgbClr val="14211C"/>
                          </a:solidFill>
                        </a:rPr>
                        <a:t>0.290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3464">
                <a:tc>
                  <a:txBody>
                    <a:bodyPr/>
                    <a:lstStyle/>
                    <a:p>
                      <a:pPr marL="0" indent="0">
                        <a:buNone/>
                      </a:pPr>
                      <a:r>
                        <a:rPr lang="en-US" sz="1200">
                          <a:solidFill>
                            <a:srgbClr val="14211C"/>
                          </a:solidFill>
                        </a:rPr>
                        <a:t>Pooled age drift</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0.371</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0.599</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0.485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0.267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0.421</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0.344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3464">
                <a:tc>
                  <a:txBody>
                    <a:bodyPr/>
                    <a:lstStyle/>
                    <a:p>
                      <a:pPr marL="0" indent="0">
                        <a:buNone/>
                      </a:pPr>
                      <a:r>
                        <a:rPr lang="en-US" sz="1200">
                          <a:solidFill>
                            <a:srgbClr val="14211C"/>
                          </a:solidFill>
                        </a:rPr>
                        <a:t>Damped Holt, log scale</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0.391</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0.599</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0.495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0.320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0.415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0.367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3464">
                <a:tc>
                  <a:txBody>
                    <a:bodyPr/>
                    <a:lstStyle/>
                    <a:p>
                      <a:pPr marL="0" indent="0">
                        <a:buNone/>
                      </a:pPr>
                      <a:r>
                        <a:rPr lang="en-US" sz="1200">
                          <a:solidFill>
                            <a:srgbClr val="14211C"/>
                          </a:solidFill>
                        </a:rPr>
                        <a:t>ARIMA per player, log scale</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0.434</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0.600</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0.517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0.309</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0.525</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200">
                          <a:solidFill>
                            <a:srgbClr val="14211C"/>
                          </a:solidFill>
                        </a:rPr>
                        <a:t>0.417</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Model performance</a:t>
            </a:r>
            <a:endParaRPr lang="en-US" sz="3400"/>
          </a:p>
        </p:txBody>
      </p:sp>
      <p:pic>
        <p:nvPicPr>
          <p:cNvPr id="4" name="Image 0" descr="Bar chart: model performance, validation versus 2023-2024 test, for five models"/>
          <p:cNvPicPr>
            <a:picLocks noChangeAspect="1"/>
          </p:cNvPicPr>
          <p:nvPr/>
        </p:nvPicPr>
        <p:blipFill>
          <a:blip r:embed="rId3"/>
          <a:stretch>
            <a:fillRect/>
          </a:stretch>
        </p:blipFill>
        <p:spPr>
          <a:xfrm>
            <a:off x="457200" y="1188720"/>
            <a:ext cx="8229600" cy="3390853"/>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00216"/>
            <a:ext cx="8229600" cy="1291587"/>
          </a:xfrm>
          <a:prstGeom prst="rect">
            <a:avLst/>
          </a:prstGeom>
          <a:noFill/>
          <a:ln/>
        </p:spPr>
        <p:txBody>
          <a:bodyPr wrap="square" lIns="0" tIns="0" rIns="0" bIns="0" rtlCol="0" anchor="ctr"/>
          <a:lstStyle/>
          <a:p>
            <a:pPr marL="0" indent="0" algn="l">
              <a:buNone/>
            </a:pPr>
            <a:r>
              <a:rPr lang="en-US" sz="3400" b="1">
                <a:solidFill>
                  <a:schemeClr val="tx2"/>
                </a:solidFill>
              </a:rPr>
              <a:t>Uncertainty band and 2025 holdout</a:t>
            </a:r>
            <a:endParaRPr lang="en-US" sz="3400"/>
          </a:p>
        </p:txBody>
      </p:sp>
      <p:sp>
        <p:nvSpPr>
          <p:cNvPr id="4" name="band-card"/>
          <p:cNvSpPr/>
          <p:nvPr/>
        </p:nvSpPr>
        <p:spPr>
          <a:xfrm>
            <a:off x="457192" y="1702818"/>
            <a:ext cx="2263148" cy="3326382"/>
          </a:xfrm>
          <a:prstGeom prst="roundRect">
            <a:avLst>
              <a:gd name="adj" fmla="val 15898"/>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5" name="Text 2"/>
          <p:cNvSpPr txBox="1"/>
          <p:nvPr/>
        </p:nvSpPr>
        <p:spPr>
          <a:xfrm>
            <a:off x="617220" y="1854038"/>
            <a:ext cx="2103120" cy="318515"/>
          </a:xfrm>
          <a:prstGeom prst="rect">
            <a:avLst/>
          </a:prstGeom>
          <a:noFill/>
          <a:ln/>
        </p:spPr>
        <p:txBody>
          <a:bodyPr wrap="square" lIns="0" tIns="0" rIns="0" bIns="0" rtlCol="0" anchor="t"/>
          <a:lstStyle/>
          <a:p>
            <a:pPr marL="0" indent="0">
              <a:buNone/>
            </a:pPr>
            <a:r>
              <a:rPr lang="en-US" sz="1600" b="1">
                <a:solidFill>
                  <a:schemeClr val="tx2"/>
                </a:solidFill>
              </a:rPr>
              <a:t>Uncertainty band</a:t>
            </a:r>
            <a:endParaRPr lang="en-US" sz="1600"/>
          </a:p>
        </p:txBody>
      </p:sp>
      <p:sp>
        <p:nvSpPr>
          <p:cNvPr id="6" name="Text 3"/>
          <p:cNvSpPr txBox="1"/>
          <p:nvPr/>
        </p:nvSpPr>
        <p:spPr>
          <a:xfrm>
            <a:off x="617220" y="2207040"/>
            <a:ext cx="2057400" cy="640128"/>
          </a:xfrm>
          <a:prstGeom prst="rect">
            <a:avLst/>
          </a:prstGeom>
          <a:noFill/>
          <a:ln/>
        </p:spPr>
        <p:txBody>
          <a:bodyPr wrap="square" lIns="0" tIns="0" rIns="0" bIns="0" rtlCol="0" anchor="t"/>
          <a:lstStyle/>
          <a:p>
            <a:pPr marL="0" indent="0">
              <a:buNone/>
            </a:pPr>
            <a:r>
              <a:rPr lang="en-US" sz="1300">
                <a:solidFill>
                  <a:schemeClr val="tx1"/>
                </a:solidFill>
              </a:rPr>
              <a:t>An 80% range around each forecast, built from the final model's validation errors.</a:t>
            </a:r>
            <a:endParaRPr lang="en-US" sz="1300"/>
          </a:p>
        </p:txBody>
      </p:sp>
      <p:sp>
        <p:nvSpPr>
          <p:cNvPr id="7" name="Text 4"/>
          <p:cNvSpPr txBox="1"/>
          <p:nvPr/>
        </p:nvSpPr>
        <p:spPr>
          <a:xfrm>
            <a:off x="640080" y="2844963"/>
            <a:ext cx="2103120" cy="403177"/>
          </a:xfrm>
          <a:prstGeom prst="rect">
            <a:avLst/>
          </a:prstGeom>
          <a:noFill/>
          <a:ln/>
        </p:spPr>
        <p:txBody>
          <a:bodyPr wrap="square" lIns="0" tIns="0" rIns="0" bIns="0" rtlCol="0" anchor="t"/>
          <a:lstStyle/>
          <a:p>
            <a:pPr marL="0" indent="0">
              <a:buNone/>
            </a:pPr>
            <a:r>
              <a:rPr lang="en-US" sz="2800" b="1">
                <a:solidFill>
                  <a:schemeClr val="accent1"/>
                </a:solidFill>
              </a:rPr>
              <a:t>93%</a:t>
            </a:r>
            <a:endParaRPr lang="en-US" sz="2800"/>
          </a:p>
        </p:txBody>
      </p:sp>
      <p:sp>
        <p:nvSpPr>
          <p:cNvPr id="8" name="Text 5"/>
          <p:cNvSpPr txBox="1"/>
          <p:nvPr/>
        </p:nvSpPr>
        <p:spPr>
          <a:xfrm>
            <a:off x="640080" y="3214134"/>
            <a:ext cx="2057400" cy="400971"/>
          </a:xfrm>
          <a:prstGeom prst="rect">
            <a:avLst/>
          </a:prstGeom>
          <a:noFill/>
          <a:ln/>
        </p:spPr>
        <p:txBody>
          <a:bodyPr wrap="square" lIns="0" tIns="0" rIns="0" bIns="0" rtlCol="0" anchor="t"/>
          <a:lstStyle/>
          <a:p>
            <a:pPr marL="0" indent="0">
              <a:buNone/>
            </a:pPr>
            <a:r>
              <a:rPr lang="en-US" sz="1100">
                <a:solidFill>
                  <a:schemeClr val="tx1"/>
                </a:solidFill>
              </a:rPr>
              <a:t>of 2023–24 test values fell inside the band</a:t>
            </a:r>
            <a:endParaRPr lang="en-US" sz="1100"/>
          </a:p>
        </p:txBody>
      </p:sp>
      <p:sp>
        <p:nvSpPr>
          <p:cNvPr id="9" name="Text 6"/>
          <p:cNvSpPr txBox="1"/>
          <p:nvPr/>
        </p:nvSpPr>
        <p:spPr>
          <a:xfrm>
            <a:off x="640080" y="3478274"/>
            <a:ext cx="2103120" cy="394044"/>
          </a:xfrm>
          <a:prstGeom prst="rect">
            <a:avLst/>
          </a:prstGeom>
          <a:noFill/>
          <a:ln/>
        </p:spPr>
        <p:txBody>
          <a:bodyPr wrap="square" lIns="0" tIns="0" rIns="0" bIns="0" rtlCol="0" anchor="t"/>
          <a:lstStyle/>
          <a:p>
            <a:pPr marL="0" indent="0">
              <a:buNone/>
            </a:pPr>
            <a:r>
              <a:rPr lang="en-US" sz="2800" b="1">
                <a:solidFill>
                  <a:schemeClr val="accent1"/>
                </a:solidFill>
              </a:rPr>
              <a:t>20 of 30</a:t>
            </a:r>
            <a:endParaRPr lang="en-US" sz="2800"/>
          </a:p>
        </p:txBody>
      </p:sp>
      <p:sp>
        <p:nvSpPr>
          <p:cNvPr id="10" name="Text 7"/>
          <p:cNvSpPr txBox="1"/>
          <p:nvPr/>
        </p:nvSpPr>
        <p:spPr>
          <a:xfrm>
            <a:off x="640080" y="3888748"/>
            <a:ext cx="2057400" cy="357451"/>
          </a:xfrm>
          <a:prstGeom prst="rect">
            <a:avLst/>
          </a:prstGeom>
          <a:noFill/>
          <a:ln/>
        </p:spPr>
        <p:txBody>
          <a:bodyPr wrap="square" lIns="0" tIns="0" rIns="0" bIns="0" rtlCol="0" anchor="t"/>
          <a:lstStyle/>
          <a:p>
            <a:r>
              <a:rPr lang="en-US" sz="1100">
                <a:solidFill>
                  <a:schemeClr val="tx1"/>
                </a:solidFill>
              </a:rPr>
              <a:t>2025 values fell inside the </a:t>
            </a:r>
            <a:r>
              <a:rPr lang="en-US" sz="1100"/>
              <a:t>band. all 10 misses were below it</a:t>
            </a:r>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017520" y="1188720"/>
          <a:ext cx="5669280" cy="3319272"/>
        </p:xfrm>
        <a:graphic>
          <a:graphicData uri="http://schemas.openxmlformats.org/drawingml/2006/table">
            <a:tbl>
              <a:tblPr/>
              <a:tblGrid>
                <a:gridCol w="2560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tblGrid>
              <a:tr h="301752">
                <a:tc rowSpan="2">
                  <a:txBody>
                    <a:bodyPr/>
                    <a:lstStyle/>
                    <a:p>
                      <a:pPr marL="0" indent="0" algn="l">
                        <a:buNone/>
                      </a:pPr>
                      <a:r>
                        <a:rPr lang="en-US" sz="1200" b="1">
                          <a:solidFill>
                            <a:srgbClr val="FFFFFF"/>
                          </a:solidFill>
                        </a:rPr>
                        <a:t>Model</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tc gridSpan="4">
                  <a:txBody>
                    <a:bodyPr/>
                    <a:lstStyle/>
                    <a:p>
                      <a:pPr marL="0" indent="0" algn="ctr">
                        <a:buNone/>
                      </a:pPr>
                      <a:r>
                        <a:rPr lang="en-US" sz="1200" b="1">
                          <a:solidFill>
                            <a:srgbClr val="FFFFFF"/>
                          </a:solidFill>
                        </a:rPr>
                        <a:t>2025 holdout</a:t>
                      </a:r>
                      <a:endParaRPr lang="en-US" sz="12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1F7A4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01752">
                <a:tc vMerge="1">
                  <a:txBody>
                    <a:bodyPr/>
                    <a:lstStyle/>
                    <a:p>
                      <a:endParaRPr lang="en-US"/>
                    </a:p>
                  </a:txBody>
                  <a:tcPr/>
                </a:tc>
                <a:tc>
                  <a:txBody>
                    <a:bodyPr/>
                    <a:lstStyle/>
                    <a:p>
                      <a:pPr marL="0" indent="0" algn="ctr">
                        <a:buNone/>
                      </a:pPr>
                      <a:r>
                        <a:rPr lang="en-US" sz="1100" b="1">
                          <a:solidFill>
                            <a:srgbClr val="14211C"/>
                          </a:solidFill>
                        </a:rPr>
                        <a:t>h=2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tc>
                  <a:txBody>
                    <a:bodyPr/>
                    <a:lstStyle/>
                    <a:p>
                      <a:pPr marL="0" indent="0" algn="ctr">
                        <a:buNone/>
                      </a:pPr>
                      <a:r>
                        <a:rPr lang="en-US" sz="1100" b="1">
                          <a:solidFill>
                            <a:srgbClr val="14211C"/>
                          </a:solidFill>
                        </a:rPr>
                        <a:t>h=4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tc>
                  <a:txBody>
                    <a:bodyPr/>
                    <a:lstStyle/>
                    <a:p>
                      <a:pPr marL="0" indent="0" algn="ctr">
                        <a:buNone/>
                      </a:pPr>
                      <a:r>
                        <a:rPr lang="en-US" sz="1100" b="1">
                          <a:solidFill>
                            <a:srgbClr val="14211C"/>
                          </a:solidFill>
                        </a:rPr>
                        <a:t>Avg</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tc>
                  <a:txBody>
                    <a:bodyPr/>
                    <a:lstStyle/>
                    <a:p>
                      <a:pPr marL="0" indent="0" algn="ctr">
                        <a:buNone/>
                      </a:pPr>
                      <a:r>
                        <a:rPr lang="en-US" sz="1100" b="1">
                          <a:solidFill>
                            <a:srgbClr val="14211C"/>
                          </a:solidFill>
                        </a:rPr>
                        <a:t>MAE €M</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D5DDD9"/>
                    </a:solidFill>
                  </a:tcPr>
                </a:tc>
                <a:extLst>
                  <a:ext uri="{0D108BD9-81ED-4DB2-BD59-A6C34878D82A}">
                    <a16:rowId xmlns:a16="http://schemas.microsoft.com/office/drawing/2014/main" val="10001"/>
                  </a:ext>
                </a:extLst>
              </a:tr>
              <a:tr h="301752">
                <a:tc>
                  <a:txBody>
                    <a:bodyPr/>
                    <a:lstStyle/>
                    <a:p>
                      <a:pPr marL="0" indent="0">
                        <a:buNone/>
                      </a:pPr>
                      <a:r>
                        <a:rPr lang="en-US" sz="1100">
                          <a:solidFill>
                            <a:srgbClr val="14211C"/>
                          </a:solidFill>
                        </a:rPr>
                        <a:t>Pooled age drift</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b="1">
                          <a:solidFill>
                            <a:srgbClr val="14211C"/>
                          </a:solidFill>
                        </a:rPr>
                        <a:t>0.256</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0.303</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b="1">
                          <a:solidFill>
                            <a:srgbClr val="14211C"/>
                          </a:solidFill>
                        </a:rPr>
                        <a:t>0.279</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13.0</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100">
                          <a:solidFill>
                            <a:srgbClr val="14211C"/>
                          </a:solidFill>
                        </a:rPr>
                        <a:t>Holt + age blend</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0.273</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b="1">
                          <a:solidFill>
                            <a:srgbClr val="14211C"/>
                          </a:solidFill>
                        </a:rPr>
                        <a:t>0.295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0.284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b="1">
                          <a:solidFill>
                            <a:srgbClr val="14211C"/>
                          </a:solidFill>
                        </a:rPr>
                        <a:t>12.7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buNone/>
                      </a:pPr>
                      <a:r>
                        <a:rPr lang="en-US" sz="1100">
                          <a:solidFill>
                            <a:srgbClr val="14211C"/>
                          </a:solidFill>
                        </a:rPr>
                        <a:t>ARIMA per player, log scale</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0.297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0.348</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0.323</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14.1</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buNone/>
                      </a:pPr>
                      <a:r>
                        <a:rPr lang="en-US" sz="1100">
                          <a:solidFill>
                            <a:srgbClr val="14211C"/>
                          </a:solidFill>
                        </a:rPr>
                        <a:t>Persistence (benchmark)</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0.302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0.350</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0.326</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13.5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buNone/>
                      </a:pPr>
                      <a:r>
                        <a:rPr lang="en-US" sz="1100">
                          <a:solidFill>
                            <a:srgbClr val="14211C"/>
                          </a:solidFill>
                        </a:rPr>
                        <a:t>Holt</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0.300</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0.353</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0.327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13.8</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buNone/>
                      </a:pPr>
                      <a:r>
                        <a:rPr lang="en-US" sz="1100" b="1">
                          <a:solidFill>
                            <a:srgbClr val="14211C"/>
                          </a:solidFill>
                        </a:rPr>
                        <a:t>Damped Holt (selected)</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100" b="1">
                          <a:solidFill>
                            <a:srgbClr val="14211C"/>
                          </a:solidFill>
                        </a:rPr>
                        <a:t>0.308</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100" b="1">
                          <a:solidFill>
                            <a:srgbClr val="14211C"/>
                          </a:solidFill>
                        </a:rPr>
                        <a:t>0.361</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100" b="1">
                          <a:solidFill>
                            <a:srgbClr val="14211C"/>
                          </a:solidFill>
                        </a:rPr>
                        <a:t>0.335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tc>
                  <a:txBody>
                    <a:bodyPr/>
                    <a:lstStyle/>
                    <a:p>
                      <a:pPr marL="0" indent="0" algn="ctr">
                        <a:buNone/>
                      </a:pPr>
                      <a:r>
                        <a:rPr lang="en-US" sz="1100" b="1">
                          <a:solidFill>
                            <a:srgbClr val="14211C"/>
                          </a:solidFill>
                        </a:rPr>
                        <a:t>14.1</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8E3A3"/>
                    </a:solidFill>
                  </a:tcPr>
                </a:tc>
                <a:extLst>
                  <a:ext uri="{0D108BD9-81ED-4DB2-BD59-A6C34878D82A}">
                    <a16:rowId xmlns:a16="http://schemas.microsoft.com/office/drawing/2014/main" val="10007"/>
                  </a:ext>
                </a:extLst>
              </a:tr>
              <a:tr h="301752">
                <a:tc>
                  <a:txBody>
                    <a:bodyPr/>
                    <a:lstStyle/>
                    <a:p>
                      <a:pPr marL="0" indent="0">
                        <a:buNone/>
                      </a:pPr>
                      <a:r>
                        <a:rPr lang="en-US" sz="1100">
                          <a:solidFill>
                            <a:srgbClr val="14211C"/>
                          </a:solidFill>
                        </a:rPr>
                        <a:t>Holt, trend stops at zero-growth age</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0.299</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0.372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0.336</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14.3</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1752">
                <a:tc>
                  <a:txBody>
                    <a:bodyPr/>
                    <a:lstStyle/>
                    <a:p>
                      <a:pPr marL="0" indent="0">
                        <a:buNone/>
                      </a:pPr>
                      <a:r>
                        <a:rPr lang="en-US" sz="1100">
                          <a:solidFill>
                            <a:srgbClr val="14211C"/>
                          </a:solidFill>
                        </a:rPr>
                        <a:t>SARIMAX</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0.322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0.389</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0.356</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15.2</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buNone/>
                      </a:pPr>
                      <a:r>
                        <a:rPr lang="en-US" sz="1100">
                          <a:solidFill>
                            <a:srgbClr val="14211C"/>
                          </a:solidFill>
                        </a:rPr>
                        <a:t>Damped Holt, log scale</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0.346</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0.455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0.400</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18.3</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11</a:t>
            </a:fld>
            <a:endParaRPr lang="en-US"/>
          </a:p>
        </p:txBody>
      </p:sp>
      <p:sp>
        <p:nvSpPr>
          <p:cNvPr id="14" name="y25-stat-0">
            <a:extLst>
              <a:ext uri="{FF2B5EF4-FFF2-40B4-BE49-F238E27FC236}">
                <a16:creationId xmlns:a16="http://schemas.microsoft.com/office/drawing/2014/main" id="{9AE0B941-BC43-B4F3-024A-F837506162F6}"/>
              </a:ext>
            </a:extLst>
          </p:cNvPr>
          <p:cNvSpPr/>
          <p:nvPr/>
        </p:nvSpPr>
        <p:spPr>
          <a:xfrm>
            <a:off x="457192" y="745353"/>
            <a:ext cx="1988828" cy="904068"/>
          </a:xfrm>
          <a:prstGeom prst="roundRect">
            <a:avLst>
              <a:gd name="adj" fmla="val 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15" name="Text 3">
            <a:extLst>
              <a:ext uri="{FF2B5EF4-FFF2-40B4-BE49-F238E27FC236}">
                <a16:creationId xmlns:a16="http://schemas.microsoft.com/office/drawing/2014/main" id="{E264FD06-5825-E869-CE2E-33B5A0BA0AAC}"/>
              </a:ext>
            </a:extLst>
          </p:cNvPr>
          <p:cNvSpPr txBox="1"/>
          <p:nvPr/>
        </p:nvSpPr>
        <p:spPr>
          <a:xfrm rot="10800000" flipV="1">
            <a:off x="525776" y="762469"/>
            <a:ext cx="2217424" cy="408006"/>
          </a:xfrm>
          <a:prstGeom prst="rect">
            <a:avLst/>
          </a:prstGeom>
          <a:noFill/>
          <a:ln/>
        </p:spPr>
        <p:txBody>
          <a:bodyPr wrap="square" lIns="0" tIns="0" rIns="0" bIns="0" rtlCol="0" anchor="t"/>
          <a:lstStyle/>
          <a:p>
            <a:pPr marL="0" indent="0">
              <a:buNone/>
            </a:pPr>
            <a:r>
              <a:rPr lang="en-US" sz="2800" b="1">
                <a:solidFill>
                  <a:schemeClr val="accent1"/>
                </a:solidFill>
              </a:rPr>
              <a:t>11 of 15</a:t>
            </a:r>
            <a:endParaRPr lang="en-US" sz="2800"/>
          </a:p>
        </p:txBody>
      </p:sp>
      <p:sp>
        <p:nvSpPr>
          <p:cNvPr id="16" name="Text 4">
            <a:extLst>
              <a:ext uri="{FF2B5EF4-FFF2-40B4-BE49-F238E27FC236}">
                <a16:creationId xmlns:a16="http://schemas.microsoft.com/office/drawing/2014/main" id="{0A38563A-EFAD-5571-0091-4A8A63EB80D8}"/>
              </a:ext>
            </a:extLst>
          </p:cNvPr>
          <p:cNvSpPr txBox="1"/>
          <p:nvPr/>
        </p:nvSpPr>
        <p:spPr>
          <a:xfrm>
            <a:off x="457192" y="1233083"/>
            <a:ext cx="1988829" cy="381851"/>
          </a:xfrm>
          <a:prstGeom prst="rect">
            <a:avLst/>
          </a:prstGeom>
          <a:noFill/>
          <a:ln/>
        </p:spPr>
        <p:txBody>
          <a:bodyPr wrap="square" lIns="0" tIns="0" rIns="0" bIns="0" rtlCol="0" anchor="t"/>
          <a:lstStyle/>
          <a:p>
            <a:pPr marL="0" indent="0">
              <a:buNone/>
            </a:pPr>
            <a:r>
              <a:rPr lang="en-US" sz="1100">
                <a:solidFill>
                  <a:schemeClr val="tx1"/>
                </a:solidFill>
              </a:rPr>
              <a:t>players lost value by 2025Q4 (median change −25%)</a:t>
            </a:r>
            <a:endParaRPr lang="en-US" sz="1100"/>
          </a:p>
        </p:txBody>
      </p:sp>
      <p:sp>
        <p:nvSpPr>
          <p:cNvPr id="17" name="Text 9">
            <a:extLst>
              <a:ext uri="{FF2B5EF4-FFF2-40B4-BE49-F238E27FC236}">
                <a16:creationId xmlns:a16="http://schemas.microsoft.com/office/drawing/2014/main" id="{59A3C44D-4EC3-CCE3-776F-31F51DB2E170}"/>
              </a:ext>
            </a:extLst>
          </p:cNvPr>
          <p:cNvSpPr txBox="1"/>
          <p:nvPr/>
        </p:nvSpPr>
        <p:spPr>
          <a:xfrm rot="10800000" flipV="1">
            <a:off x="640080" y="4196558"/>
            <a:ext cx="1755159" cy="403177"/>
          </a:xfrm>
          <a:prstGeom prst="rect">
            <a:avLst/>
          </a:prstGeom>
          <a:noFill/>
          <a:ln/>
        </p:spPr>
        <p:txBody>
          <a:bodyPr wrap="square" lIns="0" tIns="0" rIns="0" bIns="0" rtlCol="0" anchor="t"/>
          <a:lstStyle/>
          <a:p>
            <a:pPr marL="0" indent="0">
              <a:buNone/>
            </a:pPr>
            <a:r>
              <a:rPr lang="en-US" sz="2800" b="1">
                <a:solidFill>
                  <a:schemeClr val="accent1"/>
                </a:solidFill>
              </a:rPr>
              <a:t>13 of 30</a:t>
            </a:r>
            <a:endParaRPr lang="en-US" sz="2800"/>
          </a:p>
        </p:txBody>
      </p:sp>
      <p:sp>
        <p:nvSpPr>
          <p:cNvPr id="18" name="Text 10">
            <a:extLst>
              <a:ext uri="{FF2B5EF4-FFF2-40B4-BE49-F238E27FC236}">
                <a16:creationId xmlns:a16="http://schemas.microsoft.com/office/drawing/2014/main" id="{4D79B04C-7B45-FB96-BF6E-105FB3C4F51F}"/>
              </a:ext>
            </a:extLst>
          </p:cNvPr>
          <p:cNvSpPr txBox="1"/>
          <p:nvPr/>
        </p:nvSpPr>
        <p:spPr>
          <a:xfrm>
            <a:off x="640080" y="4599734"/>
            <a:ext cx="2057400" cy="445895"/>
          </a:xfrm>
          <a:prstGeom prst="rect">
            <a:avLst/>
          </a:prstGeom>
          <a:noFill/>
          <a:ln/>
        </p:spPr>
        <p:txBody>
          <a:bodyPr wrap="square" lIns="0" tIns="0" rIns="0" bIns="0" rtlCol="0" anchor="t"/>
          <a:lstStyle/>
          <a:p>
            <a:pPr marL="0" indent="0">
              <a:buNone/>
            </a:pPr>
            <a:r>
              <a:rPr lang="en-US" sz="1100">
                <a:solidFill>
                  <a:schemeClr val="tx1"/>
                </a:solidFill>
              </a:rPr>
              <a:t>player-horizon forecasts where the final model beat persistence</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Performance across all three periods</a:t>
            </a:r>
            <a:endParaRPr lang="en-US" sz="3400"/>
          </a:p>
        </p:txBody>
      </p:sp>
      <p:pic>
        <p:nvPicPr>
          <p:cNvPr id="4" name="Image 0" descr="Bar chart: no model wins in every market period; five models across validation, test and 2025 holdout"/>
          <p:cNvPicPr>
            <a:picLocks noChangeAspect="1"/>
          </p:cNvPicPr>
          <p:nvPr/>
        </p:nvPicPr>
        <p:blipFill>
          <a:blip r:embed="rId3"/>
          <a:stretch>
            <a:fillRect/>
          </a:stretch>
        </p:blipFill>
        <p:spPr>
          <a:xfrm>
            <a:off x="822960" y="1097280"/>
            <a:ext cx="7498080" cy="1819481"/>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8046720" cy="1618488"/>
        </p:xfrm>
        <a:graphic>
          <a:graphicData uri="http://schemas.openxmlformats.org/drawingml/2006/table">
            <a:tbl>
              <a:tblPr/>
              <a:tblGrid>
                <a:gridCol w="3657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lgn="l">
                        <a:buNone/>
                      </a:pPr>
                      <a:r>
                        <a:rPr lang="en-US" sz="1100" b="1">
                          <a:solidFill>
                            <a:srgbClr val="FFFFFF"/>
                          </a:solidFill>
                        </a:rPr>
                        <a:t>model</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tc>
                  <a:txBody>
                    <a:bodyPr/>
                    <a:lstStyle/>
                    <a:p>
                      <a:pPr marL="0" indent="0" algn="ctr">
                        <a:buNone/>
                      </a:pPr>
                      <a:r>
                        <a:rPr lang="en-US" sz="1100" b="1">
                          <a:solidFill>
                            <a:srgbClr val="FFFFFF"/>
                          </a:solidFill>
                        </a:rPr>
                        <a:t>Validation (2020–2022 origins)</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tc>
                  <a:txBody>
                    <a:bodyPr/>
                    <a:lstStyle/>
                    <a:p>
                      <a:pPr marL="0" indent="0" algn="ctr">
                        <a:buNone/>
                      </a:pPr>
                      <a:r>
                        <a:rPr lang="en-US" sz="1100" b="1">
                          <a:solidFill>
                            <a:srgbClr val="FFFFFF"/>
                          </a:solidFill>
                        </a:rPr>
                        <a:t>Test (2023–2024)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tc>
                  <a:txBody>
                    <a:bodyPr/>
                    <a:lstStyle/>
                    <a:p>
                      <a:pPr marL="0" indent="0" algn="ctr">
                        <a:buNone/>
                      </a:pPr>
                      <a:r>
                        <a:rPr lang="en-US" sz="1100" b="1">
                          <a:solidFill>
                            <a:srgbClr val="FFFFFF"/>
                          </a:solidFill>
                        </a:rPr>
                        <a:t>2025 holdout</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0B3D2E"/>
                    </a:solidFill>
                  </a:tcPr>
                </a:tc>
                <a:extLst>
                  <a:ext uri="{0D108BD9-81ED-4DB2-BD59-A6C34878D82A}">
                    <a16:rowId xmlns:a16="http://schemas.microsoft.com/office/drawing/2014/main" val="10000"/>
                  </a:ext>
                </a:extLst>
              </a:tr>
              <a:tr h="246888">
                <a:tc>
                  <a:txBody>
                    <a:bodyPr/>
                    <a:lstStyle/>
                    <a:p>
                      <a:pPr marL="0" indent="0" algn="l">
                        <a:buNone/>
                      </a:pPr>
                      <a:r>
                        <a:rPr lang="en-US" sz="1100">
                          <a:solidFill>
                            <a:srgbClr val="14211C"/>
                          </a:solidFill>
                        </a:rPr>
                        <a:t>Persistence</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0.445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0.377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0.326</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100">
                          <a:solidFill>
                            <a:srgbClr val="14211C"/>
                          </a:solidFill>
                        </a:rPr>
                        <a:t>Holt, € scale (Track A)</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0.470</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0.290</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0.327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46888">
                <a:tc>
                  <a:txBody>
                    <a:bodyPr/>
                    <a:lstStyle/>
                    <a:p>
                      <a:pPr marL="0" indent="0" algn="l">
                        <a:buNone/>
                      </a:pPr>
                      <a:r>
                        <a:rPr lang="en-US" sz="1100">
                          <a:solidFill>
                            <a:srgbClr val="14211C"/>
                          </a:solidFill>
                        </a:rPr>
                        <a:t>Pooled age drift, log scale (Track B)</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0.485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0.344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0.279</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100">
                          <a:solidFill>
                            <a:srgbClr val="14211C"/>
                          </a:solidFill>
                        </a:rPr>
                        <a:t>Holt damped, € scale (combination)</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0.424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0.297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0.335</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46888">
                <a:tc>
                  <a:txBody>
                    <a:bodyPr/>
                    <a:lstStyle/>
                    <a:p>
                      <a:pPr marL="0" indent="0" algn="l">
                        <a:buNone/>
                      </a:pPr>
                      <a:r>
                        <a:rPr lang="en-US" sz="1100">
                          <a:solidFill>
                            <a:srgbClr val="14211C"/>
                          </a:solidFill>
                        </a:rPr>
                        <a:t>Average of € Holt and pooled age drift (combination)</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0.457</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0.294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tc>
                  <a:txBody>
                    <a:bodyPr/>
                    <a:lstStyle/>
                    <a:p>
                      <a:pPr marL="0" indent="0" algn="ctr">
                        <a:buNone/>
                      </a:pPr>
                      <a:r>
                        <a:rPr lang="en-US" sz="1100">
                          <a:solidFill>
                            <a:srgbClr val="14211C"/>
                          </a:solidFill>
                        </a:rPr>
                        <a:t>0.284</a:t>
                      </a:r>
                      <a:endParaRPr lang="en-US" sz="1100"/>
                    </a:p>
                  </a:txBody>
                  <a:tcPr marT="0" marB="0" anchor="ctr">
                    <a:lnL w="9525" cap="flat" cmpd="sng" algn="ctr">
                      <a:solidFill>
                        <a:srgbClr val="666666"/>
                      </a:solidFill>
                      <a:prstDash val="solid"/>
                      <a:round/>
                      <a:headEnd type="none" w="med" len="med"/>
                      <a:tailEnd type="none" w="med" len="med"/>
                    </a:lnL>
                    <a:lnR w="9525" cap="flat" cmpd="sng" algn="ctr">
                      <a:solidFill>
                        <a:srgbClr val="666666"/>
                      </a:solidFill>
                      <a:prstDash val="solid"/>
                      <a:round/>
                      <a:headEnd type="none" w="med" len="med"/>
                      <a:tailEnd type="none" w="med" len="med"/>
                    </a:lnR>
                    <a:lnT w="9525" cap="flat" cmpd="sng" algn="ctr">
                      <a:solidFill>
                        <a:srgbClr val="666666"/>
                      </a:solidFill>
                      <a:prstDash val="solid"/>
                      <a:round/>
                      <a:headEnd type="none" w="med" len="med"/>
                      <a:tailEnd type="none" w="med" len="med"/>
                    </a:lnT>
                    <a:lnB w="9525" cap="flat" cmpd="sng" algn="ctr">
                      <a:solidFill>
                        <a:srgbClr val="66666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Choose a player</a:t>
            </a:r>
            <a:endParaRPr lang="en-US" sz="3400"/>
          </a:p>
        </p:txBody>
      </p:sp>
      <p:sp>
        <p:nvSpPr>
          <p:cNvPr id="4" name="Text 1"/>
          <p:cNvSpPr txBox="1"/>
          <p:nvPr/>
        </p:nvSpPr>
        <p:spPr>
          <a:xfrm>
            <a:off x="457200" y="1051560"/>
            <a:ext cx="8229600" cy="320040"/>
          </a:xfrm>
          <a:prstGeom prst="rect">
            <a:avLst/>
          </a:prstGeom>
          <a:noFill/>
          <a:ln/>
        </p:spPr>
        <p:txBody>
          <a:bodyPr wrap="square" lIns="0" tIns="0" rIns="0" bIns="0" rtlCol="0" anchor="t"/>
          <a:lstStyle/>
          <a:p>
            <a:pPr marL="0" indent="0">
              <a:buNone/>
            </a:pPr>
            <a:r>
              <a:rPr lang="en-US" sz="1400">
                <a:solidFill>
                  <a:srgbClr val="14211C"/>
                </a:solidFill>
              </a:rPr>
              <a:t>Click a player to see the forecast, its 80% range and the real 2025 value.</a:t>
            </a:r>
            <a:endParaRPr lang="en-US" sz="1400"/>
          </a:p>
        </p:txBody>
      </p:sp>
      <p:sp>
        <p:nvSpPr>
          <p:cNvPr id="5" name="league-Premier League"/>
          <p:cNvSpPr/>
          <p:nvPr/>
        </p:nvSpPr>
        <p:spPr>
          <a:xfrm>
            <a:off x="457200" y="1554480"/>
            <a:ext cx="1572768" cy="347472"/>
          </a:xfrm>
          <a:prstGeom prst="roundRect">
            <a:avLst>
              <a:gd name="adj" fmla="val 15789"/>
            </a:avLst>
          </a:prstGeom>
          <a:solidFill>
            <a:schemeClr val="tx2"/>
          </a:solidFill>
          <a:ln w="12700">
            <a:solidFill>
              <a:schemeClr val="tx2"/>
            </a:solidFill>
            <a:prstDash val="solid"/>
          </a:ln>
        </p:spPr>
        <p:txBody>
          <a:bodyPr/>
          <a:lstStyle/>
          <a:p>
            <a:endParaRPr lang="en-US"/>
          </a:p>
        </p:txBody>
      </p:sp>
      <p:sp>
        <p:nvSpPr>
          <p:cNvPr id="6" name="Text 3"/>
          <p:cNvSpPr txBox="1"/>
          <p:nvPr/>
        </p:nvSpPr>
        <p:spPr>
          <a:xfrm>
            <a:off x="457200" y="1554480"/>
            <a:ext cx="1572768" cy="347472"/>
          </a:xfrm>
          <a:prstGeom prst="rect">
            <a:avLst/>
          </a:prstGeom>
          <a:noFill/>
          <a:ln/>
        </p:spPr>
        <p:txBody>
          <a:bodyPr wrap="square" lIns="0" tIns="0" rIns="0" bIns="0" rtlCol="0" anchor="ctr"/>
          <a:lstStyle/>
          <a:p>
            <a:pPr marL="0" indent="0" algn="ctr">
              <a:buNone/>
            </a:pPr>
            <a:r>
              <a:rPr lang="en-US" sz="1200" b="1">
                <a:solidFill>
                  <a:schemeClr val="bg1"/>
                </a:solidFill>
              </a:rPr>
              <a:t>Premier League</a:t>
            </a:r>
            <a:endParaRPr lang="en-US" sz="1200"/>
          </a:p>
        </p:txBody>
      </p:sp>
      <p:sp>
        <p:nvSpPr>
          <p:cNvPr id="7" name="btn-phil_foden">
            <a:hlinkClick r:id="rId3" action="ppaction://hlinksldjump" tooltip="Forecast for Phil Foden"/>
          </p:cNvPr>
          <p:cNvSpPr txBox="1"/>
          <p:nvPr/>
        </p:nvSpPr>
        <p:spPr>
          <a:xfrm>
            <a:off x="457200" y="205740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Phil Foden</a:t>
            </a:r>
            <a:endParaRPr lang="en-US" sz="1300"/>
          </a:p>
        </p:txBody>
      </p:sp>
      <p:sp>
        <p:nvSpPr>
          <p:cNvPr id="8" name="btn-pedro_neto">
            <a:hlinkClick r:id="rId4" action="ppaction://hlinksldjump" tooltip="Forecast for Pedro Neto"/>
          </p:cNvPr>
          <p:cNvSpPr txBox="1"/>
          <p:nvPr/>
        </p:nvSpPr>
        <p:spPr>
          <a:xfrm>
            <a:off x="457200" y="292608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Pedro Neto</a:t>
            </a:r>
            <a:endParaRPr lang="en-US" sz="1300"/>
          </a:p>
        </p:txBody>
      </p:sp>
      <p:sp>
        <p:nvSpPr>
          <p:cNvPr id="9" name="btn-matheus_cunha">
            <a:hlinkClick r:id="rId5" action="ppaction://hlinksldjump" tooltip="Forecast for Matheus Cunha"/>
          </p:cNvPr>
          <p:cNvSpPr txBox="1"/>
          <p:nvPr/>
        </p:nvSpPr>
        <p:spPr>
          <a:xfrm>
            <a:off x="457200" y="379476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Matheus Cunha</a:t>
            </a:r>
            <a:endParaRPr lang="en-US" sz="1300"/>
          </a:p>
        </p:txBody>
      </p:sp>
      <p:sp>
        <p:nvSpPr>
          <p:cNvPr id="10" name="league-La Liga"/>
          <p:cNvSpPr/>
          <p:nvPr/>
        </p:nvSpPr>
        <p:spPr>
          <a:xfrm>
            <a:off x="2121408" y="1554480"/>
            <a:ext cx="1572768" cy="347472"/>
          </a:xfrm>
          <a:prstGeom prst="roundRect">
            <a:avLst>
              <a:gd name="adj" fmla="val 15789"/>
            </a:avLst>
          </a:prstGeom>
          <a:solidFill>
            <a:schemeClr val="tx2"/>
          </a:solidFill>
          <a:ln w="12700">
            <a:solidFill>
              <a:schemeClr val="tx2"/>
            </a:solidFill>
            <a:prstDash val="solid"/>
          </a:ln>
        </p:spPr>
        <p:txBody>
          <a:bodyPr/>
          <a:lstStyle/>
          <a:p>
            <a:endParaRPr lang="en-US"/>
          </a:p>
        </p:txBody>
      </p:sp>
      <p:sp>
        <p:nvSpPr>
          <p:cNvPr id="11" name="Text 8"/>
          <p:cNvSpPr txBox="1"/>
          <p:nvPr/>
        </p:nvSpPr>
        <p:spPr>
          <a:xfrm>
            <a:off x="2121408" y="1554480"/>
            <a:ext cx="1572768" cy="347472"/>
          </a:xfrm>
          <a:prstGeom prst="rect">
            <a:avLst/>
          </a:prstGeom>
          <a:noFill/>
          <a:ln/>
        </p:spPr>
        <p:txBody>
          <a:bodyPr wrap="square" lIns="0" tIns="0" rIns="0" bIns="0" rtlCol="0" anchor="ctr"/>
          <a:lstStyle/>
          <a:p>
            <a:pPr marL="0" indent="0" algn="ctr">
              <a:buNone/>
            </a:pPr>
            <a:r>
              <a:rPr lang="en-US" sz="1200" b="1">
                <a:solidFill>
                  <a:schemeClr val="bg1"/>
                </a:solidFill>
              </a:rPr>
              <a:t>La Liga</a:t>
            </a:r>
            <a:endParaRPr lang="en-US" sz="1200"/>
          </a:p>
        </p:txBody>
      </p:sp>
      <p:sp>
        <p:nvSpPr>
          <p:cNvPr id="12" name="btn-marcus_rashford">
            <a:hlinkClick r:id="rId6" action="ppaction://hlinksldjump" tooltip="Forecast for Marcus Rashford"/>
          </p:cNvPr>
          <p:cNvSpPr txBox="1"/>
          <p:nvPr/>
        </p:nvSpPr>
        <p:spPr>
          <a:xfrm>
            <a:off x="2121408" y="205740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Marcus Rashford</a:t>
            </a:r>
            <a:endParaRPr lang="en-US" sz="1300"/>
          </a:p>
        </p:txBody>
      </p:sp>
      <p:sp>
        <p:nvSpPr>
          <p:cNvPr id="13" name="btn-ronald_araujo">
            <a:hlinkClick r:id="rId7" action="ppaction://hlinksldjump" tooltip="Forecast for Ronald Araujo"/>
          </p:cNvPr>
          <p:cNvSpPr txBox="1"/>
          <p:nvPr/>
        </p:nvSpPr>
        <p:spPr>
          <a:xfrm>
            <a:off x="2121408" y="292608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Ronald Araujo</a:t>
            </a:r>
            <a:endParaRPr lang="en-US" sz="1300"/>
          </a:p>
        </p:txBody>
      </p:sp>
      <p:sp>
        <p:nvSpPr>
          <p:cNvPr id="14" name="btn-oihan_sancet">
            <a:hlinkClick r:id="rId8" action="ppaction://hlinksldjump" tooltip="Forecast for Oihan Sancet"/>
          </p:cNvPr>
          <p:cNvSpPr txBox="1"/>
          <p:nvPr/>
        </p:nvSpPr>
        <p:spPr>
          <a:xfrm>
            <a:off x="2121408" y="379476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Oihan Sancet</a:t>
            </a:r>
            <a:endParaRPr lang="en-US" sz="1300"/>
          </a:p>
        </p:txBody>
      </p:sp>
      <p:sp>
        <p:nvSpPr>
          <p:cNvPr id="15" name="league-Serie A"/>
          <p:cNvSpPr/>
          <p:nvPr/>
        </p:nvSpPr>
        <p:spPr>
          <a:xfrm>
            <a:off x="3785616" y="1554480"/>
            <a:ext cx="1572768" cy="347472"/>
          </a:xfrm>
          <a:prstGeom prst="roundRect">
            <a:avLst>
              <a:gd name="adj" fmla="val 15789"/>
            </a:avLst>
          </a:prstGeom>
          <a:solidFill>
            <a:schemeClr val="tx2"/>
          </a:solidFill>
          <a:ln w="12700">
            <a:solidFill>
              <a:schemeClr val="tx2"/>
            </a:solidFill>
            <a:prstDash val="solid"/>
          </a:ln>
        </p:spPr>
        <p:txBody>
          <a:bodyPr/>
          <a:lstStyle/>
          <a:p>
            <a:endParaRPr lang="en-US"/>
          </a:p>
        </p:txBody>
      </p:sp>
      <p:sp>
        <p:nvSpPr>
          <p:cNvPr id="16" name="Text 13"/>
          <p:cNvSpPr txBox="1"/>
          <p:nvPr/>
        </p:nvSpPr>
        <p:spPr>
          <a:xfrm>
            <a:off x="3785616" y="1554480"/>
            <a:ext cx="1572768" cy="347472"/>
          </a:xfrm>
          <a:prstGeom prst="rect">
            <a:avLst/>
          </a:prstGeom>
          <a:noFill/>
          <a:ln/>
        </p:spPr>
        <p:txBody>
          <a:bodyPr wrap="square" lIns="0" tIns="0" rIns="0" bIns="0" rtlCol="0" anchor="ctr"/>
          <a:lstStyle/>
          <a:p>
            <a:pPr marL="0" indent="0" algn="ctr">
              <a:buNone/>
            </a:pPr>
            <a:r>
              <a:rPr lang="en-US" sz="1200" b="1">
                <a:solidFill>
                  <a:schemeClr val="bg1"/>
                </a:solidFill>
              </a:rPr>
              <a:t>Serie A</a:t>
            </a:r>
            <a:endParaRPr lang="en-US" sz="1200"/>
          </a:p>
        </p:txBody>
      </p:sp>
      <p:sp>
        <p:nvSpPr>
          <p:cNvPr id="17" name="btn-lo_s_openda">
            <a:hlinkClick r:id="rId9" action="ppaction://hlinksldjump" tooltip="Forecast for Loïs Openda"/>
          </p:cNvPr>
          <p:cNvSpPr txBox="1"/>
          <p:nvPr/>
        </p:nvSpPr>
        <p:spPr>
          <a:xfrm>
            <a:off x="3785616" y="205740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Loïs Openda</a:t>
            </a:r>
            <a:endParaRPr lang="en-US" sz="1300"/>
          </a:p>
        </p:txBody>
      </p:sp>
      <p:sp>
        <p:nvSpPr>
          <p:cNvPr id="18" name="btn-teun_koopmeiners">
            <a:hlinkClick r:id="rId10" action="ppaction://hlinksldjump" tooltip="Forecast for Teun Koopmeiners"/>
          </p:cNvPr>
          <p:cNvSpPr txBox="1"/>
          <p:nvPr/>
        </p:nvSpPr>
        <p:spPr>
          <a:xfrm>
            <a:off x="3785616" y="292608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Teun Koopmeiners</a:t>
            </a:r>
            <a:endParaRPr lang="en-US" sz="1300"/>
          </a:p>
        </p:txBody>
      </p:sp>
      <p:sp>
        <p:nvSpPr>
          <p:cNvPr id="19" name="btn-kh_phren_thuram">
            <a:hlinkClick r:id="rId11" action="ppaction://hlinksldjump" tooltip="Forecast for Khéphren Thuram"/>
          </p:cNvPr>
          <p:cNvSpPr txBox="1"/>
          <p:nvPr/>
        </p:nvSpPr>
        <p:spPr>
          <a:xfrm>
            <a:off x="3785616" y="379476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Khéphren Thuram</a:t>
            </a:r>
            <a:endParaRPr lang="en-US" sz="1300"/>
          </a:p>
        </p:txBody>
      </p:sp>
      <p:sp>
        <p:nvSpPr>
          <p:cNvPr id="20" name="league-Bundesliga"/>
          <p:cNvSpPr/>
          <p:nvPr/>
        </p:nvSpPr>
        <p:spPr>
          <a:xfrm>
            <a:off x="5449824" y="1554480"/>
            <a:ext cx="1572768" cy="347472"/>
          </a:xfrm>
          <a:prstGeom prst="roundRect">
            <a:avLst>
              <a:gd name="adj" fmla="val 15789"/>
            </a:avLst>
          </a:prstGeom>
          <a:solidFill>
            <a:schemeClr val="tx2"/>
          </a:solidFill>
          <a:ln w="12700">
            <a:solidFill>
              <a:schemeClr val="tx2"/>
            </a:solidFill>
            <a:prstDash val="solid"/>
          </a:ln>
        </p:spPr>
        <p:txBody>
          <a:bodyPr/>
          <a:lstStyle/>
          <a:p>
            <a:endParaRPr lang="en-US"/>
          </a:p>
        </p:txBody>
      </p:sp>
      <p:sp>
        <p:nvSpPr>
          <p:cNvPr id="21" name="Text 18"/>
          <p:cNvSpPr txBox="1"/>
          <p:nvPr/>
        </p:nvSpPr>
        <p:spPr>
          <a:xfrm>
            <a:off x="5449824" y="1554480"/>
            <a:ext cx="1572768" cy="347472"/>
          </a:xfrm>
          <a:prstGeom prst="rect">
            <a:avLst/>
          </a:prstGeom>
          <a:noFill/>
          <a:ln/>
        </p:spPr>
        <p:txBody>
          <a:bodyPr wrap="square" lIns="0" tIns="0" rIns="0" bIns="0" rtlCol="0" anchor="ctr"/>
          <a:lstStyle/>
          <a:p>
            <a:pPr marL="0" indent="0" algn="ctr">
              <a:buNone/>
            </a:pPr>
            <a:r>
              <a:rPr lang="en-US" sz="1200" b="1">
                <a:solidFill>
                  <a:schemeClr val="bg1"/>
                </a:solidFill>
              </a:rPr>
              <a:t>Bundesliga</a:t>
            </a:r>
            <a:endParaRPr lang="en-US" sz="1200"/>
          </a:p>
        </p:txBody>
      </p:sp>
      <p:sp>
        <p:nvSpPr>
          <p:cNvPr id="22" name="btn-serge_gnabry">
            <a:hlinkClick r:id="rId12" action="ppaction://hlinksldjump" tooltip="Forecast for Serge Gnabry"/>
          </p:cNvPr>
          <p:cNvSpPr txBox="1"/>
          <p:nvPr/>
        </p:nvSpPr>
        <p:spPr>
          <a:xfrm>
            <a:off x="5449824" y="205740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Serge Gnabry</a:t>
            </a:r>
            <a:endParaRPr lang="en-US" sz="1300"/>
          </a:p>
        </p:txBody>
      </p:sp>
      <p:sp>
        <p:nvSpPr>
          <p:cNvPr id="23" name="btn-waldemar_anton">
            <a:hlinkClick r:id="rId13" action="ppaction://hlinksldjump" tooltip="Forecast for Waldemar Anton"/>
          </p:cNvPr>
          <p:cNvSpPr txBox="1"/>
          <p:nvPr/>
        </p:nvSpPr>
        <p:spPr>
          <a:xfrm>
            <a:off x="5449824" y="292608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Waldemar Anton</a:t>
            </a:r>
            <a:endParaRPr lang="en-US" sz="1300"/>
          </a:p>
        </p:txBody>
      </p:sp>
      <p:sp>
        <p:nvSpPr>
          <p:cNvPr id="24" name="btn-christoph_baumgartner">
            <a:hlinkClick r:id="rId14" action="ppaction://hlinksldjump" tooltip="Forecast for Christoph Baumgartner"/>
          </p:cNvPr>
          <p:cNvSpPr txBox="1"/>
          <p:nvPr/>
        </p:nvSpPr>
        <p:spPr>
          <a:xfrm>
            <a:off x="5449824" y="379476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Christoph Baumgartner</a:t>
            </a:r>
            <a:endParaRPr lang="en-US" sz="1300"/>
          </a:p>
        </p:txBody>
      </p:sp>
      <p:sp>
        <p:nvSpPr>
          <p:cNvPr id="25" name="league-Ligue 1"/>
          <p:cNvSpPr/>
          <p:nvPr/>
        </p:nvSpPr>
        <p:spPr>
          <a:xfrm>
            <a:off x="7114032" y="1554480"/>
            <a:ext cx="1572768" cy="347472"/>
          </a:xfrm>
          <a:prstGeom prst="roundRect">
            <a:avLst>
              <a:gd name="adj" fmla="val 15789"/>
            </a:avLst>
          </a:prstGeom>
          <a:solidFill>
            <a:schemeClr val="tx2"/>
          </a:solidFill>
          <a:ln w="12700">
            <a:solidFill>
              <a:schemeClr val="tx2"/>
            </a:solidFill>
            <a:prstDash val="solid"/>
          </a:ln>
        </p:spPr>
        <p:txBody>
          <a:bodyPr/>
          <a:lstStyle/>
          <a:p>
            <a:endParaRPr lang="en-US"/>
          </a:p>
        </p:txBody>
      </p:sp>
      <p:sp>
        <p:nvSpPr>
          <p:cNvPr id="26" name="Text 23"/>
          <p:cNvSpPr txBox="1"/>
          <p:nvPr/>
        </p:nvSpPr>
        <p:spPr>
          <a:xfrm>
            <a:off x="7114032" y="1554480"/>
            <a:ext cx="1572768" cy="347472"/>
          </a:xfrm>
          <a:prstGeom prst="rect">
            <a:avLst/>
          </a:prstGeom>
          <a:noFill/>
          <a:ln/>
        </p:spPr>
        <p:txBody>
          <a:bodyPr wrap="square" lIns="0" tIns="0" rIns="0" bIns="0" rtlCol="0" anchor="ctr"/>
          <a:lstStyle/>
          <a:p>
            <a:pPr marL="0" indent="0" algn="ctr">
              <a:buNone/>
            </a:pPr>
            <a:r>
              <a:rPr lang="en-US" sz="1200" b="1">
                <a:solidFill>
                  <a:schemeClr val="bg1"/>
                </a:solidFill>
              </a:rPr>
              <a:t>Ligue 1</a:t>
            </a:r>
            <a:endParaRPr lang="en-US" sz="1200"/>
          </a:p>
        </p:txBody>
      </p:sp>
      <p:sp>
        <p:nvSpPr>
          <p:cNvPr id="27" name="btn-nayef_aguerd">
            <a:hlinkClick r:id="rId15" action="ppaction://hlinksldjump" tooltip="Forecast for Nayef Aguerd"/>
          </p:cNvPr>
          <p:cNvSpPr txBox="1"/>
          <p:nvPr/>
        </p:nvSpPr>
        <p:spPr>
          <a:xfrm>
            <a:off x="7114032" y="205740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Nayef Aguerd</a:t>
            </a:r>
            <a:endParaRPr lang="en-US" sz="1300"/>
          </a:p>
        </p:txBody>
      </p:sp>
      <p:sp>
        <p:nvSpPr>
          <p:cNvPr id="28" name="btn-kang_in_lee">
            <a:hlinkClick r:id="rId16" action="ppaction://hlinksldjump" tooltip="Forecast for Kang-in Lee"/>
          </p:cNvPr>
          <p:cNvSpPr txBox="1"/>
          <p:nvPr/>
        </p:nvSpPr>
        <p:spPr>
          <a:xfrm>
            <a:off x="7114032" y="292608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Kang-in Lee</a:t>
            </a:r>
            <a:endParaRPr lang="en-US" sz="1300"/>
          </a:p>
        </p:txBody>
      </p:sp>
      <p:sp>
        <p:nvSpPr>
          <p:cNvPr id="29" name="btn-jordan_teze">
            <a:hlinkClick r:id="rId17" action="ppaction://hlinksldjump" tooltip="Forecast for Jordan Teze"/>
          </p:cNvPr>
          <p:cNvSpPr txBox="1"/>
          <p:nvPr/>
        </p:nvSpPr>
        <p:spPr>
          <a:xfrm>
            <a:off x="7114032" y="3794760"/>
            <a:ext cx="1572768" cy="731520"/>
          </a:xfrm>
          <a:prstGeom prst="roundRect">
            <a:avLst>
              <a:gd name="adj" fmla="val 10000"/>
            </a:avLst>
          </a:prstGeom>
          <a:solidFill>
            <a:schemeClr val="accent1"/>
          </a:solidFill>
          <a:ln>
            <a:solidFill>
              <a:schemeClr val="accent1"/>
            </a:solidFill>
          </a:ln>
        </p:spPr>
        <p:txBody>
          <a:bodyPr wrap="square" lIns="0" tIns="50800" rIns="50800" bIns="0" rtlCol="0" anchor="ctr"/>
          <a:lstStyle/>
          <a:p>
            <a:pPr marL="0" indent="0" algn="ctr">
              <a:buNone/>
            </a:pPr>
            <a:r>
              <a:rPr lang="en-US" sz="1300" b="1">
                <a:solidFill>
                  <a:schemeClr val="bg1"/>
                </a:solidFill>
              </a:rPr>
              <a:t>Jordan Teze</a:t>
            </a:r>
            <a:endParaRPr lang="en-US" sz="1300"/>
          </a:p>
        </p:txBody>
      </p:sp>
      <p:sp>
        <p:nvSpPr>
          <p:cNvPr id="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4"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5"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6"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7"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8"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9"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10"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1"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2"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3"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4"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5"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6"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7"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8"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9"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20"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1"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2"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3"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4"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5"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6"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7"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€79.2M</a:t>
            </a:r>
            <a:endParaRPr lang="en-US" sz="1300"/>
          </a:p>
        </p:txBody>
      </p:sp>
      <p:sp>
        <p:nvSpPr>
          <p:cNvPr id="28"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9"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€158.5M</a:t>
            </a:r>
            <a:endParaRPr lang="en-US" sz="1300"/>
          </a:p>
        </p:txBody>
      </p:sp>
      <p:sp>
        <p:nvSpPr>
          <p:cNvPr id="30"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1"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€316.9M</a:t>
            </a:r>
            <a:endParaRPr lang="en-US" sz="1300"/>
          </a:p>
        </p:txBody>
      </p:sp>
      <p:sp>
        <p:nvSpPr>
          <p:cNvPr id="32"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3"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€475.4M</a:t>
            </a:r>
            <a:endParaRPr lang="en-US" sz="1300"/>
          </a:p>
        </p:txBody>
      </p:sp>
      <p:sp>
        <p:nvSpPr>
          <p:cNvPr id="34"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0"/>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1"/>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2"/>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3"/>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€158.5M</a:t>
            </a:r>
            <a:endParaRPr lang="en-US" sz="2800"/>
          </a:p>
        </p:txBody>
      </p:sp>
      <p:sp>
        <p:nvSpPr>
          <p:cNvPr id="40" name="Text 34"/>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€97.0M to €460.1M</a:t>
            </a:r>
            <a:endParaRPr lang="en-US" sz="1200"/>
          </a:p>
        </p:txBody>
      </p:sp>
      <p:sp>
        <p:nvSpPr>
          <p:cNvPr id="41" name="zone-under"/>
          <p:cNvSpPr/>
          <p:nvPr/>
        </p:nvSpPr>
        <p:spPr>
          <a:xfrm>
            <a:off x="5440680" y="3017520"/>
            <a:ext cx="57008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65" y="3017520"/>
            <a:ext cx="213451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279" y="3017520"/>
            <a:ext cx="31292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39"/>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€475.4M</a:t>
            </a:r>
            <a:endParaRPr lang="en-US" sz="1000"/>
          </a:p>
        </p:txBody>
      </p:sp>
      <p:sp>
        <p:nvSpPr>
          <p:cNvPr id="46" name="Text 40"/>
          <p:cNvSpPr txBox="1"/>
          <p:nvPr/>
        </p:nvSpPr>
        <p:spPr>
          <a:xfrm>
            <a:off x="555356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€97.0M</a:t>
            </a:r>
            <a:endParaRPr lang="en-US" sz="1000"/>
          </a:p>
        </p:txBody>
      </p:sp>
      <p:sp>
        <p:nvSpPr>
          <p:cNvPr id="47" name="Text 41"/>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€460.1M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3"/>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€475.4M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4"/>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
        <p:nvSpPr>
          <p:cNvPr id="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800" b="1">
                <a:solidFill>
                  <a:srgbClr val="0A3D2E"/>
                </a:solidFill>
                <a:latin typeface="Cambria" pitchFamily="34" charset="0"/>
                <a:ea typeface="Cambria" pitchFamily="34" charset="-122"/>
                <a:cs typeface="Cambria" pitchFamily="34" charset="-120"/>
              </a:rPr>
              <a:t>Limitations &amp; next steps</a:t>
            </a:r>
            <a:endParaRPr lang="en-US" sz="2800"/>
          </a:p>
        </p:txBody>
      </p:sp>
      <p:sp>
        <p:nvSpPr>
          <p:cNvPr id="3" name="Text 1"/>
          <p:cNvSpPr txBox="1"/>
          <p:nvPr/>
        </p:nvSpPr>
        <p:spPr>
          <a:xfrm>
            <a:off x="8321040" y="4800600"/>
            <a:ext cx="365760" cy="228600"/>
          </a:xfrm>
          <a:prstGeom prst="rect">
            <a:avLst/>
          </a:prstGeom>
          <a:noFill/>
          <a:ln/>
        </p:spPr>
        <p:txBody>
          <a:bodyPr wrap="square" lIns="0" tIns="0" rIns="0" bIns="0" rtlCol="0" anchor="t"/>
          <a:lstStyle/>
          <a:p>
            <a:pPr marL="0" indent="0" algn="r">
              <a:buNone/>
            </a:pPr>
            <a:r>
              <a:rPr lang="en-US" sz="1100">
                <a:solidFill>
                  <a:srgbClr val="6B7C74"/>
                </a:solidFill>
                <a:latin typeface="Calibri" pitchFamily="34" charset="0"/>
                <a:ea typeface="Calibri" pitchFamily="34" charset="-122"/>
                <a:cs typeface="Calibri" pitchFamily="34" charset="-120"/>
              </a:rPr>
              <a:t>15</a:t>
            </a:r>
            <a:endParaRPr lang="en-US" sz="1100"/>
          </a:p>
        </p:txBody>
      </p:sp>
      <p:sp>
        <p:nvSpPr>
          <p:cNvPr id="20" name="Shape 18"/>
          <p:cNvSpPr/>
          <p:nvPr/>
        </p:nvSpPr>
        <p:spPr>
          <a:xfrm>
            <a:off x="457200" y="868680"/>
            <a:ext cx="1965960" cy="2697480"/>
          </a:xfrm>
          <a:prstGeom prst="roundRect">
            <a:avLst>
              <a:gd name="adj" fmla="val 3721"/>
            </a:avLst>
          </a:prstGeom>
          <a:solidFill>
            <a:srgbClr val="FFFFFF"/>
          </a:solidFill>
          <a:ln w="9525">
            <a:solidFill>
              <a:srgbClr val="D5E0DA"/>
            </a:solidFill>
            <a:prstDash val="solid"/>
          </a:ln>
        </p:spPr>
        <p:txBody>
          <a:bodyPr/>
          <a:lstStyle/>
          <a:p>
            <a:endParaRPr lang="en-US"/>
          </a:p>
        </p:txBody>
      </p:sp>
      <p:sp>
        <p:nvSpPr>
          <p:cNvPr id="21" name="Shape 19"/>
          <p:cNvSpPr/>
          <p:nvPr/>
        </p:nvSpPr>
        <p:spPr>
          <a:xfrm>
            <a:off x="566928" y="960120"/>
            <a:ext cx="329184" cy="329184"/>
          </a:xfrm>
          <a:prstGeom prst="ellipse">
            <a:avLst/>
          </a:prstGeom>
          <a:solidFill>
            <a:srgbClr val="F2A900"/>
          </a:solidFill>
          <a:ln w="12700">
            <a:solidFill>
              <a:srgbClr val="F2A900"/>
            </a:solidFill>
            <a:prstDash val="solid"/>
          </a:ln>
        </p:spPr>
        <p:txBody>
          <a:bodyPr/>
          <a:lstStyle/>
          <a:p>
            <a:endParaRPr lang="en-US"/>
          </a:p>
        </p:txBody>
      </p:sp>
      <p:sp>
        <p:nvSpPr>
          <p:cNvPr id="22" name="Text 20"/>
          <p:cNvSpPr txBox="1"/>
          <p:nvPr/>
        </p:nvSpPr>
        <p:spPr>
          <a:xfrm>
            <a:off x="566928" y="960120"/>
            <a:ext cx="329184" cy="329184"/>
          </a:xfrm>
          <a:prstGeom prst="rect">
            <a:avLst/>
          </a:prstGeom>
          <a:noFill/>
          <a:ln/>
        </p:spPr>
        <p:txBody>
          <a:bodyPr wrap="square" lIns="0" tIns="0" rIns="0" bIns="0" rtlCol="0" anchor="ctr"/>
          <a:lstStyle/>
          <a:p>
            <a:pPr marL="0" indent="0" algn="ctr">
              <a:buNone/>
            </a:pPr>
            <a:r>
              <a:rPr lang="en-US" sz="1400" b="1">
                <a:solidFill>
                  <a:srgbClr val="0A3D2E"/>
                </a:solidFill>
                <a:latin typeface="Cambria" pitchFamily="34" charset="0"/>
                <a:ea typeface="Cambria" pitchFamily="34" charset="-122"/>
                <a:cs typeface="Cambria" pitchFamily="34" charset="-120"/>
              </a:rPr>
              <a:t>1</a:t>
            </a:r>
            <a:endParaRPr lang="en-US" sz="1400"/>
          </a:p>
        </p:txBody>
      </p:sp>
      <p:sp>
        <p:nvSpPr>
          <p:cNvPr id="23" name="Text 21"/>
          <p:cNvSpPr txBox="1"/>
          <p:nvPr/>
        </p:nvSpPr>
        <p:spPr>
          <a:xfrm>
            <a:off x="566928" y="1371600"/>
            <a:ext cx="1755648" cy="502920"/>
          </a:xfrm>
          <a:prstGeom prst="rect">
            <a:avLst/>
          </a:prstGeom>
          <a:noFill/>
          <a:ln/>
        </p:spPr>
        <p:txBody>
          <a:bodyPr wrap="square" lIns="0" tIns="0" rIns="0" bIns="0" rtlCol="0" anchor="t"/>
          <a:lstStyle/>
          <a:p>
            <a:pPr marL="0" indent="0">
              <a:buNone/>
            </a:pPr>
            <a:r>
              <a:rPr lang="en-US" sz="1250" b="1">
                <a:solidFill>
                  <a:srgbClr val="0A3D2E"/>
                </a:solidFill>
                <a:latin typeface="Cambria" pitchFamily="34" charset="0"/>
                <a:ea typeface="Cambria" pitchFamily="34" charset="-122"/>
                <a:cs typeface="Cambria" pitchFamily="34" charset="-120"/>
              </a:rPr>
              <a:t>SMALL, SELECTIVE SAMPLE</a:t>
            </a:r>
            <a:endParaRPr lang="en-US" sz="1250"/>
          </a:p>
        </p:txBody>
      </p:sp>
      <p:sp>
        <p:nvSpPr>
          <p:cNvPr id="24" name="Text 22"/>
          <p:cNvSpPr txBox="1"/>
          <p:nvPr/>
        </p:nvSpPr>
        <p:spPr>
          <a:xfrm>
            <a:off x="566928" y="1920240"/>
            <a:ext cx="1755648" cy="1600200"/>
          </a:xfrm>
          <a:prstGeom prst="rect">
            <a:avLst/>
          </a:prstGeom>
          <a:noFill/>
          <a:ln/>
        </p:spPr>
        <p:txBody>
          <a:bodyPr wrap="square" lIns="0" tIns="0" rIns="0" bIns="0" rtlCol="0" anchor="t"/>
          <a:lstStyle/>
          <a:p>
            <a:pPr marL="0" indent="0">
              <a:buNone/>
            </a:pPr>
            <a:r>
              <a:rPr lang="en-US" sz="1150">
                <a:solidFill>
                  <a:srgbClr val="1B2A24"/>
                </a:solidFill>
                <a:latin typeface="Calibri" pitchFamily="34" charset="0"/>
                <a:ea typeface="Calibri" pitchFamily="34" charset="-122"/>
                <a:cs typeface="Calibri" pitchFamily="34" charset="-120"/>
              </a:rPr>
              <a:t>Only 15 well-covered players, chosen for long histories. Results may not hold for younger, lower-value or recently transferred players.</a:t>
            </a:r>
            <a:endParaRPr lang="en-US" sz="1150"/>
          </a:p>
        </p:txBody>
      </p:sp>
      <p:sp>
        <p:nvSpPr>
          <p:cNvPr id="25" name="Shape 23"/>
          <p:cNvSpPr/>
          <p:nvPr/>
        </p:nvSpPr>
        <p:spPr>
          <a:xfrm>
            <a:off x="2542032" y="868680"/>
            <a:ext cx="1965960" cy="2697480"/>
          </a:xfrm>
          <a:prstGeom prst="roundRect">
            <a:avLst>
              <a:gd name="adj" fmla="val 3721"/>
            </a:avLst>
          </a:prstGeom>
          <a:solidFill>
            <a:srgbClr val="FFFFFF"/>
          </a:solidFill>
          <a:ln w="9525">
            <a:solidFill>
              <a:srgbClr val="D5E0DA"/>
            </a:solidFill>
            <a:prstDash val="solid"/>
          </a:ln>
        </p:spPr>
        <p:txBody>
          <a:bodyPr/>
          <a:lstStyle/>
          <a:p>
            <a:endParaRPr lang="en-US"/>
          </a:p>
        </p:txBody>
      </p:sp>
      <p:sp>
        <p:nvSpPr>
          <p:cNvPr id="26" name="Shape 24"/>
          <p:cNvSpPr/>
          <p:nvPr/>
        </p:nvSpPr>
        <p:spPr>
          <a:xfrm>
            <a:off x="2651760" y="960120"/>
            <a:ext cx="329184" cy="329184"/>
          </a:xfrm>
          <a:prstGeom prst="ellipse">
            <a:avLst/>
          </a:prstGeom>
          <a:solidFill>
            <a:srgbClr val="F2A900"/>
          </a:solidFill>
          <a:ln w="12700">
            <a:solidFill>
              <a:srgbClr val="F2A900"/>
            </a:solidFill>
            <a:prstDash val="solid"/>
          </a:ln>
        </p:spPr>
        <p:txBody>
          <a:bodyPr/>
          <a:lstStyle/>
          <a:p>
            <a:endParaRPr lang="en-US"/>
          </a:p>
        </p:txBody>
      </p:sp>
      <p:sp>
        <p:nvSpPr>
          <p:cNvPr id="27" name="Text 25"/>
          <p:cNvSpPr txBox="1"/>
          <p:nvPr/>
        </p:nvSpPr>
        <p:spPr>
          <a:xfrm>
            <a:off x="2651760" y="960120"/>
            <a:ext cx="329184" cy="329184"/>
          </a:xfrm>
          <a:prstGeom prst="rect">
            <a:avLst/>
          </a:prstGeom>
          <a:noFill/>
          <a:ln/>
        </p:spPr>
        <p:txBody>
          <a:bodyPr wrap="square" lIns="0" tIns="0" rIns="0" bIns="0" rtlCol="0" anchor="ctr"/>
          <a:lstStyle/>
          <a:p>
            <a:pPr marL="0" indent="0" algn="ctr">
              <a:buNone/>
            </a:pPr>
            <a:r>
              <a:rPr lang="en-US" sz="1400" b="1">
                <a:solidFill>
                  <a:srgbClr val="0A3D2E"/>
                </a:solidFill>
                <a:latin typeface="Cambria" pitchFamily="34" charset="0"/>
                <a:ea typeface="Cambria" pitchFamily="34" charset="-122"/>
                <a:cs typeface="Cambria" pitchFamily="34" charset="-120"/>
              </a:rPr>
              <a:t>2</a:t>
            </a:r>
            <a:endParaRPr lang="en-US" sz="1400"/>
          </a:p>
        </p:txBody>
      </p:sp>
      <p:sp>
        <p:nvSpPr>
          <p:cNvPr id="28" name="Text 26"/>
          <p:cNvSpPr txBox="1"/>
          <p:nvPr/>
        </p:nvSpPr>
        <p:spPr>
          <a:xfrm>
            <a:off x="2651760" y="1371600"/>
            <a:ext cx="1755648" cy="502920"/>
          </a:xfrm>
          <a:prstGeom prst="rect">
            <a:avLst/>
          </a:prstGeom>
          <a:noFill/>
          <a:ln/>
        </p:spPr>
        <p:txBody>
          <a:bodyPr wrap="square" lIns="0" tIns="0" rIns="0" bIns="0" rtlCol="0" anchor="t"/>
          <a:lstStyle/>
          <a:p>
            <a:pPr marL="0" indent="0">
              <a:buNone/>
            </a:pPr>
            <a:r>
              <a:rPr lang="en-US" sz="1250" b="1">
                <a:solidFill>
                  <a:srgbClr val="0A3D2E"/>
                </a:solidFill>
                <a:latin typeface="Cambria" pitchFamily="34" charset="0"/>
                <a:ea typeface="Cambria" pitchFamily="34" charset="-122"/>
                <a:cs typeface="Cambria" pitchFamily="34" charset="-120"/>
              </a:rPr>
              <a:t>MARKET VALUE ≠ TRANSFER FEE</a:t>
            </a:r>
            <a:endParaRPr lang="en-US" sz="1250"/>
          </a:p>
        </p:txBody>
      </p:sp>
      <p:sp>
        <p:nvSpPr>
          <p:cNvPr id="29" name="Text 27"/>
          <p:cNvSpPr txBox="1"/>
          <p:nvPr/>
        </p:nvSpPr>
        <p:spPr>
          <a:xfrm>
            <a:off x="2651760" y="1920240"/>
            <a:ext cx="1755648" cy="1600200"/>
          </a:xfrm>
          <a:prstGeom prst="rect">
            <a:avLst/>
          </a:prstGeom>
          <a:noFill/>
          <a:ln/>
        </p:spPr>
        <p:txBody>
          <a:bodyPr wrap="square" lIns="0" tIns="0" rIns="0" bIns="0" rtlCol="0" anchor="t"/>
          <a:lstStyle/>
          <a:p>
            <a:pPr marL="0" indent="0">
              <a:buNone/>
            </a:pPr>
            <a:r>
              <a:rPr lang="en-US" sz="1150">
                <a:solidFill>
                  <a:srgbClr val="1B2A24"/>
                </a:solidFill>
                <a:latin typeface="Calibri" pitchFamily="34" charset="0"/>
                <a:ea typeface="Calibri" pitchFamily="34" charset="-122"/>
                <a:cs typeface="Calibri" pitchFamily="34" charset="-120"/>
              </a:rPr>
              <a:t>We forecast Transfermarkt's estimate, not the negotiated price. Contract length, injuries, club urgency and competing buyers are not captured.</a:t>
            </a:r>
            <a:endParaRPr lang="en-US" sz="1150"/>
          </a:p>
        </p:txBody>
      </p:sp>
      <p:sp>
        <p:nvSpPr>
          <p:cNvPr id="30" name="Shape 28"/>
          <p:cNvSpPr/>
          <p:nvPr/>
        </p:nvSpPr>
        <p:spPr>
          <a:xfrm>
            <a:off x="4626864" y="868680"/>
            <a:ext cx="1965960" cy="2697480"/>
          </a:xfrm>
          <a:prstGeom prst="roundRect">
            <a:avLst>
              <a:gd name="adj" fmla="val 3721"/>
            </a:avLst>
          </a:prstGeom>
          <a:solidFill>
            <a:srgbClr val="FFFFFF"/>
          </a:solidFill>
          <a:ln w="9525">
            <a:solidFill>
              <a:srgbClr val="D5E0DA"/>
            </a:solidFill>
            <a:prstDash val="solid"/>
          </a:ln>
        </p:spPr>
        <p:txBody>
          <a:bodyPr/>
          <a:lstStyle/>
          <a:p>
            <a:endParaRPr lang="en-US"/>
          </a:p>
        </p:txBody>
      </p:sp>
      <p:sp>
        <p:nvSpPr>
          <p:cNvPr id="31" name="Shape 29"/>
          <p:cNvSpPr/>
          <p:nvPr/>
        </p:nvSpPr>
        <p:spPr>
          <a:xfrm>
            <a:off x="4736592" y="960120"/>
            <a:ext cx="329184" cy="329184"/>
          </a:xfrm>
          <a:prstGeom prst="ellipse">
            <a:avLst/>
          </a:prstGeom>
          <a:solidFill>
            <a:srgbClr val="F2A900"/>
          </a:solidFill>
          <a:ln w="12700">
            <a:solidFill>
              <a:srgbClr val="F2A900"/>
            </a:solidFill>
            <a:prstDash val="solid"/>
          </a:ln>
        </p:spPr>
        <p:txBody>
          <a:bodyPr/>
          <a:lstStyle/>
          <a:p>
            <a:endParaRPr lang="en-US"/>
          </a:p>
        </p:txBody>
      </p:sp>
      <p:sp>
        <p:nvSpPr>
          <p:cNvPr id="32" name="Text 30"/>
          <p:cNvSpPr txBox="1"/>
          <p:nvPr/>
        </p:nvSpPr>
        <p:spPr>
          <a:xfrm>
            <a:off x="4736592" y="960120"/>
            <a:ext cx="329184" cy="329184"/>
          </a:xfrm>
          <a:prstGeom prst="rect">
            <a:avLst/>
          </a:prstGeom>
          <a:noFill/>
          <a:ln/>
        </p:spPr>
        <p:txBody>
          <a:bodyPr wrap="square" lIns="0" tIns="0" rIns="0" bIns="0" rtlCol="0" anchor="ctr"/>
          <a:lstStyle/>
          <a:p>
            <a:pPr marL="0" indent="0" algn="ctr">
              <a:buNone/>
            </a:pPr>
            <a:r>
              <a:rPr lang="en-US" sz="1400" b="1">
                <a:solidFill>
                  <a:srgbClr val="0A3D2E"/>
                </a:solidFill>
                <a:latin typeface="Cambria" pitchFamily="34" charset="0"/>
                <a:ea typeface="Cambria" pitchFamily="34" charset="-122"/>
                <a:cs typeface="Cambria" pitchFamily="34" charset="-120"/>
              </a:rPr>
              <a:t>3</a:t>
            </a:r>
            <a:endParaRPr lang="en-US" sz="1400"/>
          </a:p>
        </p:txBody>
      </p:sp>
      <p:sp>
        <p:nvSpPr>
          <p:cNvPr id="33" name="Text 31"/>
          <p:cNvSpPr txBox="1"/>
          <p:nvPr/>
        </p:nvSpPr>
        <p:spPr>
          <a:xfrm>
            <a:off x="4736592" y="1371600"/>
            <a:ext cx="1755648" cy="502920"/>
          </a:xfrm>
          <a:prstGeom prst="rect">
            <a:avLst/>
          </a:prstGeom>
          <a:noFill/>
          <a:ln/>
        </p:spPr>
        <p:txBody>
          <a:bodyPr wrap="square" lIns="0" tIns="0" rIns="0" bIns="0" rtlCol="0" anchor="t"/>
          <a:lstStyle/>
          <a:p>
            <a:pPr marL="0" indent="0">
              <a:buNone/>
            </a:pPr>
            <a:r>
              <a:rPr lang="en-US" sz="1250" b="1">
                <a:solidFill>
                  <a:srgbClr val="0A3D2E"/>
                </a:solidFill>
                <a:latin typeface="Cambria" pitchFamily="34" charset="0"/>
                <a:ea typeface="Cambria" pitchFamily="34" charset="-122"/>
                <a:cs typeface="Cambria" pitchFamily="34" charset="-120"/>
              </a:rPr>
              <a:t>PERFORMANCE CHANGES WITH THE MARKET</a:t>
            </a:r>
            <a:endParaRPr lang="en-US" sz="1250"/>
          </a:p>
        </p:txBody>
      </p:sp>
      <p:sp>
        <p:nvSpPr>
          <p:cNvPr id="34" name="Text 32"/>
          <p:cNvSpPr txBox="1"/>
          <p:nvPr/>
        </p:nvSpPr>
        <p:spPr>
          <a:xfrm>
            <a:off x="4736592" y="1920240"/>
            <a:ext cx="1755648" cy="1600200"/>
          </a:xfrm>
          <a:prstGeom prst="rect">
            <a:avLst/>
          </a:prstGeom>
          <a:noFill/>
          <a:ln/>
        </p:spPr>
        <p:txBody>
          <a:bodyPr wrap="square" lIns="0" tIns="0" rIns="0" bIns="0" rtlCol="0" anchor="t"/>
          <a:lstStyle/>
          <a:p>
            <a:pPr marL="0" indent="0">
              <a:buNone/>
            </a:pPr>
            <a:r>
              <a:rPr lang="en-US" sz="1150">
                <a:solidFill>
                  <a:srgbClr val="1B2A24"/>
                </a:solidFill>
                <a:latin typeface="Calibri" pitchFamily="34" charset="0"/>
                <a:ea typeface="Calibri" pitchFamily="34" charset="-122"/>
                <a:cs typeface="Calibri" pitchFamily="34" charset="-120"/>
              </a:rPr>
              <a:t>Damped Holt did well in validation and 2023–24 but did not beat persistence in 2025, when 11 of 15 players lost value.</a:t>
            </a:r>
            <a:endParaRPr lang="en-US" sz="1150"/>
          </a:p>
        </p:txBody>
      </p:sp>
      <p:sp>
        <p:nvSpPr>
          <p:cNvPr id="35" name="Shape 33"/>
          <p:cNvSpPr/>
          <p:nvPr/>
        </p:nvSpPr>
        <p:spPr>
          <a:xfrm>
            <a:off x="6711696" y="868680"/>
            <a:ext cx="1965960" cy="2697480"/>
          </a:xfrm>
          <a:prstGeom prst="roundRect">
            <a:avLst>
              <a:gd name="adj" fmla="val 3721"/>
            </a:avLst>
          </a:prstGeom>
          <a:solidFill>
            <a:srgbClr val="FFFFFF"/>
          </a:solidFill>
          <a:ln w="9525">
            <a:solidFill>
              <a:srgbClr val="D5E0DA"/>
            </a:solidFill>
            <a:prstDash val="solid"/>
          </a:ln>
        </p:spPr>
        <p:txBody>
          <a:bodyPr/>
          <a:lstStyle/>
          <a:p>
            <a:endParaRPr lang="en-US"/>
          </a:p>
        </p:txBody>
      </p:sp>
      <p:sp>
        <p:nvSpPr>
          <p:cNvPr id="36" name="Shape 34"/>
          <p:cNvSpPr/>
          <p:nvPr/>
        </p:nvSpPr>
        <p:spPr>
          <a:xfrm>
            <a:off x="6821424" y="960120"/>
            <a:ext cx="329184" cy="329184"/>
          </a:xfrm>
          <a:prstGeom prst="ellipse">
            <a:avLst/>
          </a:prstGeom>
          <a:solidFill>
            <a:srgbClr val="F2A900"/>
          </a:solidFill>
          <a:ln w="12700">
            <a:solidFill>
              <a:srgbClr val="F2A900"/>
            </a:solidFill>
            <a:prstDash val="solid"/>
          </a:ln>
        </p:spPr>
        <p:txBody>
          <a:bodyPr/>
          <a:lstStyle/>
          <a:p>
            <a:endParaRPr lang="en-US"/>
          </a:p>
        </p:txBody>
      </p:sp>
      <p:sp>
        <p:nvSpPr>
          <p:cNvPr id="37" name="Text 35"/>
          <p:cNvSpPr txBox="1"/>
          <p:nvPr/>
        </p:nvSpPr>
        <p:spPr>
          <a:xfrm>
            <a:off x="6821424" y="960120"/>
            <a:ext cx="329184" cy="329184"/>
          </a:xfrm>
          <a:prstGeom prst="rect">
            <a:avLst/>
          </a:prstGeom>
          <a:noFill/>
          <a:ln/>
        </p:spPr>
        <p:txBody>
          <a:bodyPr wrap="square" lIns="0" tIns="0" rIns="0" bIns="0" rtlCol="0" anchor="ctr"/>
          <a:lstStyle/>
          <a:p>
            <a:pPr marL="0" indent="0" algn="ctr">
              <a:buNone/>
            </a:pPr>
            <a:r>
              <a:rPr lang="en-US" sz="1400" b="1">
                <a:solidFill>
                  <a:srgbClr val="0A3D2E"/>
                </a:solidFill>
                <a:latin typeface="Cambria" pitchFamily="34" charset="0"/>
                <a:ea typeface="Cambria" pitchFamily="34" charset="-122"/>
                <a:cs typeface="Cambria" pitchFamily="34" charset="-120"/>
              </a:rPr>
              <a:t>4</a:t>
            </a:r>
            <a:endParaRPr lang="en-US" sz="1400"/>
          </a:p>
        </p:txBody>
      </p:sp>
      <p:sp>
        <p:nvSpPr>
          <p:cNvPr id="38" name="Text 36"/>
          <p:cNvSpPr txBox="1"/>
          <p:nvPr/>
        </p:nvSpPr>
        <p:spPr>
          <a:xfrm>
            <a:off x="6821424" y="1371600"/>
            <a:ext cx="1755648" cy="502920"/>
          </a:xfrm>
          <a:prstGeom prst="rect">
            <a:avLst/>
          </a:prstGeom>
          <a:noFill/>
          <a:ln/>
        </p:spPr>
        <p:txBody>
          <a:bodyPr wrap="square" lIns="0" tIns="0" rIns="0" bIns="0" rtlCol="0" anchor="t"/>
          <a:lstStyle/>
          <a:p>
            <a:pPr marL="0" indent="0">
              <a:buNone/>
            </a:pPr>
            <a:r>
              <a:rPr lang="en-US" sz="1250" b="1">
                <a:solidFill>
                  <a:srgbClr val="0A3D2E"/>
                </a:solidFill>
                <a:latin typeface="Cambria" pitchFamily="34" charset="0"/>
                <a:ea typeface="Cambria" pitchFamily="34" charset="-122"/>
                <a:cs typeface="Cambria" pitchFamily="34" charset="-120"/>
              </a:rPr>
              <a:t>UNCERTAINTY REMAINS HIGH</a:t>
            </a:r>
            <a:endParaRPr lang="en-US" sz="1250"/>
          </a:p>
        </p:txBody>
      </p:sp>
      <p:sp>
        <p:nvSpPr>
          <p:cNvPr id="39" name="Text 37"/>
          <p:cNvSpPr txBox="1"/>
          <p:nvPr/>
        </p:nvSpPr>
        <p:spPr>
          <a:xfrm>
            <a:off x="6821424" y="1920240"/>
            <a:ext cx="1755648" cy="1600200"/>
          </a:xfrm>
          <a:prstGeom prst="rect">
            <a:avLst/>
          </a:prstGeom>
          <a:noFill/>
          <a:ln/>
        </p:spPr>
        <p:txBody>
          <a:bodyPr wrap="square" lIns="0" tIns="0" rIns="0" bIns="0" rtlCol="0" anchor="t"/>
          <a:lstStyle/>
          <a:p>
            <a:pPr marL="0" indent="0">
              <a:buNone/>
            </a:pPr>
            <a:r>
              <a:rPr lang="en-US" sz="1150">
                <a:solidFill>
                  <a:srgbClr val="1B2A24"/>
                </a:solidFill>
                <a:latin typeface="Calibri" pitchFamily="34" charset="0"/>
                <a:ea typeface="Calibri" pitchFamily="34" charset="-122"/>
                <a:cs typeface="Calibri" pitchFamily="34" charset="-120"/>
              </a:rPr>
              <a:t>The 80% range is wide and was calibrated in a rising market. In 2025 all 10 values outside it were below the lower bound.</a:t>
            </a:r>
            <a:endParaRPr lang="en-US" sz="1150"/>
          </a:p>
        </p:txBody>
      </p:sp>
      <p:sp>
        <p:nvSpPr>
          <p:cNvPr id="40" name="Text 38"/>
          <p:cNvSpPr txBox="1"/>
          <p:nvPr/>
        </p:nvSpPr>
        <p:spPr>
          <a:xfrm>
            <a:off x="457200" y="3675888"/>
            <a:ext cx="2743200" cy="228600"/>
          </a:xfrm>
          <a:prstGeom prst="rect">
            <a:avLst/>
          </a:prstGeom>
          <a:noFill/>
          <a:ln/>
        </p:spPr>
        <p:txBody>
          <a:bodyPr wrap="square" lIns="0" tIns="0" rIns="0" bIns="0" rtlCol="0" anchor="t"/>
          <a:lstStyle/>
          <a:p>
            <a:pPr marL="0" indent="0">
              <a:buNone/>
            </a:pPr>
            <a:r>
              <a:rPr lang="en-US" sz="1200" b="1">
                <a:solidFill>
                  <a:srgbClr val="1F7A4F"/>
                </a:solidFill>
                <a:latin typeface="Calibri" pitchFamily="34" charset="0"/>
                <a:ea typeface="Calibri" pitchFamily="34" charset="-122"/>
                <a:cs typeface="Calibri" pitchFamily="34" charset="-120"/>
              </a:rPr>
              <a:t>NEXT STEPS</a:t>
            </a:r>
            <a:endParaRPr lang="en-US" sz="1200"/>
          </a:p>
        </p:txBody>
      </p:sp>
      <p:sp>
        <p:nvSpPr>
          <p:cNvPr id="41" name="Shape 39"/>
          <p:cNvSpPr/>
          <p:nvPr/>
        </p:nvSpPr>
        <p:spPr>
          <a:xfrm>
            <a:off x="457200" y="3931920"/>
            <a:ext cx="1965960" cy="685800"/>
          </a:xfrm>
          <a:prstGeom prst="roundRect">
            <a:avLst>
              <a:gd name="adj" fmla="val 10667"/>
            </a:avLst>
          </a:prstGeom>
          <a:solidFill>
            <a:srgbClr val="0A3D2E"/>
          </a:solidFill>
          <a:ln w="9525">
            <a:solidFill>
              <a:srgbClr val="0A3D2E"/>
            </a:solidFill>
            <a:prstDash val="solid"/>
          </a:ln>
        </p:spPr>
        <p:txBody>
          <a:bodyPr/>
          <a:lstStyle/>
          <a:p>
            <a:endParaRPr lang="en-US"/>
          </a:p>
        </p:txBody>
      </p:sp>
      <p:sp>
        <p:nvSpPr>
          <p:cNvPr id="42" name="Text 40"/>
          <p:cNvSpPr txBox="1"/>
          <p:nvPr/>
        </p:nvSpPr>
        <p:spPr>
          <a:xfrm>
            <a:off x="548640" y="3931920"/>
            <a:ext cx="1783080" cy="68580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Expand player pool</a:t>
            </a:r>
            <a:endParaRPr lang="en-US" sz="1200"/>
          </a:p>
        </p:txBody>
      </p:sp>
      <p:sp>
        <p:nvSpPr>
          <p:cNvPr id="43" name="Text 41"/>
          <p:cNvSpPr txBox="1"/>
          <p:nvPr/>
        </p:nvSpPr>
        <p:spPr>
          <a:xfrm>
            <a:off x="2423160" y="4023360"/>
            <a:ext cx="118872" cy="457200"/>
          </a:xfrm>
          <a:prstGeom prst="rect">
            <a:avLst/>
          </a:prstGeom>
          <a:noFill/>
          <a:ln/>
        </p:spPr>
        <p:txBody>
          <a:bodyPr wrap="square" lIns="0" tIns="0" rIns="0" bIns="0" rtlCol="0" anchor="t"/>
          <a:lstStyle/>
          <a:p>
            <a:pPr marL="0" indent="0" algn="ctr">
              <a:buNone/>
            </a:pPr>
            <a:r>
              <a:rPr lang="en-US" sz="1400" b="1">
                <a:solidFill>
                  <a:srgbClr val="F2A900"/>
                </a:solidFill>
                <a:latin typeface="Calibri" pitchFamily="34" charset="0"/>
                <a:ea typeface="Calibri" pitchFamily="34" charset="-122"/>
                <a:cs typeface="Calibri" pitchFamily="34" charset="-120"/>
              </a:rPr>
              <a:t>+</a:t>
            </a:r>
            <a:endParaRPr lang="en-US" sz="1400"/>
          </a:p>
        </p:txBody>
      </p:sp>
      <p:sp>
        <p:nvSpPr>
          <p:cNvPr id="44" name="Shape 42"/>
          <p:cNvSpPr/>
          <p:nvPr/>
        </p:nvSpPr>
        <p:spPr>
          <a:xfrm>
            <a:off x="2542032" y="3931920"/>
            <a:ext cx="1965960" cy="685800"/>
          </a:xfrm>
          <a:prstGeom prst="roundRect">
            <a:avLst>
              <a:gd name="adj" fmla="val 10667"/>
            </a:avLst>
          </a:prstGeom>
          <a:solidFill>
            <a:srgbClr val="0A3D2E"/>
          </a:solidFill>
          <a:ln w="9525">
            <a:solidFill>
              <a:srgbClr val="0A3D2E"/>
            </a:solidFill>
            <a:prstDash val="solid"/>
          </a:ln>
        </p:spPr>
        <p:txBody>
          <a:bodyPr/>
          <a:lstStyle/>
          <a:p>
            <a:endParaRPr lang="en-US"/>
          </a:p>
        </p:txBody>
      </p:sp>
      <p:sp>
        <p:nvSpPr>
          <p:cNvPr id="45" name="Text 43"/>
          <p:cNvSpPr txBox="1"/>
          <p:nvPr/>
        </p:nvSpPr>
        <p:spPr>
          <a:xfrm>
            <a:off x="2633472" y="3931920"/>
            <a:ext cx="1783080" cy="68580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Use actual transfer fees</a:t>
            </a:r>
            <a:endParaRPr lang="en-US" sz="1200"/>
          </a:p>
        </p:txBody>
      </p:sp>
      <p:sp>
        <p:nvSpPr>
          <p:cNvPr id="46" name="Text 44"/>
          <p:cNvSpPr txBox="1"/>
          <p:nvPr/>
        </p:nvSpPr>
        <p:spPr>
          <a:xfrm>
            <a:off x="4507992" y="4023360"/>
            <a:ext cx="118872" cy="457200"/>
          </a:xfrm>
          <a:prstGeom prst="rect">
            <a:avLst/>
          </a:prstGeom>
          <a:noFill/>
          <a:ln/>
        </p:spPr>
        <p:txBody>
          <a:bodyPr wrap="square" lIns="0" tIns="0" rIns="0" bIns="0" rtlCol="0" anchor="t"/>
          <a:lstStyle/>
          <a:p>
            <a:pPr marL="0" indent="0" algn="ctr">
              <a:buNone/>
            </a:pPr>
            <a:r>
              <a:rPr lang="en-US" sz="1400" b="1">
                <a:solidFill>
                  <a:srgbClr val="F2A900"/>
                </a:solidFill>
                <a:latin typeface="Calibri" pitchFamily="34" charset="0"/>
                <a:ea typeface="Calibri" pitchFamily="34" charset="-122"/>
                <a:cs typeface="Calibri" pitchFamily="34" charset="-120"/>
              </a:rPr>
              <a:t>+</a:t>
            </a:r>
            <a:endParaRPr lang="en-US" sz="1400"/>
          </a:p>
        </p:txBody>
      </p:sp>
      <p:sp>
        <p:nvSpPr>
          <p:cNvPr id="47" name="Shape 45"/>
          <p:cNvSpPr/>
          <p:nvPr/>
        </p:nvSpPr>
        <p:spPr>
          <a:xfrm>
            <a:off x="4626864" y="3931920"/>
            <a:ext cx="1965960" cy="685800"/>
          </a:xfrm>
          <a:prstGeom prst="roundRect">
            <a:avLst>
              <a:gd name="adj" fmla="val 10667"/>
            </a:avLst>
          </a:prstGeom>
          <a:solidFill>
            <a:srgbClr val="0A3D2E"/>
          </a:solidFill>
          <a:ln w="9525">
            <a:solidFill>
              <a:srgbClr val="0A3D2E"/>
            </a:solidFill>
            <a:prstDash val="solid"/>
          </a:ln>
        </p:spPr>
        <p:txBody>
          <a:bodyPr/>
          <a:lstStyle/>
          <a:p>
            <a:endParaRPr lang="en-US"/>
          </a:p>
        </p:txBody>
      </p:sp>
      <p:sp>
        <p:nvSpPr>
          <p:cNvPr id="48" name="Text 46"/>
          <p:cNvSpPr txBox="1"/>
          <p:nvPr/>
        </p:nvSpPr>
        <p:spPr>
          <a:xfrm>
            <a:off x="4718304" y="3931920"/>
            <a:ext cx="1783080" cy="68580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Add performance, injury, contract data</a:t>
            </a:r>
            <a:endParaRPr lang="en-US" sz="1200"/>
          </a:p>
        </p:txBody>
      </p:sp>
      <p:sp>
        <p:nvSpPr>
          <p:cNvPr id="49" name="Text 47"/>
          <p:cNvSpPr txBox="1"/>
          <p:nvPr/>
        </p:nvSpPr>
        <p:spPr>
          <a:xfrm>
            <a:off x="6592824" y="4023360"/>
            <a:ext cx="118872" cy="457200"/>
          </a:xfrm>
          <a:prstGeom prst="rect">
            <a:avLst/>
          </a:prstGeom>
          <a:noFill/>
          <a:ln/>
        </p:spPr>
        <p:txBody>
          <a:bodyPr wrap="square" lIns="0" tIns="0" rIns="0" bIns="0" rtlCol="0" anchor="t"/>
          <a:lstStyle/>
          <a:p>
            <a:pPr marL="0" indent="0" algn="ctr">
              <a:buNone/>
            </a:pPr>
            <a:r>
              <a:rPr lang="en-US" sz="1400" b="1">
                <a:solidFill>
                  <a:srgbClr val="F2A900"/>
                </a:solidFill>
                <a:latin typeface="Calibri" pitchFamily="34" charset="0"/>
                <a:ea typeface="Calibri" pitchFamily="34" charset="-122"/>
                <a:cs typeface="Calibri" pitchFamily="34" charset="-120"/>
              </a:rPr>
              <a:t>+</a:t>
            </a:r>
            <a:endParaRPr lang="en-US" sz="1400"/>
          </a:p>
        </p:txBody>
      </p:sp>
      <p:sp>
        <p:nvSpPr>
          <p:cNvPr id="50" name="Shape 48"/>
          <p:cNvSpPr/>
          <p:nvPr/>
        </p:nvSpPr>
        <p:spPr>
          <a:xfrm>
            <a:off x="6711696" y="3931920"/>
            <a:ext cx="1965960" cy="685800"/>
          </a:xfrm>
          <a:prstGeom prst="roundRect">
            <a:avLst>
              <a:gd name="adj" fmla="val 10667"/>
            </a:avLst>
          </a:prstGeom>
          <a:solidFill>
            <a:srgbClr val="0A3D2E"/>
          </a:solidFill>
          <a:ln w="9525">
            <a:solidFill>
              <a:srgbClr val="0A3D2E"/>
            </a:solidFill>
            <a:prstDash val="solid"/>
          </a:ln>
        </p:spPr>
        <p:txBody>
          <a:bodyPr/>
          <a:lstStyle/>
          <a:p>
            <a:endParaRPr lang="en-US"/>
          </a:p>
        </p:txBody>
      </p:sp>
      <p:sp>
        <p:nvSpPr>
          <p:cNvPr id="51" name="Text 49"/>
          <p:cNvSpPr txBox="1"/>
          <p:nvPr/>
        </p:nvSpPr>
        <p:spPr>
          <a:xfrm>
            <a:off x="6803136" y="3931920"/>
            <a:ext cx="1783080" cy="68580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Recalibrate uncertainty across market regimes</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Key numbers and conclusions</a:t>
            </a:r>
            <a:endParaRPr lang="en-US" sz="3400"/>
          </a:p>
        </p:txBody>
      </p:sp>
      <p:sp>
        <p:nvSpPr>
          <p:cNvPr id="4" name="output-card"/>
          <p:cNvSpPr/>
          <p:nvPr/>
        </p:nvSpPr>
        <p:spPr>
          <a:xfrm>
            <a:off x="457200" y="1188720"/>
            <a:ext cx="4206240" cy="3566160"/>
          </a:xfrm>
          <a:prstGeom prst="roundRect">
            <a:avLst>
              <a:gd name="adj" fmla="val 2051"/>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5" name="Image 0" descr="Notebook output: key numbers table with cohort players, panel rows, final model, validation, test and 2025 scores, 14 of 15, 20 of 30; and the saved CSV file names"/>
          <p:cNvPicPr>
            <a:picLocks noChangeAspect="1"/>
          </p:cNvPicPr>
          <p:nvPr/>
        </p:nvPicPr>
        <p:blipFill>
          <a:blip r:embed="rId3"/>
          <a:stretch>
            <a:fillRect/>
          </a:stretch>
        </p:blipFill>
        <p:spPr>
          <a:xfrm>
            <a:off x="548640" y="1672265"/>
            <a:ext cx="4023360" cy="2599070"/>
          </a:xfrm>
          <a:prstGeom prst="rect">
            <a:avLst/>
          </a:prstGeom>
        </p:spPr>
      </p:pic>
      <p:sp>
        <p:nvSpPr>
          <p:cNvPr id="6" name="takeaways-card"/>
          <p:cNvSpPr/>
          <p:nvPr/>
        </p:nvSpPr>
        <p:spPr>
          <a:xfrm>
            <a:off x="4846320" y="1188720"/>
            <a:ext cx="3840480" cy="3566160"/>
          </a:xfrm>
          <a:prstGeom prst="roundRect">
            <a:avLst>
              <a:gd name="adj" fmla="val 2051"/>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3"/>
          <p:cNvSpPr txBox="1"/>
          <p:nvPr/>
        </p:nvSpPr>
        <p:spPr>
          <a:xfrm>
            <a:off x="5029200" y="1298448"/>
            <a:ext cx="3520440" cy="274320"/>
          </a:xfrm>
          <a:prstGeom prst="rect">
            <a:avLst/>
          </a:prstGeom>
          <a:noFill/>
          <a:ln/>
        </p:spPr>
        <p:txBody>
          <a:bodyPr wrap="square" lIns="0" tIns="0" rIns="0" bIns="0" rtlCol="0" anchor="t"/>
          <a:lstStyle/>
          <a:p>
            <a:pPr marL="0" indent="0">
              <a:buNone/>
            </a:pPr>
            <a:r>
              <a:rPr lang="en-US" sz="1400" b="1">
                <a:solidFill>
                  <a:schemeClr val="tx2"/>
                </a:solidFill>
              </a:rPr>
              <a:t>Final takeaways for the presentation</a:t>
            </a:r>
            <a:endParaRPr lang="en-US" sz="1400"/>
          </a:p>
        </p:txBody>
      </p:sp>
      <p:sp>
        <p:nvSpPr>
          <p:cNvPr id="8" name="takeaway-dot-0"/>
          <p:cNvSpPr/>
          <p:nvPr/>
        </p:nvSpPr>
        <p:spPr>
          <a:xfrm>
            <a:off x="5047488" y="1801368"/>
            <a:ext cx="73152" cy="73152"/>
          </a:xfrm>
          <a:prstGeom prst="ellipse">
            <a:avLst/>
          </a:prstGeom>
          <a:solidFill>
            <a:schemeClr val="tx1"/>
          </a:solidFill>
          <a:ln w="12700">
            <a:solidFill>
              <a:schemeClr val="tx1"/>
            </a:solidFill>
            <a:prstDash val="solid"/>
          </a:ln>
        </p:spPr>
        <p:txBody>
          <a:bodyPr/>
          <a:lstStyle/>
          <a:p>
            <a:endParaRPr lang="en-US"/>
          </a:p>
        </p:txBody>
      </p:sp>
      <p:sp>
        <p:nvSpPr>
          <p:cNvPr id="9" name="Text 5"/>
          <p:cNvSpPr txBox="1"/>
          <p:nvPr/>
        </p:nvSpPr>
        <p:spPr>
          <a:xfrm>
            <a:off x="5230368" y="1737360"/>
            <a:ext cx="3291840" cy="621792"/>
          </a:xfrm>
          <a:prstGeom prst="rect">
            <a:avLst/>
          </a:prstGeom>
          <a:noFill/>
          <a:ln/>
        </p:spPr>
        <p:txBody>
          <a:bodyPr wrap="square" lIns="0" tIns="0" rIns="0" bIns="0" rtlCol="0" anchor="t"/>
          <a:lstStyle/>
          <a:p>
            <a:pPr marL="0" indent="0">
              <a:buNone/>
            </a:pPr>
            <a:r>
              <a:rPr lang="en-US" sz="1200">
                <a:solidFill>
                  <a:schemeClr val="tx1"/>
                </a:solidFill>
              </a:rPr>
              <a:t>The final model is selected on </a:t>
            </a:r>
            <a:r>
              <a:rPr lang="en-US" sz="1200" b="1">
                <a:solidFill>
                  <a:schemeClr val="tx1"/>
                </a:solidFill>
              </a:rPr>
              <a:t>earlier validation origins</a:t>
            </a:r>
            <a:r>
              <a:rPr lang="en-US" sz="1200">
                <a:solidFill>
                  <a:schemeClr val="tx1"/>
                </a:solidFill>
              </a:rPr>
              <a:t>, before the 2023–2024 test and the 2025 holdout are used.</a:t>
            </a:r>
            <a:endParaRPr lang="en-US" sz="1200"/>
          </a:p>
        </p:txBody>
      </p:sp>
      <p:sp>
        <p:nvSpPr>
          <p:cNvPr id="10" name="takeaway-dot-1"/>
          <p:cNvSpPr/>
          <p:nvPr/>
        </p:nvSpPr>
        <p:spPr>
          <a:xfrm>
            <a:off x="5047488" y="2514600"/>
            <a:ext cx="73152" cy="73152"/>
          </a:xfrm>
          <a:prstGeom prst="ellipse">
            <a:avLst/>
          </a:prstGeom>
          <a:solidFill>
            <a:schemeClr val="tx1"/>
          </a:solidFill>
          <a:ln w="12700">
            <a:solidFill>
              <a:schemeClr val="tx1"/>
            </a:solidFill>
            <a:prstDash val="solid"/>
          </a:ln>
        </p:spPr>
        <p:txBody>
          <a:bodyPr/>
          <a:lstStyle/>
          <a:p>
            <a:endParaRPr lang="en-US"/>
          </a:p>
        </p:txBody>
      </p:sp>
      <p:sp>
        <p:nvSpPr>
          <p:cNvPr id="11" name="Text 7"/>
          <p:cNvSpPr txBox="1"/>
          <p:nvPr/>
        </p:nvSpPr>
        <p:spPr>
          <a:xfrm>
            <a:off x="5230368" y="2450592"/>
            <a:ext cx="3291840" cy="621792"/>
          </a:xfrm>
          <a:prstGeom prst="rect">
            <a:avLst/>
          </a:prstGeom>
          <a:noFill/>
          <a:ln/>
        </p:spPr>
        <p:txBody>
          <a:bodyPr wrap="square" lIns="0" tIns="0" rIns="0" bIns="0" rtlCol="0" anchor="t"/>
          <a:lstStyle/>
          <a:p>
            <a:pPr marL="0" indent="0">
              <a:buNone/>
            </a:pPr>
            <a:r>
              <a:rPr lang="en-US" sz="1200" b="1">
                <a:solidFill>
                  <a:schemeClr val="tx1"/>
                </a:solidFill>
              </a:rPr>
              <a:t>No model is best in every period</a:t>
            </a:r>
            <a:r>
              <a:rPr lang="en-US" sz="1200">
                <a:solidFill>
                  <a:schemeClr val="tx1"/>
                </a:solidFill>
              </a:rPr>
              <a:t>: trend-based models do well when values rise, the pooled aging curve when they fall.</a:t>
            </a:r>
            <a:endParaRPr lang="en-US" sz="1200"/>
          </a:p>
        </p:txBody>
      </p:sp>
      <p:sp>
        <p:nvSpPr>
          <p:cNvPr id="12" name="takeaway-dot-2"/>
          <p:cNvSpPr/>
          <p:nvPr/>
        </p:nvSpPr>
        <p:spPr>
          <a:xfrm>
            <a:off x="5047488" y="3227832"/>
            <a:ext cx="73152" cy="73152"/>
          </a:xfrm>
          <a:prstGeom prst="ellipse">
            <a:avLst/>
          </a:prstGeom>
          <a:solidFill>
            <a:schemeClr val="tx1"/>
          </a:solidFill>
          <a:ln w="12700">
            <a:solidFill>
              <a:schemeClr val="tx1"/>
            </a:solidFill>
            <a:prstDash val="solid"/>
          </a:ln>
        </p:spPr>
        <p:txBody>
          <a:bodyPr/>
          <a:lstStyle/>
          <a:p>
            <a:endParaRPr lang="en-US"/>
          </a:p>
        </p:txBody>
      </p:sp>
      <p:sp>
        <p:nvSpPr>
          <p:cNvPr id="13" name="Text 9"/>
          <p:cNvSpPr txBox="1"/>
          <p:nvPr/>
        </p:nvSpPr>
        <p:spPr>
          <a:xfrm>
            <a:off x="5230368" y="3163824"/>
            <a:ext cx="3291840" cy="621792"/>
          </a:xfrm>
          <a:prstGeom prst="rect">
            <a:avLst/>
          </a:prstGeom>
          <a:noFill/>
          <a:ln/>
        </p:spPr>
        <p:txBody>
          <a:bodyPr wrap="square" lIns="0" tIns="0" rIns="0" bIns="0" rtlCol="0" anchor="t"/>
          <a:lstStyle/>
          <a:p>
            <a:pPr marL="0" indent="0">
              <a:buNone/>
            </a:pPr>
            <a:r>
              <a:rPr lang="en-US" sz="1200">
                <a:solidFill>
                  <a:schemeClr val="tx1"/>
                </a:solidFill>
              </a:rPr>
              <a:t>A </a:t>
            </a:r>
            <a:r>
              <a:rPr lang="en-US" sz="1200" b="1">
                <a:solidFill>
                  <a:schemeClr val="tx1"/>
                </a:solidFill>
              </a:rPr>
              <a:t>decision-support tool</a:t>
            </a:r>
            <a:r>
              <a:rPr lang="en-US" sz="1200">
                <a:solidFill>
                  <a:schemeClr val="tx1"/>
                </a:solidFill>
              </a:rPr>
              <a:t>, not a transfer-fee oracle: market value ignores contract leverage, injuries, club urgency and negotiation.</a:t>
            </a:r>
            <a:endParaRPr lang="en-US" sz="1200"/>
          </a:p>
        </p:txBody>
      </p:sp>
      <p:sp>
        <p:nvSpPr>
          <p:cNvPr id="14" name="takeaway-dot-3"/>
          <p:cNvSpPr/>
          <p:nvPr/>
        </p:nvSpPr>
        <p:spPr>
          <a:xfrm>
            <a:off x="5047488" y="3941064"/>
            <a:ext cx="73152" cy="73152"/>
          </a:xfrm>
          <a:prstGeom prst="ellipse">
            <a:avLst/>
          </a:prstGeom>
          <a:solidFill>
            <a:schemeClr val="tx1"/>
          </a:solidFill>
          <a:ln w="12700">
            <a:solidFill>
              <a:schemeClr val="tx1"/>
            </a:solidFill>
            <a:prstDash val="solid"/>
          </a:ln>
        </p:spPr>
        <p:txBody>
          <a:bodyPr/>
          <a:lstStyle/>
          <a:p>
            <a:endParaRPr lang="en-US"/>
          </a:p>
        </p:txBody>
      </p:sp>
      <p:sp>
        <p:nvSpPr>
          <p:cNvPr id="15" name="Text 11"/>
          <p:cNvSpPr txBox="1"/>
          <p:nvPr/>
        </p:nvSpPr>
        <p:spPr>
          <a:xfrm>
            <a:off x="5230368" y="3877056"/>
            <a:ext cx="3291840" cy="621792"/>
          </a:xfrm>
          <a:prstGeom prst="rect">
            <a:avLst/>
          </a:prstGeom>
          <a:noFill/>
          <a:ln/>
        </p:spPr>
        <p:txBody>
          <a:bodyPr wrap="square" lIns="0" tIns="0" rIns="0" bIns="0" rtlCol="0" anchor="t"/>
          <a:lstStyle/>
          <a:p>
            <a:pPr marL="0" indent="0">
              <a:buNone/>
            </a:pPr>
            <a:r>
              <a:rPr lang="en-US" sz="1200">
                <a:solidFill>
                  <a:schemeClr val="tx1"/>
                </a:solidFill>
              </a:rPr>
              <a:t>The cohort is small and quality-selected, and the uncertainty band is shown because point forecasts alone overstate precision.</a:t>
            </a:r>
            <a:endParaRPr lang="en-US" sz="120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A9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Phil Foden</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Premier League  ·  Value at the end of 2024: €140.0M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Phil Foden"/>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€149.3M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€108.8M to €350.2M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€100.0M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€158.5M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€97.0M to €460.1M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€80.0M  below the range</a:t>
            </a:r>
            <a:endParaRPr lang="en-US"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Loïs Openda</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Serie A  ·  Value at the end of 2024: €60.0M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Loïs Openda"/>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€59.5M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€43.3M to €139.5M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€50.0M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€58.8M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€36.0M to €170.8M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€40.0M  </a:t>
            </a:r>
            <a:r>
              <a:rPr lang="en-US" sz="1200" b="1">
                <a:solidFill>
                  <a:srgbClr val="1F7A4D"/>
                </a:solidFill>
              </a:rPr>
              <a:t>inside the range</a:t>
            </a:r>
            <a:endParaRPr lang="en-US" sz="12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Marcus Rashford</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La Liga  ·  Value at the end of 2024: €55.0M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Marcus Rashford"/>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€55.6M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€40.5M to €130.4M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€50.0M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€56.1M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€34.3M to €162.9M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€40.0M  </a:t>
            </a:r>
            <a:r>
              <a:rPr lang="en-US" sz="1200" b="1">
                <a:solidFill>
                  <a:srgbClr val="1F7A4D"/>
                </a:solidFill>
              </a:rPr>
              <a:t>inside the range</a:t>
            </a:r>
            <a:endParaRPr lang="en-US"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Pedro Neto</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Premier League  ·  Value at the end of 2024: €55.0M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Pedro Neto"/>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€58.5M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€42.6M to €137.1M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€50.0M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€61.9M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€37.9M to €179.7M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€60.0M  </a:t>
            </a:r>
            <a:r>
              <a:rPr lang="en-US" sz="1200" b="1">
                <a:solidFill>
                  <a:srgbClr val="1F7A4D"/>
                </a:solidFill>
              </a:rPr>
              <a:t>inside the range</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Ronald Araujo</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La Liga  ·  Value at the end of 2024: €55.0M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Ronald Araujo"/>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€47.3M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€34.5M to €111.1M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€35.0M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€38.0M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€23.2M to €110.3M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€25.0M  </a:t>
            </a:r>
            <a:r>
              <a:rPr lang="en-US" sz="1200" b="1">
                <a:solidFill>
                  <a:srgbClr val="1F7A4D"/>
                </a:solidFill>
              </a:rPr>
              <a:t>inside the range</a:t>
            </a:r>
            <a:endParaRPr lang="en-US" sz="1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Matheus Cunha</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Premier League  ·  Value at the end of 2024: €50.0M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Matheus Cunha"/>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€52.7M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€38.4M to €123.7M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€60.0M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€55.8M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€34.2M to €162.2M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€70.0M  </a:t>
            </a:r>
            <a:r>
              <a:rPr lang="en-US" sz="1200" b="1">
                <a:solidFill>
                  <a:srgbClr val="1F7A4D"/>
                </a:solidFill>
              </a:rPr>
              <a:t>inside the range</a:t>
            </a:r>
            <a:endParaRPr lang="en-US" sz="12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Oihan Sancet</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La Liga  ·  Value at the end of 2024: €50.0M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Oihan Sancet"/>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€51.9M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€37.8M to €121.8M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€60.0M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€58.3M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€35.7M to €169.2M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€40.0M  </a:t>
            </a:r>
            <a:r>
              <a:rPr lang="en-US" sz="1200" b="1">
                <a:solidFill>
                  <a:srgbClr val="1F7A4D"/>
                </a:solidFill>
              </a:rPr>
              <a:t>inside the range</a:t>
            </a:r>
            <a:endParaRPr lang="en-US" sz="12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Teun Koopmeiners</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Serie A  ·  Value at the end of 2024: €50.0M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Teun Koopmeiners"/>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€53.5M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€39.0M to €125.4M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€35.0M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€56.6M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€34.6M to €164.3M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€28.0M  below the range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Khéphren Thuram</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Serie A  ·  Value at the end of 2024: €35.0M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Khéphren Thuram"/>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€34.8M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€25.4M to €81.6M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€40.0M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€34.7M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€21.2M to €100.8M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€40.0M  </a:t>
            </a:r>
            <a:r>
              <a:rPr lang="en-US" sz="1200" b="1">
                <a:solidFill>
                  <a:srgbClr val="1F7A4D"/>
                </a:solidFill>
              </a:rPr>
              <a:t>inside the range</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Nayef Aguerd</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Ligue 1  ·  Value at the end of 2024: €35.0M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Nayef Aguerd"/>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€34.2M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€24.9M to €80.1M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€18.0M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€33.8M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€20.7M to €98.1M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€22.0M  </a:t>
            </a:r>
            <a:r>
              <a:rPr lang="en-US" sz="1200" b="1">
                <a:solidFill>
                  <a:srgbClr val="1F7A4D"/>
                </a:solidFill>
              </a:rPr>
              <a:t>inside the range</a:t>
            </a:r>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Serge Gnabry</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Bundesliga  ·  Value at the end of 2024: €35.0M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Serge Gnabry"/>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€32.0M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€23.3M to €75.1M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€22.0M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€29.2M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€17.9M to €84.9M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€20.0M  </a:t>
            </a:r>
            <a:r>
              <a:rPr lang="en-US" sz="1200" b="1">
                <a:solidFill>
                  <a:srgbClr val="1F7A4D"/>
                </a:solidFill>
              </a:rPr>
              <a:t>inside the range</a:t>
            </a:r>
            <a:endParaRPr lang="en-US" sz="12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Kang-in Lee</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Ligue 1  ·  Value at the end of 2024: €30.0M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Kang-in Lee"/>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€32.1M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€23.4M to €75.4M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€25.0M  </a:t>
            </a:r>
            <a:r>
              <a:rPr lang="en-US" sz="1200" b="1">
                <a:solidFill>
                  <a:srgbClr val="1F7A4D"/>
                </a:solidFill>
              </a:rPr>
              <a:t>inside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€34.2M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€21.0M to €99.5M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€25.0M  </a:t>
            </a:r>
            <a:r>
              <a:rPr lang="en-US" sz="1200" b="1">
                <a:solidFill>
                  <a:srgbClr val="1F7A4D"/>
                </a:solidFill>
              </a:rPr>
              <a:t>inside the range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Waldemar Anton</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Bundesliga  ·  Value at the end of 2024: €24.0M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Waldemar Anton"/>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€27.5M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€20.0M to €64.5M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€18.0M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€29.7M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€18.2M to €86.2M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€18.0M  below the range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Christoph Baumgartner</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Bundesliga  ·  Value at the end of 2024: €18.0M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Christoph Baumgartner"/>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€17.6M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€12.8M to €41.3M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€12.0M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€17.3M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€10.6M to €50.3M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€20.0M  </a:t>
            </a:r>
            <a:r>
              <a:rPr lang="en-US" sz="1200" b="1">
                <a:solidFill>
                  <a:srgbClr val="1F7A4D"/>
                </a:solidFill>
              </a:rPr>
              <a:t>inside the range</a:t>
            </a:r>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Jordan Teze</a:t>
            </a:r>
            <a:endParaRPr lang="en-US" sz="3400"/>
          </a:p>
        </p:txBody>
      </p:sp>
      <p:pic>
        <p:nvPicPr>
          <p:cNvPr id="3" name="Image 0" descr="football"/>
          <p:cNvPicPr>
            <a:picLocks noChangeAspect="1"/>
          </p:cNvPicPr>
          <p:nvPr/>
        </p:nvPicPr>
        <p:blipFill>
          <a:blip r:embed="rId3"/>
          <a:stretch>
            <a:fillRect/>
          </a:stretch>
        </p:blipFill>
        <p:spPr>
          <a:xfrm>
            <a:off x="6446520" y="429768"/>
            <a:ext cx="457200" cy="457200"/>
          </a:xfrm>
          <a:prstGeom prst="rect">
            <a:avLst/>
          </a:prstGeom>
        </p:spPr>
      </p:pic>
      <p:sp>
        <p:nvSpPr>
          <p:cNvPr id="5" name="Text 1"/>
          <p:cNvSpPr txBox="1"/>
          <p:nvPr/>
        </p:nvSpPr>
        <p:spPr>
          <a:xfrm>
            <a:off x="457200" y="1005840"/>
            <a:ext cx="5943600" cy="274320"/>
          </a:xfrm>
          <a:prstGeom prst="rect">
            <a:avLst/>
          </a:prstGeom>
          <a:noFill/>
          <a:ln/>
        </p:spPr>
        <p:txBody>
          <a:bodyPr wrap="square" lIns="0" tIns="0" rIns="0" bIns="0" rtlCol="0" anchor="t"/>
          <a:lstStyle/>
          <a:p>
            <a:pPr marL="0" indent="0">
              <a:buNone/>
            </a:pPr>
            <a:r>
              <a:rPr lang="en-US" sz="1400">
                <a:solidFill>
                  <a:srgbClr val="8A9A94"/>
                </a:solidFill>
              </a:rPr>
              <a:t>Ligue 1  ·  Value at the end of 2024: €15.0M</a:t>
            </a:r>
            <a:endParaRPr lang="en-US" sz="1400"/>
          </a:p>
        </p:txBody>
      </p:sp>
      <p:sp>
        <p:nvSpPr>
          <p:cNvPr id="6" name="back-btn">
            <a:hlinkClick r:id="rId4" action="ppaction://hlinksldjump" tooltip="Back to the player list"/>
          </p:cNvPr>
          <p:cNvSpPr txBox="1"/>
          <p:nvPr/>
        </p:nvSpPr>
        <p:spPr>
          <a:xfrm>
            <a:off x="7040880" y="411480"/>
            <a:ext cx="1645920" cy="411480"/>
          </a:xfrm>
          <a:prstGeom prst="roundRect">
            <a:avLst>
              <a:gd name="adj" fmla="val 17778"/>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 All players</a:t>
            </a:r>
            <a:endParaRPr lang="en-US" sz="1300"/>
          </a:p>
        </p:txBody>
      </p:sp>
      <p:sp>
        <p:nvSpPr>
          <p:cNvPr id="7" name="chart-card"/>
          <p:cNvSpPr/>
          <p:nvPr/>
        </p:nvSpPr>
        <p:spPr>
          <a:xfrm>
            <a:off x="457200" y="1417320"/>
            <a:ext cx="5120640" cy="3017520"/>
          </a:xfrm>
          <a:prstGeom prst="roundRect">
            <a:avLst>
              <a:gd name="adj" fmla="val 2424"/>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8" name="Image 1" descr="Value history, forecast with 80% range and real 2025 values for Jordan Teze"/>
          <p:cNvPicPr>
            <a:picLocks noChangeAspect="1"/>
          </p:cNvPicPr>
          <p:nvPr/>
        </p:nvPicPr>
        <p:blipFill>
          <a:blip r:embed="rId5"/>
          <a:stretch>
            <a:fillRect/>
          </a:stretch>
        </p:blipFill>
        <p:spPr>
          <a:xfrm>
            <a:off x="548640" y="1490472"/>
            <a:ext cx="4937760" cy="2798064"/>
          </a:xfrm>
          <a:prstGeom prst="rect">
            <a:avLst/>
          </a:prstGeom>
        </p:spPr>
      </p:pic>
      <p:sp>
        <p:nvSpPr>
          <p:cNvPr id="9" name="forecast-card-2"/>
          <p:cNvSpPr/>
          <p:nvPr/>
        </p:nvSpPr>
        <p:spPr>
          <a:xfrm>
            <a:off x="5760720" y="141732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0" name="Image 2" descr="whistle"/>
          <p:cNvPicPr>
            <a:picLocks noChangeAspect="1"/>
          </p:cNvPicPr>
          <p:nvPr/>
        </p:nvPicPr>
        <p:blipFill>
          <a:blip r:embed="rId6"/>
          <a:stretch>
            <a:fillRect/>
          </a:stretch>
        </p:blipFill>
        <p:spPr>
          <a:xfrm>
            <a:off x="8275320" y="1490472"/>
            <a:ext cx="274320" cy="274320"/>
          </a:xfrm>
          <a:prstGeom prst="rect">
            <a:avLst/>
          </a:prstGeom>
        </p:spPr>
      </p:pic>
      <p:sp>
        <p:nvSpPr>
          <p:cNvPr id="11" name="Text 5"/>
          <p:cNvSpPr txBox="1"/>
          <p:nvPr/>
        </p:nvSpPr>
        <p:spPr>
          <a:xfrm>
            <a:off x="5943600" y="1508760"/>
            <a:ext cx="2560320" cy="228600"/>
          </a:xfrm>
          <a:prstGeom prst="rect">
            <a:avLst/>
          </a:prstGeom>
          <a:noFill/>
          <a:ln/>
        </p:spPr>
        <p:txBody>
          <a:bodyPr wrap="square" lIns="0" tIns="0" rIns="0" bIns="0" rtlCol="0" anchor="t"/>
          <a:lstStyle/>
          <a:p>
            <a:pPr marL="0" indent="0">
              <a:buNone/>
            </a:pPr>
            <a:r>
              <a:rPr lang="en-US" sz="1200" b="1">
                <a:solidFill>
                  <a:schemeClr val="accent1"/>
                </a:solidFill>
              </a:rPr>
              <a:t>6 months ahead  ·  2025Q2</a:t>
            </a:r>
            <a:endParaRPr lang="en-US" sz="1200"/>
          </a:p>
        </p:txBody>
      </p:sp>
      <p:sp>
        <p:nvSpPr>
          <p:cNvPr id="12" name="Text 6"/>
          <p:cNvSpPr txBox="1"/>
          <p:nvPr/>
        </p:nvSpPr>
        <p:spPr>
          <a:xfrm>
            <a:off x="5943600" y="1764792"/>
            <a:ext cx="2560320" cy="457200"/>
          </a:xfrm>
          <a:prstGeom prst="rect">
            <a:avLst/>
          </a:prstGeom>
          <a:noFill/>
          <a:ln/>
        </p:spPr>
        <p:txBody>
          <a:bodyPr wrap="square" lIns="0" tIns="0" rIns="0" bIns="0" rtlCol="0" anchor="t"/>
          <a:lstStyle/>
          <a:p>
            <a:pPr marL="0" indent="0">
              <a:buNone/>
            </a:pPr>
            <a:r>
              <a:rPr lang="en-US" sz="2600" b="1">
                <a:solidFill>
                  <a:schemeClr val="tx2"/>
                </a:solidFill>
              </a:rPr>
              <a:t>€16.0M</a:t>
            </a:r>
            <a:r>
              <a:rPr lang="en-US" sz="1200">
                <a:solidFill>
                  <a:srgbClr val="8A9A94"/>
                </a:solidFill>
              </a:rPr>
              <a:t>  forecast</a:t>
            </a:r>
            <a:endParaRPr lang="en-US" sz="1400"/>
          </a:p>
        </p:txBody>
      </p:sp>
      <p:sp>
        <p:nvSpPr>
          <p:cNvPr id="13" name="Text 7"/>
          <p:cNvSpPr txBox="1"/>
          <p:nvPr/>
        </p:nvSpPr>
        <p:spPr>
          <a:xfrm>
            <a:off x="5943600" y="2267712"/>
            <a:ext cx="2560320" cy="228600"/>
          </a:xfrm>
          <a:prstGeom prst="rect">
            <a:avLst/>
          </a:prstGeom>
          <a:noFill/>
          <a:ln/>
        </p:spPr>
        <p:txBody>
          <a:bodyPr wrap="square" lIns="0" tIns="0" rIns="0" bIns="0" rtlCol="0" anchor="t"/>
          <a:lstStyle/>
          <a:p>
            <a:pPr marL="0" indent="0">
              <a:buNone/>
            </a:pPr>
            <a:r>
              <a:rPr lang="en-US" sz="1200">
                <a:solidFill>
                  <a:schemeClr val="tx1"/>
                </a:solidFill>
              </a:rPr>
              <a:t>80% range: €11.7M to €37.6M</a:t>
            </a:r>
            <a:endParaRPr lang="en-US" sz="1200"/>
          </a:p>
        </p:txBody>
      </p:sp>
      <p:sp>
        <p:nvSpPr>
          <p:cNvPr id="14" name="Text 8"/>
          <p:cNvSpPr txBox="1"/>
          <p:nvPr/>
        </p:nvSpPr>
        <p:spPr>
          <a:xfrm>
            <a:off x="5943600" y="254203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€9.0M  below the range</a:t>
            </a:r>
            <a:endParaRPr lang="en-US" sz="1200"/>
          </a:p>
        </p:txBody>
      </p:sp>
      <p:sp>
        <p:nvSpPr>
          <p:cNvPr id="15" name="forecast-card-4"/>
          <p:cNvSpPr/>
          <p:nvPr/>
        </p:nvSpPr>
        <p:spPr>
          <a:xfrm>
            <a:off x="5760720" y="2971800"/>
            <a:ext cx="2926080" cy="1463040"/>
          </a:xfrm>
          <a:prstGeom prst="roundRect">
            <a:avLst>
              <a:gd name="adj" fmla="val 5000"/>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pic>
        <p:nvPicPr>
          <p:cNvPr id="16" name="Image 3" descr="trophy"/>
          <p:cNvPicPr>
            <a:picLocks noChangeAspect="1"/>
          </p:cNvPicPr>
          <p:nvPr/>
        </p:nvPicPr>
        <p:blipFill>
          <a:blip r:embed="rId7"/>
          <a:stretch>
            <a:fillRect/>
          </a:stretch>
        </p:blipFill>
        <p:spPr>
          <a:xfrm>
            <a:off x="8275320" y="3044952"/>
            <a:ext cx="274320" cy="274320"/>
          </a:xfrm>
          <a:prstGeom prst="rect">
            <a:avLst/>
          </a:prstGeom>
        </p:spPr>
      </p:pic>
      <p:sp>
        <p:nvSpPr>
          <p:cNvPr id="17" name="Text 10"/>
          <p:cNvSpPr txBox="1"/>
          <p:nvPr/>
        </p:nvSpPr>
        <p:spPr>
          <a:xfrm>
            <a:off x="5943600" y="3063240"/>
            <a:ext cx="2560320" cy="228600"/>
          </a:xfrm>
          <a:prstGeom prst="rect">
            <a:avLst/>
          </a:prstGeom>
          <a:noFill/>
          <a:ln/>
        </p:spPr>
        <p:txBody>
          <a:bodyPr wrap="square" lIns="0" tIns="0" rIns="0" bIns="0" rtlCol="0" anchor="t"/>
          <a:lstStyle/>
          <a:p>
            <a:pPr marL="0" indent="0">
              <a:buNone/>
            </a:pPr>
            <a:r>
              <a:rPr lang="en-US" sz="1200" b="1">
                <a:solidFill>
                  <a:schemeClr val="accent1"/>
                </a:solidFill>
              </a:rPr>
              <a:t>12 months ahead  ·  2025Q4</a:t>
            </a:r>
            <a:endParaRPr lang="en-US" sz="1200"/>
          </a:p>
        </p:txBody>
      </p:sp>
      <p:sp>
        <p:nvSpPr>
          <p:cNvPr id="18" name="Text 11"/>
          <p:cNvSpPr txBox="1"/>
          <p:nvPr/>
        </p:nvSpPr>
        <p:spPr>
          <a:xfrm>
            <a:off x="5943600" y="3319272"/>
            <a:ext cx="2560320" cy="457200"/>
          </a:xfrm>
          <a:prstGeom prst="rect">
            <a:avLst/>
          </a:prstGeom>
          <a:noFill/>
          <a:ln/>
        </p:spPr>
        <p:txBody>
          <a:bodyPr wrap="square" lIns="0" tIns="0" rIns="0" bIns="0" rtlCol="0" anchor="t"/>
          <a:lstStyle/>
          <a:p>
            <a:pPr marL="0" indent="0">
              <a:buNone/>
            </a:pPr>
            <a:r>
              <a:rPr lang="en-US" sz="2600" b="1">
                <a:solidFill>
                  <a:schemeClr val="tx2"/>
                </a:solidFill>
              </a:rPr>
              <a:t>€17.0M</a:t>
            </a:r>
            <a:r>
              <a:rPr lang="en-US" sz="1200">
                <a:solidFill>
                  <a:srgbClr val="8A9A94"/>
                </a:solidFill>
              </a:rPr>
              <a:t>  forecast</a:t>
            </a:r>
            <a:endParaRPr lang="en-US" sz="1400"/>
          </a:p>
        </p:txBody>
      </p:sp>
      <p:sp>
        <p:nvSpPr>
          <p:cNvPr id="19" name="Text 12"/>
          <p:cNvSpPr txBox="1"/>
          <p:nvPr/>
        </p:nvSpPr>
        <p:spPr>
          <a:xfrm>
            <a:off x="5943600" y="3822192"/>
            <a:ext cx="2560320" cy="228600"/>
          </a:xfrm>
          <a:prstGeom prst="rect">
            <a:avLst/>
          </a:prstGeom>
          <a:noFill/>
          <a:ln/>
        </p:spPr>
        <p:txBody>
          <a:bodyPr wrap="square" lIns="0" tIns="0" rIns="0" bIns="0" rtlCol="0" anchor="t"/>
          <a:lstStyle/>
          <a:p>
            <a:pPr marL="0" indent="0">
              <a:buNone/>
            </a:pPr>
            <a:r>
              <a:rPr lang="en-US" sz="1200">
                <a:solidFill>
                  <a:schemeClr val="tx1"/>
                </a:solidFill>
              </a:rPr>
              <a:t>80% range: €10.4M to €49.4M</a:t>
            </a:r>
            <a:endParaRPr lang="en-US" sz="1200"/>
          </a:p>
        </p:txBody>
      </p:sp>
      <p:sp>
        <p:nvSpPr>
          <p:cNvPr id="20" name="Text 13"/>
          <p:cNvSpPr txBox="1"/>
          <p:nvPr/>
        </p:nvSpPr>
        <p:spPr>
          <a:xfrm>
            <a:off x="5943600" y="4096512"/>
            <a:ext cx="2560320" cy="228600"/>
          </a:xfrm>
          <a:prstGeom prst="rect">
            <a:avLst/>
          </a:prstGeom>
          <a:noFill/>
          <a:ln/>
        </p:spPr>
        <p:txBody>
          <a:bodyPr wrap="square" lIns="0" tIns="0" rIns="0" bIns="0" rtlCol="0" anchor="t"/>
          <a:lstStyle/>
          <a:p>
            <a:pPr marL="0" indent="0">
              <a:buNone/>
            </a:pPr>
            <a:r>
              <a:rPr lang="en-US" sz="1200" b="1">
                <a:solidFill>
                  <a:schemeClr val="tx1"/>
                </a:solidFill>
              </a:rPr>
              <a:t>Real value: €12.0M  </a:t>
            </a:r>
            <a:r>
              <a:rPr lang="en-US" sz="1200" b="1">
                <a:solidFill>
                  <a:srgbClr val="1F7A4D"/>
                </a:solidFill>
              </a:rPr>
              <a:t>inside the range</a:t>
            </a:r>
            <a:endParaRPr lang="en-US" sz="12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€74.6M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€149.3M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€447.8M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€149.3M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€108.8M to €350.2M</a:t>
            </a:r>
            <a:endParaRPr lang="en-US" sz="1200"/>
          </a:p>
        </p:txBody>
      </p:sp>
      <p:sp>
        <p:nvSpPr>
          <p:cNvPr id="41" name="zone-under"/>
          <p:cNvSpPr/>
          <p:nvPr/>
        </p:nvSpPr>
        <p:spPr>
          <a:xfrm>
            <a:off x="5440680" y="3017520"/>
            <a:ext cx="86825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33" y="3017520"/>
            <a:ext cx="192574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3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8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€74.6M</a:t>
            </a:r>
            <a:endParaRPr lang="en-US" sz="1000"/>
          </a:p>
        </p:txBody>
      </p:sp>
      <p:sp>
        <p:nvSpPr>
          <p:cNvPr id="46" name="Text 41"/>
          <p:cNvSpPr txBox="1"/>
          <p:nvPr/>
        </p:nvSpPr>
        <p:spPr>
          <a:xfrm>
            <a:off x="585173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€108.8M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€350.2M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€74.6M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€149.3M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€447.8M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€149.3M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€108.8M to €350.2M</a:t>
            </a:r>
            <a:endParaRPr lang="en-US" sz="1200"/>
          </a:p>
        </p:txBody>
      </p:sp>
      <p:sp>
        <p:nvSpPr>
          <p:cNvPr id="41" name="zone-under"/>
          <p:cNvSpPr/>
          <p:nvPr/>
        </p:nvSpPr>
        <p:spPr>
          <a:xfrm>
            <a:off x="5440680" y="3017520"/>
            <a:ext cx="86825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33" y="3017520"/>
            <a:ext cx="192574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27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92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€149.3M</a:t>
            </a:r>
            <a:endParaRPr lang="en-US" sz="1000"/>
          </a:p>
        </p:txBody>
      </p:sp>
      <p:sp>
        <p:nvSpPr>
          <p:cNvPr id="46" name="Text 41"/>
          <p:cNvSpPr txBox="1"/>
          <p:nvPr/>
        </p:nvSpPr>
        <p:spPr>
          <a:xfrm>
            <a:off x="585173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€108.8M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€350.2M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€149.3M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€149.3M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€447.8M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€149.3M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€108.8M to €350.2M</a:t>
            </a:r>
            <a:endParaRPr lang="en-US" sz="1200"/>
          </a:p>
        </p:txBody>
      </p:sp>
      <p:sp>
        <p:nvSpPr>
          <p:cNvPr id="41" name="zone-under"/>
          <p:cNvSpPr/>
          <p:nvPr/>
        </p:nvSpPr>
        <p:spPr>
          <a:xfrm>
            <a:off x="5440680" y="3017520"/>
            <a:ext cx="86825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33" y="3017520"/>
            <a:ext cx="192574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16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81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€298.5M</a:t>
            </a:r>
            <a:endParaRPr lang="en-US" sz="1000"/>
          </a:p>
        </p:txBody>
      </p:sp>
      <p:sp>
        <p:nvSpPr>
          <p:cNvPr id="46" name="Text 41"/>
          <p:cNvSpPr txBox="1"/>
          <p:nvPr/>
        </p:nvSpPr>
        <p:spPr>
          <a:xfrm>
            <a:off x="585173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€108.8M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€350.2M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€298.5M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€149.3M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€447.8M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€149.3M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€108.8M to €350.2M</a:t>
            </a:r>
            <a:endParaRPr lang="en-US" sz="1200"/>
          </a:p>
        </p:txBody>
      </p:sp>
      <p:sp>
        <p:nvSpPr>
          <p:cNvPr id="41" name="zone-under"/>
          <p:cNvSpPr/>
          <p:nvPr/>
        </p:nvSpPr>
        <p:spPr>
          <a:xfrm>
            <a:off x="5440680" y="3017520"/>
            <a:ext cx="67901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698" y="3017520"/>
            <a:ext cx="150603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729" y="3017520"/>
            <a:ext cx="83247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€447.8M</a:t>
            </a:r>
            <a:endParaRPr lang="en-US" sz="1000"/>
          </a:p>
        </p:txBody>
      </p:sp>
      <p:sp>
        <p:nvSpPr>
          <p:cNvPr id="46" name="Text 41"/>
          <p:cNvSpPr txBox="1"/>
          <p:nvPr/>
        </p:nvSpPr>
        <p:spPr>
          <a:xfrm>
            <a:off x="566249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€108.8M</a:t>
            </a:r>
            <a:endParaRPr lang="en-US" sz="1000"/>
          </a:p>
        </p:txBody>
      </p:sp>
      <p:sp>
        <p:nvSpPr>
          <p:cNvPr id="47" name="Text 42"/>
          <p:cNvSpPr txBox="1"/>
          <p:nvPr/>
        </p:nvSpPr>
        <p:spPr>
          <a:xfrm>
            <a:off x="716852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€350.2M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€447.8M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€79.2M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€97.0M to €460.1M</a:t>
            </a:r>
            <a:endParaRPr lang="en-US" sz="1200"/>
          </a:p>
        </p:txBody>
      </p:sp>
      <p:sp>
        <p:nvSpPr>
          <p:cNvPr id="41" name="zone-under"/>
          <p:cNvSpPr/>
          <p:nvPr/>
        </p:nvSpPr>
        <p:spPr>
          <a:xfrm>
            <a:off x="5440680" y="3017520"/>
            <a:ext cx="5889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10" y="3017520"/>
            <a:ext cx="22050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5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€79.2M</a:t>
            </a:r>
            <a:endParaRPr lang="en-US" sz="1000"/>
          </a:p>
        </p:txBody>
      </p:sp>
      <p:sp>
        <p:nvSpPr>
          <p:cNvPr id="46" name="Text 41"/>
          <p:cNvSpPr txBox="1"/>
          <p:nvPr/>
        </p:nvSpPr>
        <p:spPr>
          <a:xfrm>
            <a:off x="55724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€97.0M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€460.1M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€79.2M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€97.0M to €460.1M</a:t>
            </a:r>
            <a:endParaRPr lang="en-US" sz="1200"/>
          </a:p>
        </p:txBody>
      </p:sp>
      <p:sp>
        <p:nvSpPr>
          <p:cNvPr id="41" name="zone-under"/>
          <p:cNvSpPr/>
          <p:nvPr/>
        </p:nvSpPr>
        <p:spPr>
          <a:xfrm>
            <a:off x="5440680" y="3017520"/>
            <a:ext cx="5889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10" y="3017520"/>
            <a:ext cx="22050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51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59"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€158.5M</a:t>
            </a:r>
            <a:endParaRPr lang="en-US" sz="1000"/>
          </a:p>
        </p:txBody>
      </p:sp>
      <p:sp>
        <p:nvSpPr>
          <p:cNvPr id="46" name="Text 41"/>
          <p:cNvSpPr txBox="1"/>
          <p:nvPr/>
        </p:nvSpPr>
        <p:spPr>
          <a:xfrm>
            <a:off x="55724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€97.0M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€460.1M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€158.5M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€97.0M to €460.1M</a:t>
            </a:r>
            <a:endParaRPr lang="en-US" sz="1200"/>
          </a:p>
        </p:txBody>
      </p:sp>
      <p:sp>
        <p:nvSpPr>
          <p:cNvPr id="41" name="zone-under"/>
          <p:cNvSpPr/>
          <p:nvPr/>
        </p:nvSpPr>
        <p:spPr>
          <a:xfrm>
            <a:off x="5440680" y="3017520"/>
            <a:ext cx="5889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10" y="3017520"/>
            <a:ext cx="22050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62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27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€316.9M</a:t>
            </a:r>
            <a:endParaRPr lang="en-US" sz="1000"/>
          </a:p>
        </p:txBody>
      </p:sp>
      <p:sp>
        <p:nvSpPr>
          <p:cNvPr id="46" name="Text 41"/>
          <p:cNvSpPr txBox="1"/>
          <p:nvPr/>
        </p:nvSpPr>
        <p:spPr>
          <a:xfrm>
            <a:off x="55724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€97.0M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€460.1M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€316.9M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p:cNvSpPr txBox="1"/>
          <p:nvPr/>
        </p:nvSpPr>
        <p:spPr>
          <a:xfrm>
            <a:off x="457200"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Foden</a:t>
            </a:r>
            <a:endParaRPr lang="en-US" sz="1000"/>
          </a:p>
        </p:txBody>
      </p:sp>
      <p:sp>
        <p:nvSpPr>
          <p:cNvPr id="6" name="chip-player-1">
            <a:hlinkClick r:id="rId4"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€475.4M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Phil Foden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€140.0M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€97.0M to €460.1M</a:t>
            </a:r>
            <a:endParaRPr lang="en-US" sz="1200"/>
          </a:p>
        </p:txBody>
      </p:sp>
      <p:sp>
        <p:nvSpPr>
          <p:cNvPr id="41" name="zone-under"/>
          <p:cNvSpPr/>
          <p:nvPr/>
        </p:nvSpPr>
        <p:spPr>
          <a:xfrm>
            <a:off x="5440680" y="3017520"/>
            <a:ext cx="57008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65" y="3017520"/>
            <a:ext cx="213451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279" y="3017520"/>
            <a:ext cx="31292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€475.4M</a:t>
            </a:r>
            <a:endParaRPr lang="en-US" sz="1000"/>
          </a:p>
        </p:txBody>
      </p:sp>
      <p:sp>
        <p:nvSpPr>
          <p:cNvPr id="46" name="Text 41"/>
          <p:cNvSpPr txBox="1"/>
          <p:nvPr/>
        </p:nvSpPr>
        <p:spPr>
          <a:xfrm>
            <a:off x="555356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€97.0M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€460.1M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€475.4M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€140.0M of 2024Q4</a:t>
            </a:r>
            <a:endParaRPr lang="en-US" sz="11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€42.6M to €137.1M</a:t>
            </a:r>
            <a:endParaRPr lang="en-US" sz="1200"/>
          </a:p>
        </p:txBody>
      </p:sp>
      <p:sp>
        <p:nvSpPr>
          <p:cNvPr id="41" name="zone-under"/>
          <p:cNvSpPr/>
          <p:nvPr/>
        </p:nvSpPr>
        <p:spPr>
          <a:xfrm>
            <a:off x="5440680" y="3017520"/>
            <a:ext cx="86810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788" y="3017520"/>
            <a:ext cx="192589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0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5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€29.2M</a:t>
            </a:r>
            <a:endParaRPr lang="en-US" sz="1000"/>
          </a:p>
        </p:txBody>
      </p:sp>
      <p:sp>
        <p:nvSpPr>
          <p:cNvPr id="46" name="Text 41"/>
          <p:cNvSpPr txBox="1"/>
          <p:nvPr/>
        </p:nvSpPr>
        <p:spPr>
          <a:xfrm>
            <a:off x="585158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€42.6M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€137.1M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€29.2M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€42.6M to €137.1M</a:t>
            </a:r>
            <a:endParaRPr lang="en-US" sz="1200"/>
          </a:p>
        </p:txBody>
      </p:sp>
      <p:sp>
        <p:nvSpPr>
          <p:cNvPr id="41" name="zone-under"/>
          <p:cNvSpPr/>
          <p:nvPr/>
        </p:nvSpPr>
        <p:spPr>
          <a:xfrm>
            <a:off x="5440680" y="3017520"/>
            <a:ext cx="86810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788" y="3017520"/>
            <a:ext cx="192589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21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86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€58.5M</a:t>
            </a:r>
            <a:endParaRPr lang="en-US" sz="1000"/>
          </a:p>
        </p:txBody>
      </p:sp>
      <p:sp>
        <p:nvSpPr>
          <p:cNvPr id="46" name="Text 41"/>
          <p:cNvSpPr txBox="1"/>
          <p:nvPr/>
        </p:nvSpPr>
        <p:spPr>
          <a:xfrm>
            <a:off x="585158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€42.6M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€137.1M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€58.5M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€42.6M to €137.1M</a:t>
            </a:r>
            <a:endParaRPr lang="en-US" sz="1200"/>
          </a:p>
        </p:txBody>
      </p:sp>
      <p:sp>
        <p:nvSpPr>
          <p:cNvPr id="41" name="zone-under"/>
          <p:cNvSpPr/>
          <p:nvPr/>
        </p:nvSpPr>
        <p:spPr>
          <a:xfrm>
            <a:off x="5440680" y="3017520"/>
            <a:ext cx="86810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788" y="3017520"/>
            <a:ext cx="192589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03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684"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€116.9M</a:t>
            </a:r>
            <a:endParaRPr lang="en-US" sz="1000"/>
          </a:p>
        </p:txBody>
      </p:sp>
      <p:sp>
        <p:nvSpPr>
          <p:cNvPr id="46" name="Text 41"/>
          <p:cNvSpPr txBox="1"/>
          <p:nvPr/>
        </p:nvSpPr>
        <p:spPr>
          <a:xfrm>
            <a:off x="585158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€42.6M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€137.1M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€116.9M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€175.4M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€42.6M to €137.1M</a:t>
            </a:r>
            <a:endParaRPr lang="en-US" sz="1200"/>
          </a:p>
        </p:txBody>
      </p:sp>
      <p:sp>
        <p:nvSpPr>
          <p:cNvPr id="41" name="zone-under"/>
          <p:cNvSpPr/>
          <p:nvPr/>
        </p:nvSpPr>
        <p:spPr>
          <a:xfrm>
            <a:off x="5440680" y="3017520"/>
            <a:ext cx="67894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621" y="3017520"/>
            <a:ext cx="150622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848" y="3017520"/>
            <a:ext cx="832352"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€175.4M</a:t>
            </a:r>
            <a:endParaRPr lang="en-US" sz="1000"/>
          </a:p>
        </p:txBody>
      </p:sp>
      <p:sp>
        <p:nvSpPr>
          <p:cNvPr id="46" name="Text 41"/>
          <p:cNvSpPr txBox="1"/>
          <p:nvPr/>
        </p:nvSpPr>
        <p:spPr>
          <a:xfrm>
            <a:off x="566242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€42.6M</a:t>
            </a:r>
            <a:endParaRPr lang="en-US" sz="1000"/>
          </a:p>
        </p:txBody>
      </p:sp>
      <p:sp>
        <p:nvSpPr>
          <p:cNvPr id="47" name="Text 42"/>
          <p:cNvSpPr txBox="1"/>
          <p:nvPr/>
        </p:nvSpPr>
        <p:spPr>
          <a:xfrm>
            <a:off x="716864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€137.1M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€175.4M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€30.9M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€123.7M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€185.6M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€61.9M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€37.9M to €179.7M</a:t>
            </a:r>
            <a:endParaRPr lang="en-US" sz="1200"/>
          </a:p>
        </p:txBody>
      </p:sp>
      <p:sp>
        <p:nvSpPr>
          <p:cNvPr id="41" name="zone-under"/>
          <p:cNvSpPr/>
          <p:nvPr/>
        </p:nvSpPr>
        <p:spPr>
          <a:xfrm>
            <a:off x="5440680" y="3017520"/>
            <a:ext cx="58890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86" y="3017520"/>
            <a:ext cx="220509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5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€30.9M</a:t>
            </a:r>
            <a:endParaRPr lang="en-US" sz="1000"/>
          </a:p>
        </p:txBody>
      </p:sp>
      <p:sp>
        <p:nvSpPr>
          <p:cNvPr id="46" name="Text 41"/>
          <p:cNvSpPr txBox="1"/>
          <p:nvPr/>
        </p:nvSpPr>
        <p:spPr>
          <a:xfrm>
            <a:off x="557238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€179.7M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€30.9M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€30.9M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€123.7M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€185.6M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€61.9M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€37.9M to €179.7M</a:t>
            </a:r>
            <a:endParaRPr lang="en-US" sz="1200"/>
          </a:p>
        </p:txBody>
      </p:sp>
      <p:sp>
        <p:nvSpPr>
          <p:cNvPr id="41" name="zone-under"/>
          <p:cNvSpPr/>
          <p:nvPr/>
        </p:nvSpPr>
        <p:spPr>
          <a:xfrm>
            <a:off x="5440680" y="3017520"/>
            <a:ext cx="58890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86" y="3017520"/>
            <a:ext cx="220509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51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64"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€61.9M</a:t>
            </a:r>
            <a:endParaRPr lang="en-US" sz="1000"/>
          </a:p>
        </p:txBody>
      </p:sp>
      <p:sp>
        <p:nvSpPr>
          <p:cNvPr id="46" name="Text 41"/>
          <p:cNvSpPr txBox="1"/>
          <p:nvPr/>
        </p:nvSpPr>
        <p:spPr>
          <a:xfrm>
            <a:off x="557238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€179.7M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€61.9M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€30.9M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€123.7M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€185.6M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€61.9M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€37.9M to €179.7M</a:t>
            </a:r>
            <a:endParaRPr lang="en-US" sz="1200"/>
          </a:p>
        </p:txBody>
      </p:sp>
      <p:sp>
        <p:nvSpPr>
          <p:cNvPr id="41" name="zone-under"/>
          <p:cNvSpPr/>
          <p:nvPr/>
        </p:nvSpPr>
        <p:spPr>
          <a:xfrm>
            <a:off x="5440680" y="3017520"/>
            <a:ext cx="58890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86" y="3017520"/>
            <a:ext cx="220509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64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28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€123.7M</a:t>
            </a:r>
            <a:endParaRPr lang="en-US" sz="1000"/>
          </a:p>
        </p:txBody>
      </p:sp>
      <p:sp>
        <p:nvSpPr>
          <p:cNvPr id="46" name="Text 41"/>
          <p:cNvSpPr txBox="1"/>
          <p:nvPr/>
        </p:nvSpPr>
        <p:spPr>
          <a:xfrm>
            <a:off x="557238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€179.7M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€123.7M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p:cNvSpPr txBox="1"/>
          <p:nvPr/>
        </p:nvSpPr>
        <p:spPr>
          <a:xfrm>
            <a:off x="457200"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Neto</a:t>
            </a:r>
            <a:endParaRPr lang="en-US" sz="1000"/>
          </a:p>
        </p:txBody>
      </p:sp>
      <p:sp>
        <p:nvSpPr>
          <p:cNvPr id="7" name="chip-player-2">
            <a:hlinkClick r:id="rId5"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€30.9M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€123.7M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€185.6M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Pedro Neto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€61.9M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€37.9M to €179.7M</a:t>
            </a:r>
            <a:endParaRPr lang="en-US" sz="1200"/>
          </a:p>
        </p:txBody>
      </p:sp>
      <p:sp>
        <p:nvSpPr>
          <p:cNvPr id="41" name="zone-under"/>
          <p:cNvSpPr/>
          <p:nvPr/>
        </p:nvSpPr>
        <p:spPr>
          <a:xfrm>
            <a:off x="5440680" y="3017520"/>
            <a:ext cx="57006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40" y="3017520"/>
            <a:ext cx="213452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265" y="3017520"/>
            <a:ext cx="312935"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€185.6M</a:t>
            </a:r>
            <a:endParaRPr lang="en-US" sz="1000"/>
          </a:p>
        </p:txBody>
      </p:sp>
      <p:sp>
        <p:nvSpPr>
          <p:cNvPr id="46" name="Text 41"/>
          <p:cNvSpPr txBox="1"/>
          <p:nvPr/>
        </p:nvSpPr>
        <p:spPr>
          <a:xfrm>
            <a:off x="555354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€179.7M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€185.6M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€26.4M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€105.4M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€52.7M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€38.4M to €123.7M</a:t>
            </a:r>
            <a:endParaRPr lang="en-US" sz="1200"/>
          </a:p>
        </p:txBody>
      </p:sp>
      <p:sp>
        <p:nvSpPr>
          <p:cNvPr id="41" name="zone-under"/>
          <p:cNvSpPr/>
          <p:nvPr/>
        </p:nvSpPr>
        <p:spPr>
          <a:xfrm>
            <a:off x="5440680" y="3017520"/>
            <a:ext cx="86824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21" y="3017520"/>
            <a:ext cx="192575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78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3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€26.4M</a:t>
            </a:r>
            <a:endParaRPr lang="en-US" sz="1000"/>
          </a:p>
        </p:txBody>
      </p:sp>
      <p:sp>
        <p:nvSpPr>
          <p:cNvPr id="46" name="Text 41"/>
          <p:cNvSpPr txBox="1"/>
          <p:nvPr/>
        </p:nvSpPr>
        <p:spPr>
          <a:xfrm>
            <a:off x="585172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€38.4M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€123.7M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€26.4M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€52.7M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€105.4M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€52.7M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€38.4M to €123.7M</a:t>
            </a:r>
            <a:endParaRPr lang="en-US" sz="1200"/>
          </a:p>
        </p:txBody>
      </p:sp>
      <p:sp>
        <p:nvSpPr>
          <p:cNvPr id="41" name="zone-under"/>
          <p:cNvSpPr/>
          <p:nvPr/>
        </p:nvSpPr>
        <p:spPr>
          <a:xfrm>
            <a:off x="5440680" y="3017520"/>
            <a:ext cx="86824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21" y="3017520"/>
            <a:ext cx="192575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17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82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€52.7M</a:t>
            </a:r>
            <a:endParaRPr lang="en-US" sz="1000"/>
          </a:p>
        </p:txBody>
      </p:sp>
      <p:sp>
        <p:nvSpPr>
          <p:cNvPr id="46" name="Text 41"/>
          <p:cNvSpPr txBox="1"/>
          <p:nvPr/>
        </p:nvSpPr>
        <p:spPr>
          <a:xfrm>
            <a:off x="585172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€38.4M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€123.7M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€52.7M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€105.4M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€52.7M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€38.4M to €123.7M</a:t>
            </a:r>
            <a:endParaRPr lang="en-US" sz="1200"/>
          </a:p>
        </p:txBody>
      </p:sp>
      <p:sp>
        <p:nvSpPr>
          <p:cNvPr id="41" name="zone-under"/>
          <p:cNvSpPr/>
          <p:nvPr/>
        </p:nvSpPr>
        <p:spPr>
          <a:xfrm>
            <a:off x="5440680" y="3017520"/>
            <a:ext cx="86824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21" y="3017520"/>
            <a:ext cx="192575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395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60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€105.4M</a:t>
            </a:r>
            <a:endParaRPr lang="en-US" sz="1000"/>
          </a:p>
        </p:txBody>
      </p:sp>
      <p:sp>
        <p:nvSpPr>
          <p:cNvPr id="46" name="Text 41"/>
          <p:cNvSpPr txBox="1"/>
          <p:nvPr/>
        </p:nvSpPr>
        <p:spPr>
          <a:xfrm>
            <a:off x="585172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€38.4M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€123.7M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€105.4M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€105.4M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€158.2M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€52.7M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€38.4M to €123.7M</a:t>
            </a:r>
            <a:endParaRPr lang="en-US" sz="1200"/>
          </a:p>
        </p:txBody>
      </p:sp>
      <p:sp>
        <p:nvSpPr>
          <p:cNvPr id="41" name="zone-under"/>
          <p:cNvSpPr/>
          <p:nvPr/>
        </p:nvSpPr>
        <p:spPr>
          <a:xfrm>
            <a:off x="5440680" y="3017520"/>
            <a:ext cx="67906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748" y="3017520"/>
            <a:ext cx="150617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922" y="3017520"/>
            <a:ext cx="832278"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€158.2M</a:t>
            </a:r>
            <a:endParaRPr lang="en-US" sz="1000"/>
          </a:p>
        </p:txBody>
      </p:sp>
      <p:sp>
        <p:nvSpPr>
          <p:cNvPr id="46" name="Text 41"/>
          <p:cNvSpPr txBox="1"/>
          <p:nvPr/>
        </p:nvSpPr>
        <p:spPr>
          <a:xfrm>
            <a:off x="566254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€38.4M</a:t>
            </a:r>
            <a:endParaRPr lang="en-US" sz="1000"/>
          </a:p>
        </p:txBody>
      </p:sp>
      <p:sp>
        <p:nvSpPr>
          <p:cNvPr id="47" name="Text 42"/>
          <p:cNvSpPr txBox="1"/>
          <p:nvPr/>
        </p:nvSpPr>
        <p:spPr>
          <a:xfrm>
            <a:off x="716872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€123.7M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€158.2M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€27.9M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€55.8M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€111.7M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€167.5M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€34.2M to €162.2M</a:t>
            </a:r>
            <a:endParaRPr lang="en-US" sz="1200"/>
          </a:p>
        </p:txBody>
      </p:sp>
      <p:sp>
        <p:nvSpPr>
          <p:cNvPr id="41" name="zone-under"/>
          <p:cNvSpPr/>
          <p:nvPr/>
        </p:nvSpPr>
        <p:spPr>
          <a:xfrm>
            <a:off x="5440680" y="3017520"/>
            <a:ext cx="58888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2" y="3017520"/>
            <a:ext cx="220511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2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€27.9M</a:t>
            </a:r>
            <a:endParaRPr lang="en-US" sz="1000"/>
          </a:p>
        </p:txBody>
      </p:sp>
      <p:sp>
        <p:nvSpPr>
          <p:cNvPr id="46" name="Text 41"/>
          <p:cNvSpPr txBox="1"/>
          <p:nvPr/>
        </p:nvSpPr>
        <p:spPr>
          <a:xfrm>
            <a:off x="557236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€27.9M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€55.8M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€111.7M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€167.5M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€34.2M to €162.2M</a:t>
            </a:r>
            <a:endParaRPr lang="en-US" sz="1200"/>
          </a:p>
        </p:txBody>
      </p:sp>
      <p:sp>
        <p:nvSpPr>
          <p:cNvPr id="41" name="zone-under"/>
          <p:cNvSpPr/>
          <p:nvPr/>
        </p:nvSpPr>
        <p:spPr>
          <a:xfrm>
            <a:off x="5440680" y="3017520"/>
            <a:ext cx="58888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2" y="3017520"/>
            <a:ext cx="220511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45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09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€55.8M</a:t>
            </a:r>
            <a:endParaRPr lang="en-US" sz="1000"/>
          </a:p>
        </p:txBody>
      </p:sp>
      <p:sp>
        <p:nvSpPr>
          <p:cNvPr id="46" name="Text 41"/>
          <p:cNvSpPr txBox="1"/>
          <p:nvPr/>
        </p:nvSpPr>
        <p:spPr>
          <a:xfrm>
            <a:off x="557236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€55.8M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€55.8M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€111.7M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€167.5M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€34.2M to €162.2M</a:t>
            </a:r>
            <a:endParaRPr lang="en-US" sz="1200"/>
          </a:p>
        </p:txBody>
      </p:sp>
      <p:sp>
        <p:nvSpPr>
          <p:cNvPr id="41" name="zone-under"/>
          <p:cNvSpPr/>
          <p:nvPr/>
        </p:nvSpPr>
        <p:spPr>
          <a:xfrm>
            <a:off x="5440680" y="3017520"/>
            <a:ext cx="58888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2" y="3017520"/>
            <a:ext cx="220511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508"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156"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€111.7M</a:t>
            </a:r>
            <a:endParaRPr lang="en-US" sz="1000"/>
          </a:p>
        </p:txBody>
      </p:sp>
      <p:sp>
        <p:nvSpPr>
          <p:cNvPr id="46" name="Text 41"/>
          <p:cNvSpPr txBox="1"/>
          <p:nvPr/>
        </p:nvSpPr>
        <p:spPr>
          <a:xfrm>
            <a:off x="557236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€111.7M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p:cNvSpPr txBox="1"/>
          <p:nvPr/>
        </p:nvSpPr>
        <p:spPr>
          <a:xfrm>
            <a:off x="457200"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Cunha</a:t>
            </a:r>
            <a:endParaRPr lang="en-US" sz="1000"/>
          </a:p>
        </p:txBody>
      </p:sp>
      <p:sp>
        <p:nvSpPr>
          <p:cNvPr id="8" name="chip-player-3">
            <a:hlinkClick r:id="rId6"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€55.8M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€111.7M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€167.5M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Matheus Cunha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Premier League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€34.2M to €162.2M</a:t>
            </a:r>
            <a:endParaRPr lang="en-US" sz="1200"/>
          </a:p>
        </p:txBody>
      </p:sp>
      <p:sp>
        <p:nvSpPr>
          <p:cNvPr id="41" name="zone-under"/>
          <p:cNvSpPr/>
          <p:nvPr/>
        </p:nvSpPr>
        <p:spPr>
          <a:xfrm>
            <a:off x="5440680" y="3017520"/>
            <a:ext cx="57007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55" y="3017520"/>
            <a:ext cx="213469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449" y="3017520"/>
            <a:ext cx="31275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€167.5M</a:t>
            </a:r>
            <a:endParaRPr lang="en-US" sz="1000"/>
          </a:p>
        </p:txBody>
      </p:sp>
      <p:sp>
        <p:nvSpPr>
          <p:cNvPr id="46" name="Text 41"/>
          <p:cNvSpPr txBox="1"/>
          <p:nvPr/>
        </p:nvSpPr>
        <p:spPr>
          <a:xfrm>
            <a:off x="555355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€167.5M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€27.8M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€55.6M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€111.2M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€166.8M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€40.5M to €130.4M</a:t>
            </a:r>
            <a:endParaRPr lang="en-US" sz="1200"/>
          </a:p>
        </p:txBody>
      </p:sp>
      <p:sp>
        <p:nvSpPr>
          <p:cNvPr id="41" name="zone-under"/>
          <p:cNvSpPr/>
          <p:nvPr/>
        </p:nvSpPr>
        <p:spPr>
          <a:xfrm>
            <a:off x="5440680" y="3017520"/>
            <a:ext cx="8681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10" y="3017520"/>
            <a:ext cx="19258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9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54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€27.8M</a:t>
            </a:r>
            <a:endParaRPr lang="en-US" sz="1000"/>
          </a:p>
        </p:txBody>
      </p:sp>
      <p:sp>
        <p:nvSpPr>
          <p:cNvPr id="46" name="Text 41"/>
          <p:cNvSpPr txBox="1"/>
          <p:nvPr/>
        </p:nvSpPr>
        <p:spPr>
          <a:xfrm>
            <a:off x="58516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€40.5M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€130.4M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€27.8M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€55.6M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€111.2M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€166.8M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€40.5M to €130.4M</a:t>
            </a:r>
            <a:endParaRPr lang="en-US" sz="1200"/>
          </a:p>
        </p:txBody>
      </p:sp>
      <p:sp>
        <p:nvSpPr>
          <p:cNvPr id="41" name="zone-under"/>
          <p:cNvSpPr/>
          <p:nvPr/>
        </p:nvSpPr>
        <p:spPr>
          <a:xfrm>
            <a:off x="5440680" y="3017520"/>
            <a:ext cx="8681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10" y="3017520"/>
            <a:ext cx="19258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39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304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€55.6M</a:t>
            </a:r>
            <a:endParaRPr lang="en-US" sz="1000"/>
          </a:p>
        </p:txBody>
      </p:sp>
      <p:sp>
        <p:nvSpPr>
          <p:cNvPr id="46" name="Text 41"/>
          <p:cNvSpPr txBox="1"/>
          <p:nvPr/>
        </p:nvSpPr>
        <p:spPr>
          <a:xfrm>
            <a:off x="58516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€40.5M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€130.4M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€55.6M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€55.6M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€111.2M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€166.8M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€40.5M to €130.4M</a:t>
            </a:r>
            <a:endParaRPr lang="en-US" sz="1200"/>
          </a:p>
        </p:txBody>
      </p:sp>
      <p:sp>
        <p:nvSpPr>
          <p:cNvPr id="41" name="zone-under"/>
          <p:cNvSpPr/>
          <p:nvPr/>
        </p:nvSpPr>
        <p:spPr>
          <a:xfrm>
            <a:off x="5440680" y="3017520"/>
            <a:ext cx="8681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10" y="3017520"/>
            <a:ext cx="19258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39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404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€111.2M</a:t>
            </a:r>
            <a:endParaRPr lang="en-US" sz="1000"/>
          </a:p>
        </p:txBody>
      </p:sp>
      <p:sp>
        <p:nvSpPr>
          <p:cNvPr id="46" name="Text 41"/>
          <p:cNvSpPr txBox="1"/>
          <p:nvPr/>
        </p:nvSpPr>
        <p:spPr>
          <a:xfrm>
            <a:off x="58516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€40.5M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€130.4M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€111.2M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€55.6M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€111.2M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€166.8M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€55.6M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€40.5M to €130.4M</a:t>
            </a:r>
            <a:endParaRPr lang="en-US" sz="1200"/>
          </a:p>
        </p:txBody>
      </p:sp>
      <p:sp>
        <p:nvSpPr>
          <p:cNvPr id="41" name="zone-under"/>
          <p:cNvSpPr/>
          <p:nvPr/>
        </p:nvSpPr>
        <p:spPr>
          <a:xfrm>
            <a:off x="5440680" y="3017520"/>
            <a:ext cx="67885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536" y="3017520"/>
            <a:ext cx="150598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519" y="3017520"/>
            <a:ext cx="83268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€166.8M</a:t>
            </a:r>
            <a:endParaRPr lang="en-US" sz="1000"/>
          </a:p>
        </p:txBody>
      </p:sp>
      <p:sp>
        <p:nvSpPr>
          <p:cNvPr id="46" name="Text 41"/>
          <p:cNvSpPr txBox="1"/>
          <p:nvPr/>
        </p:nvSpPr>
        <p:spPr>
          <a:xfrm>
            <a:off x="566233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€40.5M</a:t>
            </a:r>
            <a:endParaRPr lang="en-US" sz="1000"/>
          </a:p>
        </p:txBody>
      </p:sp>
      <p:sp>
        <p:nvSpPr>
          <p:cNvPr id="47" name="Text 42"/>
          <p:cNvSpPr txBox="1"/>
          <p:nvPr/>
        </p:nvSpPr>
        <p:spPr>
          <a:xfrm>
            <a:off x="716831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€130.4M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€166.8M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€56.1M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€112.2M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€34.3M to €162.9M</a:t>
            </a:r>
            <a:endParaRPr lang="en-US" sz="1200"/>
          </a:p>
        </p:txBody>
      </p:sp>
      <p:sp>
        <p:nvSpPr>
          <p:cNvPr id="41" name="zone-under"/>
          <p:cNvSpPr/>
          <p:nvPr/>
        </p:nvSpPr>
        <p:spPr>
          <a:xfrm>
            <a:off x="5440680" y="3017520"/>
            <a:ext cx="58899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76" y="3017520"/>
            <a:ext cx="220500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7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€28.0M</a:t>
            </a:r>
            <a:endParaRPr lang="en-US" sz="1000"/>
          </a:p>
        </p:txBody>
      </p:sp>
      <p:sp>
        <p:nvSpPr>
          <p:cNvPr id="46" name="Text 41"/>
          <p:cNvSpPr txBox="1"/>
          <p:nvPr/>
        </p:nvSpPr>
        <p:spPr>
          <a:xfrm>
            <a:off x="557247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€28.0M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€56.1M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€112.2M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€34.3M to €162.9M</a:t>
            </a:r>
            <a:endParaRPr lang="en-US" sz="1200"/>
          </a:p>
        </p:txBody>
      </p:sp>
      <p:sp>
        <p:nvSpPr>
          <p:cNvPr id="41" name="zone-under"/>
          <p:cNvSpPr/>
          <p:nvPr/>
        </p:nvSpPr>
        <p:spPr>
          <a:xfrm>
            <a:off x="5440680" y="3017520"/>
            <a:ext cx="58899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76" y="3017520"/>
            <a:ext cx="220500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55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99"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€56.1M</a:t>
            </a:r>
            <a:endParaRPr lang="en-US" sz="1000"/>
          </a:p>
        </p:txBody>
      </p:sp>
      <p:sp>
        <p:nvSpPr>
          <p:cNvPr id="46" name="Text 41"/>
          <p:cNvSpPr txBox="1"/>
          <p:nvPr/>
        </p:nvSpPr>
        <p:spPr>
          <a:xfrm>
            <a:off x="557247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€56.1M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€56.1M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€112.2M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€34.3M to €162.9M</a:t>
            </a:r>
            <a:endParaRPr lang="en-US" sz="1200"/>
          </a:p>
        </p:txBody>
      </p:sp>
      <p:sp>
        <p:nvSpPr>
          <p:cNvPr id="41" name="zone-under"/>
          <p:cNvSpPr/>
          <p:nvPr/>
        </p:nvSpPr>
        <p:spPr>
          <a:xfrm>
            <a:off x="5440680" y="3017520"/>
            <a:ext cx="58899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76" y="3017520"/>
            <a:ext cx="220500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70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35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€112.2M</a:t>
            </a:r>
            <a:endParaRPr lang="en-US" sz="1000"/>
          </a:p>
        </p:txBody>
      </p:sp>
      <p:sp>
        <p:nvSpPr>
          <p:cNvPr id="46" name="Text 41"/>
          <p:cNvSpPr txBox="1"/>
          <p:nvPr/>
        </p:nvSpPr>
        <p:spPr>
          <a:xfrm>
            <a:off x="557247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€112.2M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p:cNvSpPr txBox="1"/>
          <p:nvPr/>
        </p:nvSpPr>
        <p:spPr>
          <a:xfrm>
            <a:off x="1362456"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Rashford</a:t>
            </a:r>
            <a:endParaRPr lang="en-US" sz="1000"/>
          </a:p>
        </p:txBody>
      </p:sp>
      <p:sp>
        <p:nvSpPr>
          <p:cNvPr id="9" name="chip-player-4">
            <a:hlinkClick r:id="rId7"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€56.1M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€112.2M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€168.2M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Marcus Rashford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€34.3M to €162.9M</a:t>
            </a:r>
            <a:endParaRPr lang="en-US" sz="1200"/>
          </a:p>
        </p:txBody>
      </p:sp>
      <p:sp>
        <p:nvSpPr>
          <p:cNvPr id="41" name="zone-under"/>
          <p:cNvSpPr/>
          <p:nvPr/>
        </p:nvSpPr>
        <p:spPr>
          <a:xfrm>
            <a:off x="5440680" y="3017520"/>
            <a:ext cx="57012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806" y="3017520"/>
            <a:ext cx="213436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167" y="3017520"/>
            <a:ext cx="313033"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€168.2M</a:t>
            </a:r>
            <a:endParaRPr lang="en-US" sz="1000"/>
          </a:p>
        </p:txBody>
      </p:sp>
      <p:sp>
        <p:nvSpPr>
          <p:cNvPr id="46" name="Text 41"/>
          <p:cNvSpPr txBox="1"/>
          <p:nvPr/>
        </p:nvSpPr>
        <p:spPr>
          <a:xfrm>
            <a:off x="555360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€162.9M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€168.2M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€55.0M of 2024Q4</a:t>
            </a:r>
            <a:endParaRPr lang="en-US" sz="11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€47.3M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€34.5M to €111.1M</a:t>
            </a:r>
            <a:endParaRPr lang="en-US" sz="1200"/>
          </a:p>
        </p:txBody>
      </p:sp>
      <p:sp>
        <p:nvSpPr>
          <p:cNvPr id="41" name="zone-under"/>
          <p:cNvSpPr/>
          <p:nvPr/>
        </p:nvSpPr>
        <p:spPr>
          <a:xfrm>
            <a:off x="5440680" y="3017520"/>
            <a:ext cx="86826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46" y="3017520"/>
            <a:ext cx="192573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0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4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€23.7M</a:t>
            </a:r>
            <a:endParaRPr lang="en-US" sz="1000"/>
          </a:p>
        </p:txBody>
      </p:sp>
      <p:sp>
        <p:nvSpPr>
          <p:cNvPr id="46" name="Text 41"/>
          <p:cNvSpPr txBox="1"/>
          <p:nvPr/>
        </p:nvSpPr>
        <p:spPr>
          <a:xfrm>
            <a:off x="585174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€34.5M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€111.1M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€23.7M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€47.3M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€47.3M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€34.5M to €111.1M</a:t>
            </a:r>
            <a:endParaRPr lang="en-US" sz="1200"/>
          </a:p>
        </p:txBody>
      </p:sp>
      <p:sp>
        <p:nvSpPr>
          <p:cNvPr id="41" name="zone-under"/>
          <p:cNvSpPr/>
          <p:nvPr/>
        </p:nvSpPr>
        <p:spPr>
          <a:xfrm>
            <a:off x="5440680" y="3017520"/>
            <a:ext cx="86826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46" y="3017520"/>
            <a:ext cx="192573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20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855"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€47.3M</a:t>
            </a:r>
            <a:endParaRPr lang="en-US" sz="1000"/>
          </a:p>
        </p:txBody>
      </p:sp>
      <p:sp>
        <p:nvSpPr>
          <p:cNvPr id="46" name="Text 41"/>
          <p:cNvSpPr txBox="1"/>
          <p:nvPr/>
        </p:nvSpPr>
        <p:spPr>
          <a:xfrm>
            <a:off x="585174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€34.5M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€111.1M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€47.3M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€94.7M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€47.3M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€34.5M to €111.1M</a:t>
            </a:r>
            <a:endParaRPr lang="en-US" sz="1200"/>
          </a:p>
        </p:txBody>
      </p:sp>
      <p:sp>
        <p:nvSpPr>
          <p:cNvPr id="41" name="zone-under"/>
          <p:cNvSpPr/>
          <p:nvPr/>
        </p:nvSpPr>
        <p:spPr>
          <a:xfrm>
            <a:off x="5440680" y="3017520"/>
            <a:ext cx="868266"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46" y="3017520"/>
            <a:ext cx="192573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02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67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€94.7M</a:t>
            </a:r>
            <a:endParaRPr lang="en-US" sz="1000"/>
          </a:p>
        </p:txBody>
      </p:sp>
      <p:sp>
        <p:nvSpPr>
          <p:cNvPr id="46" name="Text 41"/>
          <p:cNvSpPr txBox="1"/>
          <p:nvPr/>
        </p:nvSpPr>
        <p:spPr>
          <a:xfrm>
            <a:off x="5851746"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€34.5M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€111.1M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€94.7M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€142.0M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€47.3M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€34.5M to €111.1M</a:t>
            </a:r>
            <a:endParaRPr lang="en-US" sz="1200"/>
          </a:p>
        </p:txBody>
      </p:sp>
      <p:sp>
        <p:nvSpPr>
          <p:cNvPr id="41" name="zone-under"/>
          <p:cNvSpPr/>
          <p:nvPr/>
        </p:nvSpPr>
        <p:spPr>
          <a:xfrm>
            <a:off x="5440680" y="3017520"/>
            <a:ext cx="67906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749" y="3017520"/>
            <a:ext cx="150611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860" y="3017520"/>
            <a:ext cx="83234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€142.0M</a:t>
            </a:r>
            <a:endParaRPr lang="en-US" sz="1000"/>
          </a:p>
        </p:txBody>
      </p:sp>
      <p:sp>
        <p:nvSpPr>
          <p:cNvPr id="46" name="Text 41"/>
          <p:cNvSpPr txBox="1"/>
          <p:nvPr/>
        </p:nvSpPr>
        <p:spPr>
          <a:xfrm>
            <a:off x="566254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€34.5M</a:t>
            </a:r>
            <a:endParaRPr lang="en-US" sz="1000"/>
          </a:p>
        </p:txBody>
      </p:sp>
      <p:sp>
        <p:nvSpPr>
          <p:cNvPr id="47" name="Text 42"/>
          <p:cNvSpPr txBox="1"/>
          <p:nvPr/>
        </p:nvSpPr>
        <p:spPr>
          <a:xfrm>
            <a:off x="716866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€111.1M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€142.0M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€19.0M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€38.0M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€75.9M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€113.9M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€38.0M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€23.2M to €110.3M</a:t>
            </a:r>
            <a:endParaRPr lang="en-US" sz="1200"/>
          </a:p>
        </p:txBody>
      </p:sp>
      <p:sp>
        <p:nvSpPr>
          <p:cNvPr id="41" name="zone-under"/>
          <p:cNvSpPr/>
          <p:nvPr/>
        </p:nvSpPr>
        <p:spPr>
          <a:xfrm>
            <a:off x="5440680" y="3017520"/>
            <a:ext cx="58885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31" y="3017520"/>
            <a:ext cx="220514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3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€19.0M</a:t>
            </a:r>
            <a:endParaRPr lang="en-US" sz="1000"/>
          </a:p>
        </p:txBody>
      </p:sp>
      <p:sp>
        <p:nvSpPr>
          <p:cNvPr id="46" name="Text 41"/>
          <p:cNvSpPr txBox="1"/>
          <p:nvPr/>
        </p:nvSpPr>
        <p:spPr>
          <a:xfrm>
            <a:off x="557233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€19.0M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€19.0M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€38.0M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€75.9M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€113.9M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€38.0M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€23.2M to €110.3M</a:t>
            </a:r>
            <a:endParaRPr lang="en-US" sz="1200"/>
          </a:p>
        </p:txBody>
      </p:sp>
      <p:sp>
        <p:nvSpPr>
          <p:cNvPr id="41" name="zone-under"/>
          <p:cNvSpPr/>
          <p:nvPr/>
        </p:nvSpPr>
        <p:spPr>
          <a:xfrm>
            <a:off x="5440680" y="3017520"/>
            <a:ext cx="58885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31" y="3017520"/>
            <a:ext cx="220514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46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1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€38.0M</a:t>
            </a:r>
            <a:endParaRPr lang="en-US" sz="1000"/>
          </a:p>
        </p:txBody>
      </p:sp>
      <p:sp>
        <p:nvSpPr>
          <p:cNvPr id="46" name="Text 41"/>
          <p:cNvSpPr txBox="1"/>
          <p:nvPr/>
        </p:nvSpPr>
        <p:spPr>
          <a:xfrm>
            <a:off x="557233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€38.0M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€19.0M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€38.0M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€75.9M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€113.9M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€38.0M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€23.2M to €110.3M</a:t>
            </a:r>
            <a:endParaRPr lang="en-US" sz="1200"/>
          </a:p>
        </p:txBody>
      </p:sp>
      <p:sp>
        <p:nvSpPr>
          <p:cNvPr id="41" name="zone-under"/>
          <p:cNvSpPr/>
          <p:nvPr/>
        </p:nvSpPr>
        <p:spPr>
          <a:xfrm>
            <a:off x="5440680" y="3017520"/>
            <a:ext cx="58885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31" y="3017520"/>
            <a:ext cx="220514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54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19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€75.9M</a:t>
            </a:r>
            <a:endParaRPr lang="en-US" sz="1000"/>
          </a:p>
        </p:txBody>
      </p:sp>
      <p:sp>
        <p:nvSpPr>
          <p:cNvPr id="46" name="Text 41"/>
          <p:cNvSpPr txBox="1"/>
          <p:nvPr/>
        </p:nvSpPr>
        <p:spPr>
          <a:xfrm>
            <a:off x="557233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€75.9M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p:cNvSpPr txBox="1"/>
          <p:nvPr/>
        </p:nvSpPr>
        <p:spPr>
          <a:xfrm>
            <a:off x="1362456"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Araujo</a:t>
            </a:r>
            <a:endParaRPr lang="en-US" sz="1000"/>
          </a:p>
        </p:txBody>
      </p:sp>
      <p:sp>
        <p:nvSpPr>
          <p:cNvPr id="10" name="chip-player-5">
            <a:hlinkClick r:id="rId8"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€19.0M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€38.0M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€75.9M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€113.9M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Ronald Araujo</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€38.0M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€23.2M to €110.3M</a:t>
            </a:r>
            <a:endParaRPr lang="en-US" sz="1200"/>
          </a:p>
        </p:txBody>
      </p:sp>
      <p:sp>
        <p:nvSpPr>
          <p:cNvPr id="41" name="zone-under"/>
          <p:cNvSpPr/>
          <p:nvPr/>
        </p:nvSpPr>
        <p:spPr>
          <a:xfrm>
            <a:off x="5440680" y="3017520"/>
            <a:ext cx="570034"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14" y="3017520"/>
            <a:ext cx="213468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398" y="3017520"/>
            <a:ext cx="312802"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€113.9M</a:t>
            </a:r>
            <a:endParaRPr lang="en-US" sz="1000"/>
          </a:p>
        </p:txBody>
      </p:sp>
      <p:sp>
        <p:nvSpPr>
          <p:cNvPr id="46" name="Text 41"/>
          <p:cNvSpPr txBox="1"/>
          <p:nvPr/>
        </p:nvSpPr>
        <p:spPr>
          <a:xfrm>
            <a:off x="5553514"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€110.3M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€113.9M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€55.0M of 2024Q4</a:t>
            </a:r>
            <a:endParaRPr lang="en-US" sz="110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€103.8M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€155.7M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€37.8M to €121.8M</a:t>
            </a:r>
            <a:endParaRPr lang="en-US" sz="1200"/>
          </a:p>
        </p:txBody>
      </p:sp>
      <p:sp>
        <p:nvSpPr>
          <p:cNvPr id="41" name="zone-under"/>
          <p:cNvSpPr/>
          <p:nvPr/>
        </p:nvSpPr>
        <p:spPr>
          <a:xfrm>
            <a:off x="5440680" y="3017520"/>
            <a:ext cx="868164"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44" y="3017520"/>
            <a:ext cx="1925836"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78"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526"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€26.0M</a:t>
            </a:r>
            <a:endParaRPr lang="en-US" sz="1000"/>
          </a:p>
        </p:txBody>
      </p:sp>
      <p:sp>
        <p:nvSpPr>
          <p:cNvPr id="46" name="Text 41"/>
          <p:cNvSpPr txBox="1"/>
          <p:nvPr/>
        </p:nvSpPr>
        <p:spPr>
          <a:xfrm>
            <a:off x="5851644"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€121.8M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€26.0M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€103.8M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€155.7M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€37.8M to €121.8M</a:t>
            </a:r>
            <a:endParaRPr lang="en-US" sz="1200"/>
          </a:p>
        </p:txBody>
      </p:sp>
      <p:sp>
        <p:nvSpPr>
          <p:cNvPr id="41" name="zone-under"/>
          <p:cNvSpPr/>
          <p:nvPr/>
        </p:nvSpPr>
        <p:spPr>
          <a:xfrm>
            <a:off x="5440680" y="3017520"/>
            <a:ext cx="868164"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44" y="3017520"/>
            <a:ext cx="1925836"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36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301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€51.9M</a:t>
            </a:r>
            <a:endParaRPr lang="en-US" sz="1000"/>
          </a:p>
        </p:txBody>
      </p:sp>
      <p:sp>
        <p:nvSpPr>
          <p:cNvPr id="46" name="Text 41"/>
          <p:cNvSpPr txBox="1"/>
          <p:nvPr/>
        </p:nvSpPr>
        <p:spPr>
          <a:xfrm>
            <a:off x="5851644"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€121.8M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€51.9M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€103.8M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€155.7M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€37.8M to €121.8M</a:t>
            </a:r>
            <a:endParaRPr lang="en-US" sz="1200"/>
          </a:p>
        </p:txBody>
      </p:sp>
      <p:sp>
        <p:nvSpPr>
          <p:cNvPr id="41" name="zone-under"/>
          <p:cNvSpPr/>
          <p:nvPr/>
        </p:nvSpPr>
        <p:spPr>
          <a:xfrm>
            <a:off x="5440680" y="3017520"/>
            <a:ext cx="868164"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44" y="3017520"/>
            <a:ext cx="1925836"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33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984"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€103.8M</a:t>
            </a:r>
            <a:endParaRPr lang="en-US" sz="1000"/>
          </a:p>
        </p:txBody>
      </p:sp>
      <p:sp>
        <p:nvSpPr>
          <p:cNvPr id="46" name="Text 41"/>
          <p:cNvSpPr txBox="1"/>
          <p:nvPr/>
        </p:nvSpPr>
        <p:spPr>
          <a:xfrm>
            <a:off x="5851644"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€121.8M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€103.8M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€51.9M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€103.8M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€155.7M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€51.9M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€37.8M to €121.8M</a:t>
            </a:r>
            <a:endParaRPr lang="en-US" sz="1200"/>
          </a:p>
        </p:txBody>
      </p:sp>
      <p:sp>
        <p:nvSpPr>
          <p:cNvPr id="41" name="zone-under"/>
          <p:cNvSpPr/>
          <p:nvPr/>
        </p:nvSpPr>
        <p:spPr>
          <a:xfrm>
            <a:off x="5440680" y="3017520"/>
            <a:ext cx="67889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579" y="3017520"/>
            <a:ext cx="150599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573" y="3017520"/>
            <a:ext cx="832627"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€155.7M</a:t>
            </a:r>
            <a:endParaRPr lang="en-US" sz="1000"/>
          </a:p>
        </p:txBody>
      </p:sp>
      <p:sp>
        <p:nvSpPr>
          <p:cNvPr id="46" name="Text 41"/>
          <p:cNvSpPr txBox="1"/>
          <p:nvPr/>
        </p:nvSpPr>
        <p:spPr>
          <a:xfrm>
            <a:off x="566237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€37.8M</a:t>
            </a:r>
            <a:endParaRPr lang="en-US" sz="1000"/>
          </a:p>
        </p:txBody>
      </p:sp>
      <p:sp>
        <p:nvSpPr>
          <p:cNvPr id="47" name="Text 42"/>
          <p:cNvSpPr txBox="1"/>
          <p:nvPr/>
        </p:nvSpPr>
        <p:spPr>
          <a:xfrm>
            <a:off x="716837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€121.8M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€155.7M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€116.5M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€174.8M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€35.7M to €169.2M</a:t>
            </a:r>
            <a:endParaRPr lang="en-US" sz="1200"/>
          </a:p>
        </p:txBody>
      </p:sp>
      <p:sp>
        <p:nvSpPr>
          <p:cNvPr id="41" name="zone-under"/>
          <p:cNvSpPr/>
          <p:nvPr/>
        </p:nvSpPr>
        <p:spPr>
          <a:xfrm>
            <a:off x="5440680" y="3017520"/>
            <a:ext cx="58899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73" y="3017520"/>
            <a:ext cx="220500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4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€29.1M</a:t>
            </a:r>
            <a:endParaRPr lang="en-US" sz="1000"/>
          </a:p>
        </p:txBody>
      </p:sp>
      <p:sp>
        <p:nvSpPr>
          <p:cNvPr id="46" name="Text 41"/>
          <p:cNvSpPr txBox="1"/>
          <p:nvPr/>
        </p:nvSpPr>
        <p:spPr>
          <a:xfrm>
            <a:off x="557247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€35.7M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€169.2M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€29.1M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€58.3M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€116.5M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€174.8M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€35.7M to €169.2M</a:t>
            </a:r>
            <a:endParaRPr lang="en-US" sz="1200"/>
          </a:p>
        </p:txBody>
      </p:sp>
      <p:sp>
        <p:nvSpPr>
          <p:cNvPr id="41" name="zone-under"/>
          <p:cNvSpPr/>
          <p:nvPr/>
        </p:nvSpPr>
        <p:spPr>
          <a:xfrm>
            <a:off x="5440680" y="3017520"/>
            <a:ext cx="58899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73" y="3017520"/>
            <a:ext cx="220500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50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5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€58.3M</a:t>
            </a:r>
            <a:endParaRPr lang="en-US" sz="1000"/>
          </a:p>
        </p:txBody>
      </p:sp>
      <p:sp>
        <p:nvSpPr>
          <p:cNvPr id="46" name="Text 41"/>
          <p:cNvSpPr txBox="1"/>
          <p:nvPr/>
        </p:nvSpPr>
        <p:spPr>
          <a:xfrm>
            <a:off x="557247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€35.7M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€169.2M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€58.3M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€116.5M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€174.8M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€35.7M to €169.2M</a:t>
            </a:r>
            <a:endParaRPr lang="en-US" sz="1200"/>
          </a:p>
        </p:txBody>
      </p:sp>
      <p:sp>
        <p:nvSpPr>
          <p:cNvPr id="41" name="zone-under"/>
          <p:cNvSpPr/>
          <p:nvPr/>
        </p:nvSpPr>
        <p:spPr>
          <a:xfrm>
            <a:off x="5440680" y="3017520"/>
            <a:ext cx="58899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73" y="3017520"/>
            <a:ext cx="220500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61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26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€116.5M</a:t>
            </a:r>
            <a:endParaRPr lang="en-US" sz="1000"/>
          </a:p>
        </p:txBody>
      </p:sp>
      <p:sp>
        <p:nvSpPr>
          <p:cNvPr id="46" name="Text 41"/>
          <p:cNvSpPr txBox="1"/>
          <p:nvPr/>
        </p:nvSpPr>
        <p:spPr>
          <a:xfrm>
            <a:off x="557247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€35.7M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€169.2M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€116.5M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p:cNvSpPr txBox="1"/>
          <p:nvPr/>
        </p:nvSpPr>
        <p:spPr>
          <a:xfrm>
            <a:off x="1362456"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Sancet</a:t>
            </a:r>
            <a:endParaRPr lang="en-US" sz="1000"/>
          </a:p>
        </p:txBody>
      </p:sp>
      <p:sp>
        <p:nvSpPr>
          <p:cNvPr id="11" name="chip-player-6">
            <a:hlinkClick r:id="rId9"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€116.5M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€174.8M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Oihan Sancet</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La Liga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€35.7M to €169.2M</a:t>
            </a:r>
            <a:endParaRPr lang="en-US" sz="1200"/>
          </a:p>
        </p:txBody>
      </p:sp>
      <p:sp>
        <p:nvSpPr>
          <p:cNvPr id="41" name="zone-under"/>
          <p:cNvSpPr/>
          <p:nvPr/>
        </p:nvSpPr>
        <p:spPr>
          <a:xfrm>
            <a:off x="5440680" y="3017520"/>
            <a:ext cx="57015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832" y="3017520"/>
            <a:ext cx="213447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304" y="3017520"/>
            <a:ext cx="312896"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€174.8M</a:t>
            </a:r>
            <a:endParaRPr lang="en-US" sz="1000"/>
          </a:p>
        </p:txBody>
      </p:sp>
      <p:sp>
        <p:nvSpPr>
          <p:cNvPr id="46" name="Text 41"/>
          <p:cNvSpPr txBox="1"/>
          <p:nvPr/>
        </p:nvSpPr>
        <p:spPr>
          <a:xfrm>
            <a:off x="555363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€35.7M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€169.2M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€174.8M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€59.5M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€118.9M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€178.4M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€59.5M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€43.3M to €139.5M</a:t>
            </a:r>
            <a:endParaRPr lang="en-US" sz="1200"/>
          </a:p>
        </p:txBody>
      </p:sp>
      <p:sp>
        <p:nvSpPr>
          <p:cNvPr id="41" name="zone-under"/>
          <p:cNvSpPr/>
          <p:nvPr/>
        </p:nvSpPr>
        <p:spPr>
          <a:xfrm>
            <a:off x="5440680" y="3017520"/>
            <a:ext cx="86816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47" y="3017520"/>
            <a:ext cx="192583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3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7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€29.7M</a:t>
            </a:r>
            <a:endParaRPr lang="en-US" sz="1000"/>
          </a:p>
        </p:txBody>
      </p:sp>
      <p:sp>
        <p:nvSpPr>
          <p:cNvPr id="46" name="Text 41"/>
          <p:cNvSpPr txBox="1"/>
          <p:nvPr/>
        </p:nvSpPr>
        <p:spPr>
          <a:xfrm>
            <a:off x="585164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€43.3M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€29.7M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€59.5M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€118.9M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€178.4M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€59.5M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€43.3M to €139.5M</a:t>
            </a:r>
            <a:endParaRPr lang="en-US" sz="1200"/>
          </a:p>
        </p:txBody>
      </p:sp>
      <p:sp>
        <p:nvSpPr>
          <p:cNvPr id="41" name="zone-under"/>
          <p:cNvSpPr/>
          <p:nvPr/>
        </p:nvSpPr>
        <p:spPr>
          <a:xfrm>
            <a:off x="5440680" y="3017520"/>
            <a:ext cx="86816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47" y="3017520"/>
            <a:ext cx="192583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26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915"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€59.5M</a:t>
            </a:r>
            <a:endParaRPr lang="en-US" sz="1000"/>
          </a:p>
        </p:txBody>
      </p:sp>
      <p:sp>
        <p:nvSpPr>
          <p:cNvPr id="46" name="Text 41"/>
          <p:cNvSpPr txBox="1"/>
          <p:nvPr/>
        </p:nvSpPr>
        <p:spPr>
          <a:xfrm>
            <a:off x="585164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€43.3M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€59.5M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€59.5M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€118.9M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€178.4M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€59.5M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€43.3M to €139.5M</a:t>
            </a:r>
            <a:endParaRPr lang="en-US" sz="1200"/>
          </a:p>
        </p:txBody>
      </p:sp>
      <p:sp>
        <p:nvSpPr>
          <p:cNvPr id="41" name="zone-under"/>
          <p:cNvSpPr/>
          <p:nvPr/>
        </p:nvSpPr>
        <p:spPr>
          <a:xfrm>
            <a:off x="5440680" y="3017520"/>
            <a:ext cx="86816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47" y="3017520"/>
            <a:ext cx="192583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14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79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€118.9M</a:t>
            </a:r>
            <a:endParaRPr lang="en-US" sz="1000"/>
          </a:p>
        </p:txBody>
      </p:sp>
      <p:sp>
        <p:nvSpPr>
          <p:cNvPr id="46" name="Text 41"/>
          <p:cNvSpPr txBox="1"/>
          <p:nvPr/>
        </p:nvSpPr>
        <p:spPr>
          <a:xfrm>
            <a:off x="585164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€43.3M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€118.9M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€59.5M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€118.9M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€178.4M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€59.5M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€43.3M to €139.5M</a:t>
            </a:r>
            <a:endParaRPr lang="en-US" sz="1200"/>
          </a:p>
        </p:txBody>
      </p:sp>
      <p:sp>
        <p:nvSpPr>
          <p:cNvPr id="41" name="zone-under"/>
          <p:cNvSpPr/>
          <p:nvPr/>
        </p:nvSpPr>
        <p:spPr>
          <a:xfrm>
            <a:off x="5440680" y="3017520"/>
            <a:ext cx="67895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637" y="3017520"/>
            <a:ext cx="150611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749" y="3017520"/>
            <a:ext cx="83245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€178.4M</a:t>
            </a:r>
            <a:endParaRPr lang="en-US" sz="1000"/>
          </a:p>
        </p:txBody>
      </p:sp>
      <p:sp>
        <p:nvSpPr>
          <p:cNvPr id="46" name="Text 41"/>
          <p:cNvSpPr txBox="1"/>
          <p:nvPr/>
        </p:nvSpPr>
        <p:spPr>
          <a:xfrm>
            <a:off x="566243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€43.3M</a:t>
            </a:r>
            <a:endParaRPr lang="en-US" sz="1000"/>
          </a:p>
        </p:txBody>
      </p:sp>
      <p:sp>
        <p:nvSpPr>
          <p:cNvPr id="47" name="Text 42"/>
          <p:cNvSpPr txBox="1"/>
          <p:nvPr/>
        </p:nvSpPr>
        <p:spPr>
          <a:xfrm>
            <a:off x="716854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€139.5M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€178.4M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€117.6M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€176.5M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€36.0M to €170.8M</a:t>
            </a:r>
            <a:endParaRPr lang="en-US" sz="1200"/>
          </a:p>
        </p:txBody>
      </p:sp>
      <p:sp>
        <p:nvSpPr>
          <p:cNvPr id="41" name="zone-under"/>
          <p:cNvSpPr/>
          <p:nvPr/>
        </p:nvSpPr>
        <p:spPr>
          <a:xfrm>
            <a:off x="5440680" y="3017520"/>
            <a:ext cx="58886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45" y="3017520"/>
            <a:ext cx="220513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6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€29.4M</a:t>
            </a:r>
            <a:endParaRPr lang="en-US" sz="1000"/>
          </a:p>
        </p:txBody>
      </p:sp>
      <p:sp>
        <p:nvSpPr>
          <p:cNvPr id="46" name="Text 41"/>
          <p:cNvSpPr txBox="1"/>
          <p:nvPr/>
        </p:nvSpPr>
        <p:spPr>
          <a:xfrm>
            <a:off x="557234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€36.0M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€29.4M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€58.8M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€117.6M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€176.5M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€36.0M to €170.8M</a:t>
            </a:r>
            <a:endParaRPr lang="en-US" sz="1200"/>
          </a:p>
        </p:txBody>
      </p:sp>
      <p:sp>
        <p:nvSpPr>
          <p:cNvPr id="41" name="zone-under"/>
          <p:cNvSpPr/>
          <p:nvPr/>
        </p:nvSpPr>
        <p:spPr>
          <a:xfrm>
            <a:off x="5440680" y="3017520"/>
            <a:ext cx="58886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45" y="3017520"/>
            <a:ext cx="220513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53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€58.8M</a:t>
            </a:r>
            <a:endParaRPr lang="en-US" sz="1000"/>
          </a:p>
        </p:txBody>
      </p:sp>
      <p:sp>
        <p:nvSpPr>
          <p:cNvPr id="46" name="Text 41"/>
          <p:cNvSpPr txBox="1"/>
          <p:nvPr/>
        </p:nvSpPr>
        <p:spPr>
          <a:xfrm>
            <a:off x="557234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€36.0M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€58.8M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€117.6M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€176.5M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€36.0M to €170.8M</a:t>
            </a:r>
            <a:endParaRPr lang="en-US" sz="1200"/>
          </a:p>
        </p:txBody>
      </p:sp>
      <p:sp>
        <p:nvSpPr>
          <p:cNvPr id="41" name="zone-under"/>
          <p:cNvSpPr/>
          <p:nvPr/>
        </p:nvSpPr>
        <p:spPr>
          <a:xfrm>
            <a:off x="5440680" y="3017520"/>
            <a:ext cx="58886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45" y="3017520"/>
            <a:ext cx="220513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67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319"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€117.6M</a:t>
            </a:r>
            <a:endParaRPr lang="en-US" sz="1000"/>
          </a:p>
        </p:txBody>
      </p:sp>
      <p:sp>
        <p:nvSpPr>
          <p:cNvPr id="46" name="Text 41"/>
          <p:cNvSpPr txBox="1"/>
          <p:nvPr/>
        </p:nvSpPr>
        <p:spPr>
          <a:xfrm>
            <a:off x="557234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€36.0M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€117.6M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p:cNvSpPr txBox="1"/>
          <p:nvPr/>
        </p:nvSpPr>
        <p:spPr>
          <a:xfrm>
            <a:off x="2267712"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Openda</a:t>
            </a:r>
            <a:endParaRPr lang="en-US" sz="1000"/>
          </a:p>
        </p:txBody>
      </p:sp>
      <p:sp>
        <p:nvSpPr>
          <p:cNvPr id="12" name="chip-player-7">
            <a:hlinkClick r:id="rId10"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€117.6M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€176.5M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Loïs Openda</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€60.0M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€58.8M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€36.0M to €170.8M</a:t>
            </a:r>
            <a:endParaRPr lang="en-US" sz="1200"/>
          </a:p>
        </p:txBody>
      </p:sp>
      <p:sp>
        <p:nvSpPr>
          <p:cNvPr id="41" name="zone-under"/>
          <p:cNvSpPr/>
          <p:nvPr/>
        </p:nvSpPr>
        <p:spPr>
          <a:xfrm>
            <a:off x="5440680" y="3017520"/>
            <a:ext cx="57001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690" y="3017520"/>
            <a:ext cx="213453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220" y="3017520"/>
            <a:ext cx="31298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€176.5M</a:t>
            </a:r>
            <a:endParaRPr lang="en-US" sz="1000"/>
          </a:p>
        </p:txBody>
      </p:sp>
      <p:sp>
        <p:nvSpPr>
          <p:cNvPr id="46" name="Text 41"/>
          <p:cNvSpPr txBox="1"/>
          <p:nvPr/>
        </p:nvSpPr>
        <p:spPr>
          <a:xfrm>
            <a:off x="555349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€36.0M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€170.8M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€176.5M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€60.0M of 2024Q4</a:t>
            </a:r>
            <a:endParaRPr lang="en-US" sz="110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€26.7M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€53.5M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€53.5M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€39.0M to €125.4M</a:t>
            </a:r>
            <a:endParaRPr lang="en-US" sz="1200"/>
          </a:p>
        </p:txBody>
      </p:sp>
      <p:sp>
        <p:nvSpPr>
          <p:cNvPr id="41" name="zone-under"/>
          <p:cNvSpPr/>
          <p:nvPr/>
        </p:nvSpPr>
        <p:spPr>
          <a:xfrm>
            <a:off x="5440680" y="3017520"/>
            <a:ext cx="86812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05" y="3017520"/>
            <a:ext cx="192587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9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539"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€26.7M</a:t>
            </a:r>
            <a:endParaRPr lang="en-US" sz="1000"/>
          </a:p>
        </p:txBody>
      </p:sp>
      <p:sp>
        <p:nvSpPr>
          <p:cNvPr id="46" name="Text 41"/>
          <p:cNvSpPr txBox="1"/>
          <p:nvPr/>
        </p:nvSpPr>
        <p:spPr>
          <a:xfrm>
            <a:off x="585160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€39.0M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€26.7M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€53.5M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€53.5M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€39.0M to €125.4M</a:t>
            </a:r>
            <a:endParaRPr lang="en-US" sz="1200"/>
          </a:p>
        </p:txBody>
      </p:sp>
      <p:sp>
        <p:nvSpPr>
          <p:cNvPr id="41" name="zone-under"/>
          <p:cNvSpPr/>
          <p:nvPr/>
        </p:nvSpPr>
        <p:spPr>
          <a:xfrm>
            <a:off x="5440680" y="3017520"/>
            <a:ext cx="86812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05" y="3017520"/>
            <a:ext cx="192587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39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303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€53.5M</a:t>
            </a:r>
            <a:endParaRPr lang="en-US" sz="1000"/>
          </a:p>
        </p:txBody>
      </p:sp>
      <p:sp>
        <p:nvSpPr>
          <p:cNvPr id="46" name="Text 41"/>
          <p:cNvSpPr txBox="1"/>
          <p:nvPr/>
        </p:nvSpPr>
        <p:spPr>
          <a:xfrm>
            <a:off x="585160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€39.0M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€53.5M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€53.5M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€53.5M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€39.0M to €125.4M</a:t>
            </a:r>
            <a:endParaRPr lang="en-US" sz="1200"/>
          </a:p>
        </p:txBody>
      </p:sp>
      <p:sp>
        <p:nvSpPr>
          <p:cNvPr id="41" name="zone-under"/>
          <p:cNvSpPr/>
          <p:nvPr/>
        </p:nvSpPr>
        <p:spPr>
          <a:xfrm>
            <a:off x="5440680" y="3017520"/>
            <a:ext cx="86812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805" y="3017520"/>
            <a:ext cx="192587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38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403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€106.9M</a:t>
            </a:r>
            <a:endParaRPr lang="en-US" sz="1000"/>
          </a:p>
        </p:txBody>
      </p:sp>
      <p:sp>
        <p:nvSpPr>
          <p:cNvPr id="46" name="Text 41"/>
          <p:cNvSpPr txBox="1"/>
          <p:nvPr/>
        </p:nvSpPr>
        <p:spPr>
          <a:xfrm>
            <a:off x="585160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€39.0M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€106.9M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€26.7M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€53.5M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€106.9M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€160.4M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€53.5M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€39.0M to €125.4M</a:t>
            </a:r>
            <a:endParaRPr lang="en-US" sz="1200"/>
          </a:p>
        </p:txBody>
      </p:sp>
      <p:sp>
        <p:nvSpPr>
          <p:cNvPr id="41" name="zone-under"/>
          <p:cNvSpPr/>
          <p:nvPr/>
        </p:nvSpPr>
        <p:spPr>
          <a:xfrm>
            <a:off x="5440680" y="3017520"/>
            <a:ext cx="678854"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534" y="3017520"/>
            <a:ext cx="150599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524" y="3017520"/>
            <a:ext cx="832676"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€160.4M</a:t>
            </a:r>
            <a:endParaRPr lang="en-US" sz="1000"/>
          </a:p>
        </p:txBody>
      </p:sp>
      <p:sp>
        <p:nvSpPr>
          <p:cNvPr id="46" name="Text 41"/>
          <p:cNvSpPr txBox="1"/>
          <p:nvPr/>
        </p:nvSpPr>
        <p:spPr>
          <a:xfrm>
            <a:off x="5662334"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€39.0M</a:t>
            </a:r>
            <a:endParaRPr lang="en-US" sz="1000"/>
          </a:p>
        </p:txBody>
      </p:sp>
      <p:sp>
        <p:nvSpPr>
          <p:cNvPr id="47" name="Text 42"/>
          <p:cNvSpPr txBox="1"/>
          <p:nvPr/>
        </p:nvSpPr>
        <p:spPr>
          <a:xfrm>
            <a:off x="7168324"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€125.4M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€160.4M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€28.3M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€56.6M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€113.1M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€169.7M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€34.6M to €164.3M</a:t>
            </a:r>
            <a:endParaRPr lang="en-US" sz="1200"/>
          </a:p>
        </p:txBody>
      </p:sp>
      <p:sp>
        <p:nvSpPr>
          <p:cNvPr id="41" name="zone-under"/>
          <p:cNvSpPr/>
          <p:nvPr/>
        </p:nvSpPr>
        <p:spPr>
          <a:xfrm>
            <a:off x="5440680" y="3017520"/>
            <a:ext cx="58887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53" y="3017520"/>
            <a:ext cx="220512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2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€28.3M</a:t>
            </a:r>
            <a:endParaRPr lang="en-US" sz="1000"/>
          </a:p>
        </p:txBody>
      </p:sp>
      <p:sp>
        <p:nvSpPr>
          <p:cNvPr id="46" name="Text 41"/>
          <p:cNvSpPr txBox="1"/>
          <p:nvPr/>
        </p:nvSpPr>
        <p:spPr>
          <a:xfrm>
            <a:off x="557235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€164.3M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€28.3M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€28.3M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€56.6M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€113.1M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€169.7M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€34.6M to €164.3M</a:t>
            </a:r>
            <a:endParaRPr lang="en-US" sz="1200"/>
          </a:p>
        </p:txBody>
      </p:sp>
      <p:sp>
        <p:nvSpPr>
          <p:cNvPr id="41" name="zone-under"/>
          <p:cNvSpPr/>
          <p:nvPr/>
        </p:nvSpPr>
        <p:spPr>
          <a:xfrm>
            <a:off x="5440680" y="3017520"/>
            <a:ext cx="58887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53" y="3017520"/>
            <a:ext cx="220512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45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04"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€56.6M</a:t>
            </a:r>
            <a:endParaRPr lang="en-US" sz="1000"/>
          </a:p>
        </p:txBody>
      </p:sp>
      <p:sp>
        <p:nvSpPr>
          <p:cNvPr id="46" name="Text 41"/>
          <p:cNvSpPr txBox="1"/>
          <p:nvPr/>
        </p:nvSpPr>
        <p:spPr>
          <a:xfrm>
            <a:off x="557235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€164.3M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€56.6M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€28.3M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€56.6M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€113.1M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€169.7M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€34.6M to €164.3M</a:t>
            </a:r>
            <a:endParaRPr lang="en-US" sz="1200"/>
          </a:p>
        </p:txBody>
      </p:sp>
      <p:sp>
        <p:nvSpPr>
          <p:cNvPr id="41" name="zone-under"/>
          <p:cNvSpPr/>
          <p:nvPr/>
        </p:nvSpPr>
        <p:spPr>
          <a:xfrm>
            <a:off x="5440680" y="3017520"/>
            <a:ext cx="58887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53" y="3017520"/>
            <a:ext cx="220512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52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16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€113.1M</a:t>
            </a:r>
            <a:endParaRPr lang="en-US" sz="1000"/>
          </a:p>
        </p:txBody>
      </p:sp>
      <p:sp>
        <p:nvSpPr>
          <p:cNvPr id="46" name="Text 41"/>
          <p:cNvSpPr txBox="1"/>
          <p:nvPr/>
        </p:nvSpPr>
        <p:spPr>
          <a:xfrm>
            <a:off x="557235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€164.3M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€113.1M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p:cNvSpPr txBox="1"/>
          <p:nvPr/>
        </p:nvSpPr>
        <p:spPr>
          <a:xfrm>
            <a:off x="2267712"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Koopmeiners</a:t>
            </a:r>
            <a:endParaRPr lang="en-US" sz="1000"/>
          </a:p>
        </p:txBody>
      </p:sp>
      <p:sp>
        <p:nvSpPr>
          <p:cNvPr id="13" name="chip-player-8">
            <a:hlinkClick r:id="rId11"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€28.3M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€56.6M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€113.1M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€169.7M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Teun Koopmeiners</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€50.0M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€56.6M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€34.6M to €164.3M</a:t>
            </a:r>
            <a:endParaRPr lang="en-US" sz="1200"/>
          </a:p>
        </p:txBody>
      </p:sp>
      <p:sp>
        <p:nvSpPr>
          <p:cNvPr id="41" name="zone-under"/>
          <p:cNvSpPr/>
          <p:nvPr/>
        </p:nvSpPr>
        <p:spPr>
          <a:xfrm>
            <a:off x="5440680" y="3017520"/>
            <a:ext cx="57006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43" y="3017520"/>
            <a:ext cx="213469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433" y="3017520"/>
            <a:ext cx="312767"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€169.7M</a:t>
            </a:r>
            <a:endParaRPr lang="en-US" sz="1000"/>
          </a:p>
        </p:txBody>
      </p:sp>
      <p:sp>
        <p:nvSpPr>
          <p:cNvPr id="46" name="Text 41"/>
          <p:cNvSpPr txBox="1"/>
          <p:nvPr/>
        </p:nvSpPr>
        <p:spPr>
          <a:xfrm>
            <a:off x="555354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€34.6M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€164.3M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€169.7M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€50.0M of 2024Q4</a:t>
            </a:r>
            <a:endParaRPr lang="en-US" sz="110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name="Slide 9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€69.6M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€104.4M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€25.4M to €81.6M</a:t>
            </a:r>
            <a:endParaRPr lang="en-US" sz="1200"/>
          </a:p>
        </p:txBody>
      </p:sp>
      <p:sp>
        <p:nvSpPr>
          <p:cNvPr id="41" name="zone-under"/>
          <p:cNvSpPr/>
          <p:nvPr/>
        </p:nvSpPr>
        <p:spPr>
          <a:xfrm>
            <a:off x="5440680" y="3017520"/>
            <a:ext cx="86822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05" y="3017520"/>
            <a:ext cx="192577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92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575"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€17.4M</a:t>
            </a:r>
            <a:endParaRPr lang="en-US" sz="1000"/>
          </a:p>
        </p:txBody>
      </p:sp>
      <p:sp>
        <p:nvSpPr>
          <p:cNvPr id="46" name="Text 41"/>
          <p:cNvSpPr txBox="1"/>
          <p:nvPr/>
        </p:nvSpPr>
        <p:spPr>
          <a:xfrm>
            <a:off x="585170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€25.4M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€81.6M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€17.4M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€34.8M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€69.6M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€104.4M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€25.4M to €81.6M</a:t>
            </a:r>
            <a:endParaRPr lang="en-US" sz="1200"/>
          </a:p>
        </p:txBody>
      </p:sp>
      <p:sp>
        <p:nvSpPr>
          <p:cNvPr id="41" name="zone-under"/>
          <p:cNvSpPr/>
          <p:nvPr/>
        </p:nvSpPr>
        <p:spPr>
          <a:xfrm>
            <a:off x="5440680" y="3017520"/>
            <a:ext cx="86822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05" y="3017520"/>
            <a:ext cx="192577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46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311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€34.8M</a:t>
            </a:r>
            <a:endParaRPr lang="en-US" sz="1000"/>
          </a:p>
        </p:txBody>
      </p:sp>
      <p:sp>
        <p:nvSpPr>
          <p:cNvPr id="46" name="Text 41"/>
          <p:cNvSpPr txBox="1"/>
          <p:nvPr/>
        </p:nvSpPr>
        <p:spPr>
          <a:xfrm>
            <a:off x="585170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€25.4M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€81.6M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€34.8M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€69.6M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€104.4M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€25.4M to €81.6M</a:t>
            </a:r>
            <a:endParaRPr lang="en-US" sz="1200"/>
          </a:p>
        </p:txBody>
      </p:sp>
      <p:sp>
        <p:nvSpPr>
          <p:cNvPr id="41" name="zone-under"/>
          <p:cNvSpPr/>
          <p:nvPr/>
        </p:nvSpPr>
        <p:spPr>
          <a:xfrm>
            <a:off x="5440680" y="3017520"/>
            <a:ext cx="86822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05" y="3017520"/>
            <a:ext cx="192577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53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418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€69.6M</a:t>
            </a:r>
            <a:endParaRPr lang="en-US" sz="1000"/>
          </a:p>
        </p:txBody>
      </p:sp>
      <p:sp>
        <p:nvSpPr>
          <p:cNvPr id="46" name="Text 41"/>
          <p:cNvSpPr txBox="1"/>
          <p:nvPr/>
        </p:nvSpPr>
        <p:spPr>
          <a:xfrm>
            <a:off x="585170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€25.4M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€81.6M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€69.6M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€17.4M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€69.6M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€104.4M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€25.4M to €81.6M</a:t>
            </a:r>
            <a:endParaRPr lang="en-US" sz="1200"/>
          </a:p>
        </p:txBody>
      </p:sp>
      <p:sp>
        <p:nvSpPr>
          <p:cNvPr id="41" name="zone-under"/>
          <p:cNvSpPr/>
          <p:nvPr/>
        </p:nvSpPr>
        <p:spPr>
          <a:xfrm>
            <a:off x="5440680" y="3017520"/>
            <a:ext cx="67889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571" y="3017520"/>
            <a:ext cx="150582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392" y="3017520"/>
            <a:ext cx="832808"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€104.4M</a:t>
            </a:r>
            <a:endParaRPr lang="en-US" sz="1000"/>
          </a:p>
        </p:txBody>
      </p:sp>
      <p:sp>
        <p:nvSpPr>
          <p:cNvPr id="46" name="Text 41"/>
          <p:cNvSpPr txBox="1"/>
          <p:nvPr/>
        </p:nvSpPr>
        <p:spPr>
          <a:xfrm>
            <a:off x="566237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€25.4M</a:t>
            </a:r>
            <a:endParaRPr lang="en-US" sz="1000"/>
          </a:p>
        </p:txBody>
      </p:sp>
      <p:sp>
        <p:nvSpPr>
          <p:cNvPr id="47" name="Text 42"/>
          <p:cNvSpPr txBox="1"/>
          <p:nvPr/>
        </p:nvSpPr>
        <p:spPr>
          <a:xfrm>
            <a:off x="716819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€81.6M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€104.4M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€104.1M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€21.2M to €100.8M</a:t>
            </a:r>
            <a:endParaRPr lang="en-US" sz="1200"/>
          </a:p>
        </p:txBody>
      </p:sp>
      <p:sp>
        <p:nvSpPr>
          <p:cNvPr id="41" name="zone-under"/>
          <p:cNvSpPr/>
          <p:nvPr/>
        </p:nvSpPr>
        <p:spPr>
          <a:xfrm>
            <a:off x="5440680" y="3017520"/>
            <a:ext cx="58902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708" y="3017520"/>
            <a:ext cx="220497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0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€17.3M</a:t>
            </a:r>
            <a:endParaRPr lang="en-US" sz="1000"/>
          </a:p>
        </p:txBody>
      </p:sp>
      <p:sp>
        <p:nvSpPr>
          <p:cNvPr id="46" name="Text 41"/>
          <p:cNvSpPr txBox="1"/>
          <p:nvPr/>
        </p:nvSpPr>
        <p:spPr>
          <a:xfrm>
            <a:off x="557250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€100.8M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€17.3M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€104.1M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€21.2M to €100.8M</a:t>
            </a:r>
            <a:endParaRPr lang="en-US" sz="1200"/>
          </a:p>
        </p:txBody>
      </p:sp>
      <p:sp>
        <p:nvSpPr>
          <p:cNvPr id="41" name="zone-under"/>
          <p:cNvSpPr/>
          <p:nvPr/>
        </p:nvSpPr>
        <p:spPr>
          <a:xfrm>
            <a:off x="5440680" y="3017520"/>
            <a:ext cx="58902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708" y="3017520"/>
            <a:ext cx="220497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41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06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€34.7M</a:t>
            </a:r>
            <a:endParaRPr lang="en-US" sz="1000"/>
          </a:p>
        </p:txBody>
      </p:sp>
      <p:sp>
        <p:nvSpPr>
          <p:cNvPr id="46" name="Text 41"/>
          <p:cNvSpPr txBox="1"/>
          <p:nvPr/>
        </p:nvSpPr>
        <p:spPr>
          <a:xfrm>
            <a:off x="557250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€100.8M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€34.7M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€104.1M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€21.2M to €100.8M</a:t>
            </a:r>
            <a:endParaRPr lang="en-US" sz="1200"/>
          </a:p>
        </p:txBody>
      </p:sp>
      <p:sp>
        <p:nvSpPr>
          <p:cNvPr id="41" name="zone-under"/>
          <p:cNvSpPr/>
          <p:nvPr/>
        </p:nvSpPr>
        <p:spPr>
          <a:xfrm>
            <a:off x="5440680" y="3017520"/>
            <a:ext cx="589028"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708" y="3017520"/>
            <a:ext cx="220497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43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08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€69.4M</a:t>
            </a:r>
            <a:endParaRPr lang="en-US" sz="1000"/>
          </a:p>
        </p:txBody>
      </p:sp>
      <p:sp>
        <p:nvSpPr>
          <p:cNvPr id="46" name="Text 41"/>
          <p:cNvSpPr txBox="1"/>
          <p:nvPr/>
        </p:nvSpPr>
        <p:spPr>
          <a:xfrm>
            <a:off x="557250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€100.8M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€69.4M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p:cNvSpPr txBox="1"/>
          <p:nvPr/>
        </p:nvSpPr>
        <p:spPr>
          <a:xfrm>
            <a:off x="2267712"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Thuram</a:t>
            </a:r>
            <a:endParaRPr lang="en-US" sz="1000"/>
          </a:p>
        </p:txBody>
      </p:sp>
      <p:sp>
        <p:nvSpPr>
          <p:cNvPr id="14" name="chip-player-9">
            <a:hlinkClick r:id="rId12"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€104.1M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Khéphren Thuram</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Serie 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€21.2M to €100.8M</a:t>
            </a:r>
            <a:endParaRPr lang="en-US" sz="1200"/>
          </a:p>
        </p:txBody>
      </p:sp>
      <p:sp>
        <p:nvSpPr>
          <p:cNvPr id="41" name="zone-under"/>
          <p:cNvSpPr/>
          <p:nvPr/>
        </p:nvSpPr>
        <p:spPr>
          <a:xfrm>
            <a:off x="5440680" y="3017520"/>
            <a:ext cx="57023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917" y="3017520"/>
            <a:ext cx="213463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547" y="3017520"/>
            <a:ext cx="312653"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€104.1M</a:t>
            </a:r>
            <a:endParaRPr lang="en-US" sz="1000"/>
          </a:p>
        </p:txBody>
      </p:sp>
      <p:sp>
        <p:nvSpPr>
          <p:cNvPr id="46" name="Text 41"/>
          <p:cNvSpPr txBox="1"/>
          <p:nvPr/>
        </p:nvSpPr>
        <p:spPr>
          <a:xfrm>
            <a:off x="555371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€100.8M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€104.1M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€96.0M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€23.3M to €75.1M</a:t>
            </a:r>
            <a:endParaRPr lang="en-US" sz="1200"/>
          </a:p>
        </p:txBody>
      </p:sp>
      <p:sp>
        <p:nvSpPr>
          <p:cNvPr id="41" name="zone-under"/>
          <p:cNvSpPr/>
          <p:nvPr/>
        </p:nvSpPr>
        <p:spPr>
          <a:xfrm>
            <a:off x="5440680" y="3017520"/>
            <a:ext cx="86805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733" y="3017520"/>
            <a:ext cx="192594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78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31"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€16.0M</a:t>
            </a:r>
            <a:endParaRPr lang="en-US" sz="1000"/>
          </a:p>
        </p:txBody>
      </p:sp>
      <p:sp>
        <p:nvSpPr>
          <p:cNvPr id="46" name="Text 41"/>
          <p:cNvSpPr txBox="1"/>
          <p:nvPr/>
        </p:nvSpPr>
        <p:spPr>
          <a:xfrm>
            <a:off x="585153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€16.0M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€96.0M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€23.3M to €75.1M</a:t>
            </a:r>
            <a:endParaRPr lang="en-US" sz="1200"/>
          </a:p>
        </p:txBody>
      </p:sp>
      <p:sp>
        <p:nvSpPr>
          <p:cNvPr id="41" name="zone-under"/>
          <p:cNvSpPr/>
          <p:nvPr/>
        </p:nvSpPr>
        <p:spPr>
          <a:xfrm>
            <a:off x="5440680" y="3017520"/>
            <a:ext cx="86805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733" y="3017520"/>
            <a:ext cx="192594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17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82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€32.0M</a:t>
            </a:r>
            <a:endParaRPr lang="en-US" sz="1000"/>
          </a:p>
        </p:txBody>
      </p:sp>
      <p:sp>
        <p:nvSpPr>
          <p:cNvPr id="46" name="Text 41"/>
          <p:cNvSpPr txBox="1"/>
          <p:nvPr/>
        </p:nvSpPr>
        <p:spPr>
          <a:xfrm>
            <a:off x="585153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€32.0M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€96.0M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€23.3M to €75.1M</a:t>
            </a:r>
            <a:endParaRPr lang="en-US" sz="1200"/>
          </a:p>
        </p:txBody>
      </p:sp>
      <p:sp>
        <p:nvSpPr>
          <p:cNvPr id="41" name="zone-under"/>
          <p:cNvSpPr/>
          <p:nvPr/>
        </p:nvSpPr>
        <p:spPr>
          <a:xfrm>
            <a:off x="5440680" y="3017520"/>
            <a:ext cx="86805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733" y="3017520"/>
            <a:ext cx="1925947"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395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60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€64.0M</a:t>
            </a:r>
            <a:endParaRPr lang="en-US" sz="1000"/>
          </a:p>
        </p:txBody>
      </p:sp>
      <p:sp>
        <p:nvSpPr>
          <p:cNvPr id="46" name="Text 41"/>
          <p:cNvSpPr txBox="1"/>
          <p:nvPr/>
        </p:nvSpPr>
        <p:spPr>
          <a:xfrm>
            <a:off x="585153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€23.3M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€64.0M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name="Slide 10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€96.0M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€23.3M to €75.1M</a:t>
            </a:r>
            <a:endParaRPr lang="en-US" sz="1200"/>
          </a:p>
        </p:txBody>
      </p:sp>
      <p:sp>
        <p:nvSpPr>
          <p:cNvPr id="41" name="zone-under"/>
          <p:cNvSpPr/>
          <p:nvPr/>
        </p:nvSpPr>
        <p:spPr>
          <a:xfrm>
            <a:off x="5440680" y="3017520"/>
            <a:ext cx="67892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601" y="3017520"/>
            <a:ext cx="150632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922" y="3017520"/>
            <a:ext cx="832278"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€96.0M</a:t>
            </a:r>
            <a:endParaRPr lang="en-US" sz="1000"/>
          </a:p>
        </p:txBody>
      </p:sp>
      <p:sp>
        <p:nvSpPr>
          <p:cNvPr id="46" name="Text 41"/>
          <p:cNvSpPr txBox="1"/>
          <p:nvPr/>
        </p:nvSpPr>
        <p:spPr>
          <a:xfrm>
            <a:off x="566240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€23.3M</a:t>
            </a:r>
            <a:endParaRPr lang="en-US" sz="1000"/>
          </a:p>
        </p:txBody>
      </p:sp>
      <p:sp>
        <p:nvSpPr>
          <p:cNvPr id="47" name="Text 42"/>
          <p:cNvSpPr txBox="1"/>
          <p:nvPr/>
        </p:nvSpPr>
        <p:spPr>
          <a:xfrm>
            <a:off x="716872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€96.0M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€87.7M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€17.9M to €84.9M</a:t>
            </a:r>
            <a:endParaRPr lang="en-US" sz="1200"/>
          </a:p>
        </p:txBody>
      </p:sp>
      <p:sp>
        <p:nvSpPr>
          <p:cNvPr id="41" name="zone-under"/>
          <p:cNvSpPr/>
          <p:nvPr/>
        </p:nvSpPr>
        <p:spPr>
          <a:xfrm>
            <a:off x="5440680" y="3017520"/>
            <a:ext cx="58907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757" y="3017520"/>
            <a:ext cx="220492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52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€14.6M</a:t>
            </a:r>
            <a:endParaRPr lang="en-US" sz="1000"/>
          </a:p>
        </p:txBody>
      </p:sp>
      <p:sp>
        <p:nvSpPr>
          <p:cNvPr id="46" name="Text 41"/>
          <p:cNvSpPr txBox="1"/>
          <p:nvPr/>
        </p:nvSpPr>
        <p:spPr>
          <a:xfrm>
            <a:off x="557255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€84.9M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€14.6M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€87.7M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€17.9M to €84.9M</a:t>
            </a:r>
            <a:endParaRPr lang="en-US" sz="1200"/>
          </a:p>
        </p:txBody>
      </p:sp>
      <p:sp>
        <p:nvSpPr>
          <p:cNvPr id="41" name="zone-under"/>
          <p:cNvSpPr/>
          <p:nvPr/>
        </p:nvSpPr>
        <p:spPr>
          <a:xfrm>
            <a:off x="5440680" y="3017520"/>
            <a:ext cx="58907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757" y="3017520"/>
            <a:ext cx="220492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66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30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€29.2M</a:t>
            </a:r>
            <a:endParaRPr lang="en-US" sz="1000"/>
          </a:p>
        </p:txBody>
      </p:sp>
      <p:sp>
        <p:nvSpPr>
          <p:cNvPr id="46" name="Text 41"/>
          <p:cNvSpPr txBox="1"/>
          <p:nvPr/>
        </p:nvSpPr>
        <p:spPr>
          <a:xfrm>
            <a:off x="557255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€84.9M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€29.2M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€87.7M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€17.9M to €84.9M</a:t>
            </a:r>
            <a:endParaRPr lang="en-US" sz="1200"/>
          </a:p>
        </p:txBody>
      </p:sp>
      <p:sp>
        <p:nvSpPr>
          <p:cNvPr id="41" name="zone-under"/>
          <p:cNvSpPr/>
          <p:nvPr/>
        </p:nvSpPr>
        <p:spPr>
          <a:xfrm>
            <a:off x="5440680" y="3017520"/>
            <a:ext cx="58907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757" y="3017520"/>
            <a:ext cx="220492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928"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576"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€58.5M</a:t>
            </a:r>
            <a:endParaRPr lang="en-US" sz="1000"/>
          </a:p>
        </p:txBody>
      </p:sp>
      <p:sp>
        <p:nvSpPr>
          <p:cNvPr id="46" name="Text 41"/>
          <p:cNvSpPr txBox="1"/>
          <p:nvPr/>
        </p:nvSpPr>
        <p:spPr>
          <a:xfrm>
            <a:off x="557255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€84.9M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€58.5M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p:cNvSpPr txBox="1"/>
          <p:nvPr/>
        </p:nvSpPr>
        <p:spPr>
          <a:xfrm>
            <a:off x="3172968"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Gnabry</a:t>
            </a:r>
            <a:endParaRPr lang="en-US" sz="1000"/>
          </a:p>
        </p:txBody>
      </p:sp>
      <p:sp>
        <p:nvSpPr>
          <p:cNvPr id="15" name="chip-player-10">
            <a:hlinkClick r:id="rId13"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€14.6M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€87.7M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Serge Gnabry</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€17.9M to €84.9M</a:t>
            </a:r>
            <a:endParaRPr lang="en-US" sz="1200"/>
          </a:p>
        </p:txBody>
      </p:sp>
      <p:sp>
        <p:nvSpPr>
          <p:cNvPr id="41" name="zone-under"/>
          <p:cNvSpPr/>
          <p:nvPr/>
        </p:nvSpPr>
        <p:spPr>
          <a:xfrm>
            <a:off x="5440680" y="3017520"/>
            <a:ext cx="57013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819" y="3017520"/>
            <a:ext cx="213404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4859" y="3017520"/>
            <a:ext cx="31334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€87.7M</a:t>
            </a:r>
            <a:endParaRPr lang="en-US" sz="1000"/>
          </a:p>
        </p:txBody>
      </p:sp>
      <p:sp>
        <p:nvSpPr>
          <p:cNvPr id="46" name="Text 41"/>
          <p:cNvSpPr txBox="1"/>
          <p:nvPr/>
        </p:nvSpPr>
        <p:spPr>
          <a:xfrm>
            <a:off x="555361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€17.9M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€84.9M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€87.7M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€54.9M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€82.4M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€27.5M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€20.0M to €64.5M</a:t>
            </a:r>
            <a:endParaRPr lang="en-US" sz="1200"/>
          </a:p>
        </p:txBody>
      </p:sp>
      <p:sp>
        <p:nvSpPr>
          <p:cNvPr id="41" name="zone-under"/>
          <p:cNvSpPr/>
          <p:nvPr/>
        </p:nvSpPr>
        <p:spPr>
          <a:xfrm>
            <a:off x="5440680" y="3017520"/>
            <a:ext cx="86832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09" y="3017520"/>
            <a:ext cx="192567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82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7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€13.7M</a:t>
            </a:r>
            <a:endParaRPr lang="en-US" sz="1000"/>
          </a:p>
        </p:txBody>
      </p:sp>
      <p:sp>
        <p:nvSpPr>
          <p:cNvPr id="46" name="Text 41"/>
          <p:cNvSpPr txBox="1"/>
          <p:nvPr/>
        </p:nvSpPr>
        <p:spPr>
          <a:xfrm>
            <a:off x="585180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€64.5M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€13.7M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0">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€27.5M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€54.9M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€82.4M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€27.5M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€20.0M to €64.5M</a:t>
            </a:r>
            <a:endParaRPr lang="en-US" sz="1200"/>
          </a:p>
        </p:txBody>
      </p:sp>
      <p:sp>
        <p:nvSpPr>
          <p:cNvPr id="41" name="zone-under"/>
          <p:cNvSpPr/>
          <p:nvPr/>
        </p:nvSpPr>
        <p:spPr>
          <a:xfrm>
            <a:off x="5440680" y="3017520"/>
            <a:ext cx="86832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09" y="3017520"/>
            <a:ext cx="192567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25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904"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€27.5M</a:t>
            </a:r>
            <a:endParaRPr lang="en-US" sz="1000"/>
          </a:p>
        </p:txBody>
      </p:sp>
      <p:sp>
        <p:nvSpPr>
          <p:cNvPr id="46" name="Text 41"/>
          <p:cNvSpPr txBox="1"/>
          <p:nvPr/>
        </p:nvSpPr>
        <p:spPr>
          <a:xfrm>
            <a:off x="585180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€64.5M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€27.5M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€54.9M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€82.4M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€27.5M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€20.0M to €64.5M</a:t>
            </a:r>
            <a:endParaRPr lang="en-US" sz="1200"/>
          </a:p>
        </p:txBody>
      </p:sp>
      <p:sp>
        <p:nvSpPr>
          <p:cNvPr id="41" name="zone-under"/>
          <p:cNvSpPr/>
          <p:nvPr/>
        </p:nvSpPr>
        <p:spPr>
          <a:xfrm>
            <a:off x="5440680" y="3017520"/>
            <a:ext cx="86832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09" y="3017520"/>
            <a:ext cx="192567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12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76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€54.9M</a:t>
            </a:r>
            <a:endParaRPr lang="en-US" sz="1000"/>
          </a:p>
        </p:txBody>
      </p:sp>
      <p:sp>
        <p:nvSpPr>
          <p:cNvPr id="46" name="Text 41"/>
          <p:cNvSpPr txBox="1"/>
          <p:nvPr/>
        </p:nvSpPr>
        <p:spPr>
          <a:xfrm>
            <a:off x="585180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€64.5M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€54.9M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show="0">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€13.7M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€27.5M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€54.9M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€82.4M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€27.5M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€20.0M to €64.5M</a:t>
            </a:r>
            <a:endParaRPr lang="en-US" sz="1200"/>
          </a:p>
        </p:txBody>
      </p:sp>
      <p:sp>
        <p:nvSpPr>
          <p:cNvPr id="41" name="zone-under"/>
          <p:cNvSpPr/>
          <p:nvPr/>
        </p:nvSpPr>
        <p:spPr>
          <a:xfrm>
            <a:off x="5440680" y="3017520"/>
            <a:ext cx="67909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770" y="3017520"/>
            <a:ext cx="150600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770" y="3017520"/>
            <a:ext cx="83243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€82.4M</a:t>
            </a:r>
            <a:endParaRPr lang="en-US" sz="1000"/>
          </a:p>
        </p:txBody>
      </p:sp>
      <p:sp>
        <p:nvSpPr>
          <p:cNvPr id="46" name="Text 41"/>
          <p:cNvSpPr txBox="1"/>
          <p:nvPr/>
        </p:nvSpPr>
        <p:spPr>
          <a:xfrm>
            <a:off x="566257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€20.0M</a:t>
            </a:r>
            <a:endParaRPr lang="en-US" sz="1000"/>
          </a:p>
        </p:txBody>
      </p:sp>
      <p:sp>
        <p:nvSpPr>
          <p:cNvPr id="47" name="Text 42"/>
          <p:cNvSpPr txBox="1"/>
          <p:nvPr/>
        </p:nvSpPr>
        <p:spPr>
          <a:xfrm>
            <a:off x="716857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€64.5M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€82.4M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€14.8M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€89.1M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€18.2M to €86.2M</a:t>
            </a:r>
            <a:endParaRPr lang="en-US" sz="1200"/>
          </a:p>
        </p:txBody>
      </p:sp>
      <p:sp>
        <p:nvSpPr>
          <p:cNvPr id="41" name="zone-under"/>
          <p:cNvSpPr/>
          <p:nvPr/>
        </p:nvSpPr>
        <p:spPr>
          <a:xfrm>
            <a:off x="5440680" y="3017520"/>
            <a:ext cx="58880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487" y="3017520"/>
            <a:ext cx="220519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5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€14.8M</a:t>
            </a:r>
            <a:endParaRPr lang="en-US" sz="1000"/>
          </a:p>
        </p:txBody>
      </p:sp>
      <p:sp>
        <p:nvSpPr>
          <p:cNvPr id="46" name="Text 41"/>
          <p:cNvSpPr txBox="1"/>
          <p:nvPr/>
        </p:nvSpPr>
        <p:spPr>
          <a:xfrm>
            <a:off x="557228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€18.2M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€86.2M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€14.8M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€89.1M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€18.2M to €86.2M</a:t>
            </a:r>
            <a:endParaRPr lang="en-US" sz="1200"/>
          </a:p>
        </p:txBody>
      </p:sp>
      <p:sp>
        <p:nvSpPr>
          <p:cNvPr id="41" name="zone-under"/>
          <p:cNvSpPr/>
          <p:nvPr/>
        </p:nvSpPr>
        <p:spPr>
          <a:xfrm>
            <a:off x="5440680" y="3017520"/>
            <a:ext cx="58880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487" y="3017520"/>
            <a:ext cx="220519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51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59"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€29.7M</a:t>
            </a:r>
            <a:endParaRPr lang="en-US" sz="1000"/>
          </a:p>
        </p:txBody>
      </p:sp>
      <p:sp>
        <p:nvSpPr>
          <p:cNvPr id="46" name="Text 41"/>
          <p:cNvSpPr txBox="1"/>
          <p:nvPr/>
        </p:nvSpPr>
        <p:spPr>
          <a:xfrm>
            <a:off x="557228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€18.2M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€86.2M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€29.7M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€89.1M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€18.2M to €86.2M</a:t>
            </a:r>
            <a:endParaRPr lang="en-US" sz="1200"/>
          </a:p>
        </p:txBody>
      </p:sp>
      <p:sp>
        <p:nvSpPr>
          <p:cNvPr id="41" name="zone-under"/>
          <p:cNvSpPr/>
          <p:nvPr/>
        </p:nvSpPr>
        <p:spPr>
          <a:xfrm>
            <a:off x="5440680" y="3017520"/>
            <a:ext cx="58880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487" y="3017520"/>
            <a:ext cx="220519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62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27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€59.4M</a:t>
            </a:r>
            <a:endParaRPr lang="en-US" sz="1000"/>
          </a:p>
        </p:txBody>
      </p:sp>
      <p:sp>
        <p:nvSpPr>
          <p:cNvPr id="46" name="Text 41"/>
          <p:cNvSpPr txBox="1"/>
          <p:nvPr/>
        </p:nvSpPr>
        <p:spPr>
          <a:xfrm>
            <a:off x="557228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€18.2M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€86.2M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€59.4M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0">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p:cNvSpPr txBox="1"/>
          <p:nvPr/>
        </p:nvSpPr>
        <p:spPr>
          <a:xfrm>
            <a:off x="3172968"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Anton</a:t>
            </a:r>
            <a:endParaRPr lang="en-US" sz="1000"/>
          </a:p>
        </p:txBody>
      </p:sp>
      <p:sp>
        <p:nvSpPr>
          <p:cNvPr id="16" name="chip-player-11">
            <a:hlinkClick r:id="rId14"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€14.8M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€29.7M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€59.4M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€89.1M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Waldemar Anton</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€24.0M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€29.7M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€18.2M to €86.2M</a:t>
            </a:r>
            <a:endParaRPr lang="en-US" sz="1200"/>
          </a:p>
        </p:txBody>
      </p:sp>
      <p:sp>
        <p:nvSpPr>
          <p:cNvPr id="41" name="zone-under"/>
          <p:cNvSpPr/>
          <p:nvPr/>
        </p:nvSpPr>
        <p:spPr>
          <a:xfrm>
            <a:off x="5440680" y="3017520"/>
            <a:ext cx="56996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647" y="3017520"/>
            <a:ext cx="2134632"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280" y="3017520"/>
            <a:ext cx="3129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€89.1M</a:t>
            </a:r>
            <a:endParaRPr lang="en-US" sz="1000"/>
          </a:p>
        </p:txBody>
      </p:sp>
      <p:sp>
        <p:nvSpPr>
          <p:cNvPr id="46" name="Text 41"/>
          <p:cNvSpPr txBox="1"/>
          <p:nvPr/>
        </p:nvSpPr>
        <p:spPr>
          <a:xfrm>
            <a:off x="555344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€18.2M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€86.2M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€89.1M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€24.0M of 2024Q4</a:t>
            </a:r>
            <a:endParaRPr lang="en-US" sz="110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0">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€35.2M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€12.8M to €41.3M</a:t>
            </a:r>
            <a:endParaRPr lang="en-US" sz="1200"/>
          </a:p>
        </p:txBody>
      </p:sp>
      <p:sp>
        <p:nvSpPr>
          <p:cNvPr id="41" name="zone-under"/>
          <p:cNvSpPr/>
          <p:nvPr/>
        </p:nvSpPr>
        <p:spPr>
          <a:xfrm>
            <a:off x="5440680" y="3017520"/>
            <a:ext cx="86838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67" y="3017520"/>
            <a:ext cx="192561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67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32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€8.8M</a:t>
            </a:r>
            <a:endParaRPr lang="en-US" sz="1000"/>
          </a:p>
        </p:txBody>
      </p:sp>
      <p:sp>
        <p:nvSpPr>
          <p:cNvPr id="46" name="Text 41"/>
          <p:cNvSpPr txBox="1"/>
          <p:nvPr/>
        </p:nvSpPr>
        <p:spPr>
          <a:xfrm>
            <a:off x="585186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€12.8M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€41.3M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€8.8M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€35.2M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€12.8M to €41.3M</a:t>
            </a:r>
            <a:endParaRPr lang="en-US" sz="1200"/>
          </a:p>
        </p:txBody>
      </p:sp>
      <p:sp>
        <p:nvSpPr>
          <p:cNvPr id="41" name="zone-under"/>
          <p:cNvSpPr/>
          <p:nvPr/>
        </p:nvSpPr>
        <p:spPr>
          <a:xfrm>
            <a:off x="5440680" y="3017520"/>
            <a:ext cx="86838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67" y="3017520"/>
            <a:ext cx="192561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295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60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€17.6M</a:t>
            </a:r>
            <a:endParaRPr lang="en-US" sz="1000"/>
          </a:p>
        </p:txBody>
      </p:sp>
      <p:sp>
        <p:nvSpPr>
          <p:cNvPr id="46" name="Text 41"/>
          <p:cNvSpPr txBox="1"/>
          <p:nvPr/>
        </p:nvSpPr>
        <p:spPr>
          <a:xfrm>
            <a:off x="585186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€12.8M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€41.3M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€17.6M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€35.2M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€12.8M to €41.3M</a:t>
            </a:r>
            <a:endParaRPr lang="en-US" sz="1200"/>
          </a:p>
        </p:txBody>
      </p:sp>
      <p:sp>
        <p:nvSpPr>
          <p:cNvPr id="41" name="zone-under"/>
          <p:cNvSpPr/>
          <p:nvPr/>
        </p:nvSpPr>
        <p:spPr>
          <a:xfrm>
            <a:off x="5440680" y="3017520"/>
            <a:ext cx="86838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67" y="3017520"/>
            <a:ext cx="192561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351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16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€35.2M</a:t>
            </a:r>
            <a:endParaRPr lang="en-US" sz="1000"/>
          </a:p>
        </p:txBody>
      </p:sp>
      <p:sp>
        <p:nvSpPr>
          <p:cNvPr id="46" name="Text 41"/>
          <p:cNvSpPr txBox="1"/>
          <p:nvPr/>
        </p:nvSpPr>
        <p:spPr>
          <a:xfrm>
            <a:off x="585186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€12.8M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€41.3M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€35.2M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0">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€8.8M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€17.6M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€35.2M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€52.8M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€17.6M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€12.8M to €41.3M</a:t>
            </a:r>
            <a:endParaRPr lang="en-US" sz="1200"/>
          </a:p>
        </p:txBody>
      </p:sp>
      <p:sp>
        <p:nvSpPr>
          <p:cNvPr id="41" name="zone-under"/>
          <p:cNvSpPr/>
          <p:nvPr/>
        </p:nvSpPr>
        <p:spPr>
          <a:xfrm>
            <a:off x="5440680" y="3017520"/>
            <a:ext cx="67930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987" y="3017520"/>
            <a:ext cx="150633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6322" y="3017520"/>
            <a:ext cx="831878"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€52.8M</a:t>
            </a:r>
            <a:endParaRPr lang="en-US" sz="1000"/>
          </a:p>
        </p:txBody>
      </p:sp>
      <p:sp>
        <p:nvSpPr>
          <p:cNvPr id="46" name="Text 41"/>
          <p:cNvSpPr txBox="1"/>
          <p:nvPr/>
        </p:nvSpPr>
        <p:spPr>
          <a:xfrm>
            <a:off x="566278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€12.8M</a:t>
            </a:r>
            <a:endParaRPr lang="en-US" sz="1000"/>
          </a:p>
        </p:txBody>
      </p:sp>
      <p:sp>
        <p:nvSpPr>
          <p:cNvPr id="47" name="Text 42"/>
          <p:cNvSpPr txBox="1"/>
          <p:nvPr/>
        </p:nvSpPr>
        <p:spPr>
          <a:xfrm>
            <a:off x="716912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€41.3M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€52.8M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0">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€10.6M to €50.3M</a:t>
            </a:r>
            <a:endParaRPr lang="en-US" sz="1200"/>
          </a:p>
        </p:txBody>
      </p:sp>
      <p:sp>
        <p:nvSpPr>
          <p:cNvPr id="41" name="zone-under"/>
          <p:cNvSpPr/>
          <p:nvPr/>
        </p:nvSpPr>
        <p:spPr>
          <a:xfrm>
            <a:off x="5440680" y="3017520"/>
            <a:ext cx="58888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2" y="3017520"/>
            <a:ext cx="220511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32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€8.7M</a:t>
            </a:r>
            <a:endParaRPr lang="en-US" sz="1000"/>
          </a:p>
        </p:txBody>
      </p:sp>
      <p:sp>
        <p:nvSpPr>
          <p:cNvPr id="46" name="Text 41"/>
          <p:cNvSpPr txBox="1"/>
          <p:nvPr/>
        </p:nvSpPr>
        <p:spPr>
          <a:xfrm>
            <a:off x="557236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€50.3M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€8.7M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0">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€10.6M to €50.3M</a:t>
            </a:r>
            <a:endParaRPr lang="en-US" sz="1200"/>
          </a:p>
        </p:txBody>
      </p:sp>
      <p:sp>
        <p:nvSpPr>
          <p:cNvPr id="41" name="zone-under"/>
          <p:cNvSpPr/>
          <p:nvPr/>
        </p:nvSpPr>
        <p:spPr>
          <a:xfrm>
            <a:off x="5440680" y="3017520"/>
            <a:ext cx="58888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2" y="3017520"/>
            <a:ext cx="220511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25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390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€17.3M</a:t>
            </a:r>
            <a:endParaRPr lang="en-US" sz="1000"/>
          </a:p>
        </p:txBody>
      </p:sp>
      <p:sp>
        <p:nvSpPr>
          <p:cNvPr id="46" name="Text 41"/>
          <p:cNvSpPr txBox="1"/>
          <p:nvPr/>
        </p:nvSpPr>
        <p:spPr>
          <a:xfrm>
            <a:off x="557236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€50.3M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€17.3M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€10.6M to €50.3M</a:t>
            </a:r>
            <a:endParaRPr lang="en-US" sz="1200"/>
          </a:p>
        </p:txBody>
      </p:sp>
      <p:sp>
        <p:nvSpPr>
          <p:cNvPr id="41" name="zone-under"/>
          <p:cNvSpPr/>
          <p:nvPr/>
        </p:nvSpPr>
        <p:spPr>
          <a:xfrm>
            <a:off x="5440680" y="3017520"/>
            <a:ext cx="58888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2" y="3017520"/>
            <a:ext cx="220511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11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576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€34.7M</a:t>
            </a:r>
            <a:endParaRPr lang="en-US" sz="1000"/>
          </a:p>
        </p:txBody>
      </p:sp>
      <p:sp>
        <p:nvSpPr>
          <p:cNvPr id="46" name="Text 41"/>
          <p:cNvSpPr txBox="1"/>
          <p:nvPr/>
        </p:nvSpPr>
        <p:spPr>
          <a:xfrm>
            <a:off x="557236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€50.3M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€34.7M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0">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p:cNvSpPr txBox="1"/>
          <p:nvPr/>
        </p:nvSpPr>
        <p:spPr>
          <a:xfrm>
            <a:off x="3172968"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Baumgartner</a:t>
            </a:r>
            <a:endParaRPr lang="en-US" sz="1000"/>
          </a:p>
        </p:txBody>
      </p:sp>
      <p:sp>
        <p:nvSpPr>
          <p:cNvPr id="17" name="chip-player-12">
            <a:hlinkClick r:id="rId15"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€8.7M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€17.3M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€34.7M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€52.0M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Christoph Baumgartner</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Bundesliga · value at end of 2024: €18.0M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€17.3M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€10.6M to €50.3M</a:t>
            </a:r>
            <a:endParaRPr lang="en-US" sz="1200"/>
          </a:p>
        </p:txBody>
      </p:sp>
      <p:sp>
        <p:nvSpPr>
          <p:cNvPr id="41" name="zone-under"/>
          <p:cNvSpPr/>
          <p:nvPr/>
        </p:nvSpPr>
        <p:spPr>
          <a:xfrm>
            <a:off x="5440680" y="3017520"/>
            <a:ext cx="570193"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873" y="3017520"/>
            <a:ext cx="213513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6007" y="3017520"/>
            <a:ext cx="312193"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€52.0M</a:t>
            </a:r>
            <a:endParaRPr lang="en-US" sz="1000"/>
          </a:p>
        </p:txBody>
      </p:sp>
      <p:sp>
        <p:nvSpPr>
          <p:cNvPr id="46" name="Text 41"/>
          <p:cNvSpPr txBox="1"/>
          <p:nvPr/>
        </p:nvSpPr>
        <p:spPr>
          <a:xfrm>
            <a:off x="555367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€10.6M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€50.3M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€52.0M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€18.0M of 2024Q4</a:t>
            </a:r>
            <a:endParaRPr lang="en-US" sz="110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0">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€68.3M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€102.5M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€24.9M to €80.1M</a:t>
            </a:r>
            <a:endParaRPr lang="en-US" sz="1200"/>
          </a:p>
        </p:txBody>
      </p:sp>
      <p:sp>
        <p:nvSpPr>
          <p:cNvPr id="41" name="zone-under"/>
          <p:cNvSpPr/>
          <p:nvPr/>
        </p:nvSpPr>
        <p:spPr>
          <a:xfrm>
            <a:off x="5440680" y="3017520"/>
            <a:ext cx="86822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02" y="3017520"/>
            <a:ext cx="192577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76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1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€17.1M</a:t>
            </a:r>
            <a:endParaRPr lang="en-US" sz="1000"/>
          </a:p>
        </p:txBody>
      </p:sp>
      <p:sp>
        <p:nvSpPr>
          <p:cNvPr id="46" name="Text 41"/>
          <p:cNvSpPr txBox="1"/>
          <p:nvPr/>
        </p:nvSpPr>
        <p:spPr>
          <a:xfrm>
            <a:off x="585170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€24.9M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€17.1M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0">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€68.3M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€102.5M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€24.9M to €80.1M</a:t>
            </a:r>
            <a:endParaRPr lang="en-US" sz="1200"/>
          </a:p>
        </p:txBody>
      </p:sp>
      <p:sp>
        <p:nvSpPr>
          <p:cNvPr id="41" name="zone-under"/>
          <p:cNvSpPr/>
          <p:nvPr/>
        </p:nvSpPr>
        <p:spPr>
          <a:xfrm>
            <a:off x="5440680" y="3017520"/>
            <a:ext cx="86822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02" y="3017520"/>
            <a:ext cx="192577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14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794"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€34.2M</a:t>
            </a:r>
            <a:endParaRPr lang="en-US" sz="1000"/>
          </a:p>
        </p:txBody>
      </p:sp>
      <p:sp>
        <p:nvSpPr>
          <p:cNvPr id="46" name="Text 41"/>
          <p:cNvSpPr txBox="1"/>
          <p:nvPr/>
        </p:nvSpPr>
        <p:spPr>
          <a:xfrm>
            <a:off x="585170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€24.9M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€34.2M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€68.3M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€102.5M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€24.9M to €80.1M</a:t>
            </a:r>
            <a:endParaRPr lang="en-US" sz="1200"/>
          </a:p>
        </p:txBody>
      </p:sp>
      <p:sp>
        <p:nvSpPr>
          <p:cNvPr id="41" name="zone-under"/>
          <p:cNvSpPr/>
          <p:nvPr/>
        </p:nvSpPr>
        <p:spPr>
          <a:xfrm>
            <a:off x="5440680" y="3017520"/>
            <a:ext cx="86822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8902" y="3017520"/>
            <a:ext cx="1925778"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390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54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€68.3M</a:t>
            </a:r>
            <a:endParaRPr lang="en-US" sz="1000"/>
          </a:p>
        </p:txBody>
      </p:sp>
      <p:sp>
        <p:nvSpPr>
          <p:cNvPr id="46" name="Text 41"/>
          <p:cNvSpPr txBox="1"/>
          <p:nvPr/>
        </p:nvSpPr>
        <p:spPr>
          <a:xfrm>
            <a:off x="585170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€24.9M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€68.3M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€68.3M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€102.5M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€24.9M to €80.1M</a:t>
            </a:r>
            <a:endParaRPr lang="en-US" sz="1200"/>
          </a:p>
        </p:txBody>
      </p:sp>
      <p:sp>
        <p:nvSpPr>
          <p:cNvPr id="41" name="zone-under"/>
          <p:cNvSpPr/>
          <p:nvPr/>
        </p:nvSpPr>
        <p:spPr>
          <a:xfrm>
            <a:off x="5440680" y="3017520"/>
            <a:ext cx="679069"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749" y="3017520"/>
            <a:ext cx="150622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973" y="3017520"/>
            <a:ext cx="832227"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€102.5M</a:t>
            </a:r>
            <a:endParaRPr lang="en-US" sz="1000"/>
          </a:p>
        </p:txBody>
      </p:sp>
      <p:sp>
        <p:nvSpPr>
          <p:cNvPr id="46" name="Text 41"/>
          <p:cNvSpPr txBox="1"/>
          <p:nvPr/>
        </p:nvSpPr>
        <p:spPr>
          <a:xfrm>
            <a:off x="5662549"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€24.9M</a:t>
            </a:r>
            <a:endParaRPr lang="en-US" sz="1000"/>
          </a:p>
        </p:txBody>
      </p:sp>
      <p:sp>
        <p:nvSpPr>
          <p:cNvPr id="47" name="Text 42"/>
          <p:cNvSpPr txBox="1"/>
          <p:nvPr/>
        </p:nvSpPr>
        <p:spPr>
          <a:xfrm>
            <a:off x="7168773"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€80.1M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€102.5M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show="0">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€33.8M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€67.5M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€101.3M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€33.8M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€20.7M to €98.1M</a:t>
            </a:r>
            <a:endParaRPr lang="en-US" sz="1200"/>
          </a:p>
        </p:txBody>
      </p:sp>
      <p:sp>
        <p:nvSpPr>
          <p:cNvPr id="41" name="zone-under"/>
          <p:cNvSpPr/>
          <p:nvPr/>
        </p:nvSpPr>
        <p:spPr>
          <a:xfrm>
            <a:off x="5440680" y="3017520"/>
            <a:ext cx="58888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5" y="3017520"/>
            <a:ext cx="220511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443"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€16.9M</a:t>
            </a:r>
            <a:endParaRPr lang="en-US" sz="1000"/>
          </a:p>
        </p:txBody>
      </p:sp>
      <p:sp>
        <p:nvSpPr>
          <p:cNvPr id="46" name="Text 41"/>
          <p:cNvSpPr txBox="1"/>
          <p:nvPr/>
        </p:nvSpPr>
        <p:spPr>
          <a:xfrm>
            <a:off x="557236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€98.1M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€16.9M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0">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€33.8M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€67.5M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€101.3M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€33.8M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€20.7M to €98.1M</a:t>
            </a:r>
            <a:endParaRPr lang="en-US" sz="1200"/>
          </a:p>
        </p:txBody>
      </p:sp>
      <p:sp>
        <p:nvSpPr>
          <p:cNvPr id="41" name="zone-under"/>
          <p:cNvSpPr/>
          <p:nvPr/>
        </p:nvSpPr>
        <p:spPr>
          <a:xfrm>
            <a:off x="5440680" y="3017520"/>
            <a:ext cx="58888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5" y="3017520"/>
            <a:ext cx="220511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49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414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€33.8M</a:t>
            </a:r>
            <a:endParaRPr lang="en-US" sz="1000"/>
          </a:p>
        </p:txBody>
      </p:sp>
      <p:sp>
        <p:nvSpPr>
          <p:cNvPr id="46" name="Text 41"/>
          <p:cNvSpPr txBox="1"/>
          <p:nvPr/>
        </p:nvSpPr>
        <p:spPr>
          <a:xfrm>
            <a:off x="557236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€98.1M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€33.8M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€33.8M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€67.5M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€101.3M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€33.8M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€20.7M to €98.1M</a:t>
            </a:r>
            <a:endParaRPr lang="en-US" sz="1200"/>
          </a:p>
        </p:txBody>
      </p:sp>
      <p:sp>
        <p:nvSpPr>
          <p:cNvPr id="41" name="zone-under"/>
          <p:cNvSpPr/>
          <p:nvPr/>
        </p:nvSpPr>
        <p:spPr>
          <a:xfrm>
            <a:off x="5440680" y="3017520"/>
            <a:ext cx="58888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65" y="3017520"/>
            <a:ext cx="220511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59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6245"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€67.5M</a:t>
            </a:r>
            <a:endParaRPr lang="en-US" sz="1000"/>
          </a:p>
        </p:txBody>
      </p:sp>
      <p:sp>
        <p:nvSpPr>
          <p:cNvPr id="46" name="Text 41"/>
          <p:cNvSpPr txBox="1"/>
          <p:nvPr/>
        </p:nvSpPr>
        <p:spPr>
          <a:xfrm>
            <a:off x="557236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€98.1M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€67.5M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transfer"/>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0">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p:cNvSpPr txBox="1"/>
          <p:nvPr/>
        </p:nvSpPr>
        <p:spPr>
          <a:xfrm>
            <a:off x="4078224" y="144475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Aguerd</a:t>
            </a:r>
            <a:endParaRPr lang="en-US" sz="1000"/>
          </a:p>
        </p:txBody>
      </p:sp>
      <p:sp>
        <p:nvSpPr>
          <p:cNvPr id="18" name="chip-player-13">
            <a:hlinkClick r:id="rId16"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€16.9M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€33.8M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€67.5M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€101.3M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Nayef Aguerd</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€33.8M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€20.7M to €98.1M</a:t>
            </a:r>
            <a:endParaRPr lang="en-US" sz="1200"/>
          </a:p>
        </p:txBody>
      </p:sp>
      <p:sp>
        <p:nvSpPr>
          <p:cNvPr id="41" name="zone-under"/>
          <p:cNvSpPr/>
          <p:nvPr/>
        </p:nvSpPr>
        <p:spPr>
          <a:xfrm>
            <a:off x="5440680" y="3017520"/>
            <a:ext cx="57005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32" y="3017520"/>
            <a:ext cx="2134593"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325" y="3017520"/>
            <a:ext cx="312875"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€101.3M</a:t>
            </a:r>
            <a:endParaRPr lang="en-US" sz="1000"/>
          </a:p>
        </p:txBody>
      </p:sp>
      <p:sp>
        <p:nvSpPr>
          <p:cNvPr id="46" name="Text 41"/>
          <p:cNvSpPr txBox="1"/>
          <p:nvPr/>
        </p:nvSpPr>
        <p:spPr>
          <a:xfrm>
            <a:off x="555353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€20.7M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€98.1M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€101.3M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transfer"/>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chemeClr val="tx1"/>
                </a:solidFill>
              </a:rPr>
              <a:t>SELL WINDOW</a:t>
            </a:r>
            <a:r>
              <a:rPr lang="en-US" sz="1100">
                <a:solidFill>
                  <a:schemeClr val="tx1"/>
                </a:solidFill>
              </a:rPr>
              <a:t> · forecast is below the €35.0M of 2024Q4</a:t>
            </a:r>
            <a:endParaRPr lang="en-US" sz="110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€64.3M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€96.4M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€23.4M to €75.4M</a:t>
            </a:r>
            <a:endParaRPr lang="en-US" sz="1200"/>
          </a:p>
        </p:txBody>
      </p:sp>
      <p:sp>
        <p:nvSpPr>
          <p:cNvPr id="41" name="zone-under"/>
          <p:cNvSpPr/>
          <p:nvPr/>
        </p:nvSpPr>
        <p:spPr>
          <a:xfrm>
            <a:off x="5440680" y="3017520"/>
            <a:ext cx="8683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10" y="3017520"/>
            <a:ext cx="19256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7771"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419"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€16.1M</a:t>
            </a:r>
            <a:endParaRPr lang="en-US" sz="1000"/>
          </a:p>
        </p:txBody>
      </p:sp>
      <p:sp>
        <p:nvSpPr>
          <p:cNvPr id="46" name="Text 41"/>
          <p:cNvSpPr txBox="1"/>
          <p:nvPr/>
        </p:nvSpPr>
        <p:spPr>
          <a:xfrm>
            <a:off x="58518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€16.1M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0">
  <p:cSld name="Slide 1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€32.1M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€64.3M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€96.4M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€23.4M to €75.4M</a:t>
            </a:r>
            <a:endParaRPr lang="en-US" sz="1200"/>
          </a:p>
        </p:txBody>
      </p:sp>
      <p:sp>
        <p:nvSpPr>
          <p:cNvPr id="41" name="zone-under"/>
          <p:cNvSpPr/>
          <p:nvPr/>
        </p:nvSpPr>
        <p:spPr>
          <a:xfrm>
            <a:off x="5440680" y="3017520"/>
            <a:ext cx="8683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10" y="3017520"/>
            <a:ext cx="19256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15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2798"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€32.1M</a:t>
            </a:r>
            <a:endParaRPr lang="en-US" sz="1000"/>
          </a:p>
        </p:txBody>
      </p:sp>
      <p:sp>
        <p:nvSpPr>
          <p:cNvPr id="46" name="Text 41"/>
          <p:cNvSpPr txBox="1"/>
          <p:nvPr/>
        </p:nvSpPr>
        <p:spPr>
          <a:xfrm>
            <a:off x="58518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€32.1M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0">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€64.3M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€96.4M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€23.4M to €75.4M</a:t>
            </a:r>
            <a:endParaRPr lang="en-US" sz="1200"/>
          </a:p>
        </p:txBody>
      </p:sp>
      <p:sp>
        <p:nvSpPr>
          <p:cNvPr id="41" name="zone-under"/>
          <p:cNvSpPr/>
          <p:nvPr/>
        </p:nvSpPr>
        <p:spPr>
          <a:xfrm>
            <a:off x="5440680" y="3017520"/>
            <a:ext cx="868330"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10" y="3017520"/>
            <a:ext cx="192567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390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3555"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€64.3M</a:t>
            </a:r>
            <a:endParaRPr lang="en-US" sz="1000"/>
          </a:p>
        </p:txBody>
      </p:sp>
      <p:sp>
        <p:nvSpPr>
          <p:cNvPr id="46" name="Text 41"/>
          <p:cNvSpPr txBox="1"/>
          <p:nvPr/>
        </p:nvSpPr>
        <p:spPr>
          <a:xfrm>
            <a:off x="585181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€64.3M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0">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€32.1M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€64.3M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€96.4M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€32.1M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€23.4M to €75.4M</a:t>
            </a:r>
            <a:endParaRPr lang="en-US" sz="1200"/>
          </a:p>
        </p:txBody>
      </p:sp>
      <p:sp>
        <p:nvSpPr>
          <p:cNvPr id="41" name="zone-under"/>
          <p:cNvSpPr/>
          <p:nvPr/>
        </p:nvSpPr>
        <p:spPr>
          <a:xfrm>
            <a:off x="5440680" y="3017520"/>
            <a:ext cx="679152"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832" y="3017520"/>
            <a:ext cx="1506134"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965" y="3017520"/>
            <a:ext cx="832235"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€96.4M</a:t>
            </a:r>
            <a:endParaRPr lang="en-US" sz="1000"/>
          </a:p>
        </p:txBody>
      </p:sp>
      <p:sp>
        <p:nvSpPr>
          <p:cNvPr id="46" name="Text 41"/>
          <p:cNvSpPr txBox="1"/>
          <p:nvPr/>
        </p:nvSpPr>
        <p:spPr>
          <a:xfrm>
            <a:off x="5662632"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€23.4M</a:t>
            </a:r>
            <a:endParaRPr lang="en-US" sz="1000"/>
          </a:p>
        </p:txBody>
      </p:sp>
      <p:sp>
        <p:nvSpPr>
          <p:cNvPr id="47" name="Text 42"/>
          <p:cNvSpPr txBox="1"/>
          <p:nvPr/>
        </p:nvSpPr>
        <p:spPr>
          <a:xfrm>
            <a:off x="716876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€75.4M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€96.4M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€102.7M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€21.0M to €99.5M</a:t>
            </a:r>
            <a:endParaRPr lang="en-US" sz="1200"/>
          </a:p>
        </p:txBody>
      </p:sp>
      <p:sp>
        <p:nvSpPr>
          <p:cNvPr id="41" name="zone-under"/>
          <p:cNvSpPr/>
          <p:nvPr/>
        </p:nvSpPr>
        <p:spPr>
          <a:xfrm>
            <a:off x="5440680" y="3017520"/>
            <a:ext cx="58886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41" y="3017520"/>
            <a:ext cx="220513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370"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€17.1M</a:t>
            </a:r>
            <a:endParaRPr lang="en-US" sz="1000"/>
          </a:p>
        </p:txBody>
      </p:sp>
      <p:sp>
        <p:nvSpPr>
          <p:cNvPr id="46" name="Text 41"/>
          <p:cNvSpPr txBox="1"/>
          <p:nvPr/>
        </p:nvSpPr>
        <p:spPr>
          <a:xfrm>
            <a:off x="557234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€17.1M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0">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€102.7M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€21.0M to €99.5M</a:t>
            </a:r>
            <a:endParaRPr lang="en-US" sz="1200"/>
          </a:p>
        </p:txBody>
      </p:sp>
      <p:sp>
        <p:nvSpPr>
          <p:cNvPr id="41" name="zone-under"/>
          <p:cNvSpPr/>
          <p:nvPr/>
        </p:nvSpPr>
        <p:spPr>
          <a:xfrm>
            <a:off x="5440680" y="3017520"/>
            <a:ext cx="58886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41" y="3017520"/>
            <a:ext cx="220513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348"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3996"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€34.2M</a:t>
            </a:r>
            <a:endParaRPr lang="en-US" sz="1000"/>
          </a:p>
        </p:txBody>
      </p:sp>
      <p:sp>
        <p:nvSpPr>
          <p:cNvPr id="46" name="Text 41"/>
          <p:cNvSpPr txBox="1"/>
          <p:nvPr/>
        </p:nvSpPr>
        <p:spPr>
          <a:xfrm>
            <a:off x="557234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€34.2M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0">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€68.5M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€102.7M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€21.0M to €99.5M</a:t>
            </a:r>
            <a:endParaRPr lang="en-US" sz="1200"/>
          </a:p>
        </p:txBody>
      </p:sp>
      <p:sp>
        <p:nvSpPr>
          <p:cNvPr id="41" name="zone-under"/>
          <p:cNvSpPr/>
          <p:nvPr/>
        </p:nvSpPr>
        <p:spPr>
          <a:xfrm>
            <a:off x="5440680" y="3017520"/>
            <a:ext cx="588861"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541" y="3017520"/>
            <a:ext cx="2205139"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30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595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€68.5M</a:t>
            </a:r>
            <a:endParaRPr lang="en-US" sz="1000"/>
          </a:p>
        </p:txBody>
      </p:sp>
      <p:sp>
        <p:nvSpPr>
          <p:cNvPr id="46" name="Text 41"/>
          <p:cNvSpPr txBox="1"/>
          <p:nvPr/>
        </p:nvSpPr>
        <p:spPr>
          <a:xfrm>
            <a:off x="5572341"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€68.5M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0">
  <p:cSld name="Slide 1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p:cNvSpPr txBox="1"/>
          <p:nvPr/>
        </p:nvSpPr>
        <p:spPr>
          <a:xfrm>
            <a:off x="4078224" y="181051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Lee</a:t>
            </a:r>
            <a:endParaRPr lang="en-US" sz="1000"/>
          </a:p>
        </p:txBody>
      </p:sp>
      <p:sp>
        <p:nvSpPr>
          <p:cNvPr id="19" name="chip-player-14">
            <a:hlinkClick r:id="rId17" action="ppaction://hlinksldjump" tooltip="Jordan Teze"/>
          </p:cNvPr>
          <p:cNvSpPr txBox="1"/>
          <p:nvPr/>
        </p:nvSpPr>
        <p:spPr>
          <a:xfrm>
            <a:off x="4078224"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€17.1M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€34.2M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€68.5M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€102.7M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Kang-in Lee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€30.0M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€34.2M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€21.0M to €99.5M</a:t>
            </a:r>
            <a:endParaRPr lang="en-US" sz="1200"/>
          </a:p>
        </p:txBody>
      </p:sp>
      <p:sp>
        <p:nvSpPr>
          <p:cNvPr id="41" name="zone-under"/>
          <p:cNvSpPr/>
          <p:nvPr/>
        </p:nvSpPr>
        <p:spPr>
          <a:xfrm>
            <a:off x="5440680" y="3017520"/>
            <a:ext cx="57011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795" y="3017520"/>
            <a:ext cx="2134940"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735" y="3017520"/>
            <a:ext cx="312465"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€102.7M</a:t>
            </a:r>
            <a:endParaRPr lang="en-US" sz="1000"/>
          </a:p>
        </p:txBody>
      </p:sp>
      <p:sp>
        <p:nvSpPr>
          <p:cNvPr id="46" name="Text 41"/>
          <p:cNvSpPr txBox="1"/>
          <p:nvPr/>
        </p:nvSpPr>
        <p:spPr>
          <a:xfrm>
            <a:off x="555359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€21.0M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€99.5M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€102.7M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€30.0M of 2024Q4</a:t>
            </a:r>
            <a:endParaRPr lang="en-US" sz="110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0">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€48.0M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€16.0M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€11.7M to €37.6M</a:t>
            </a:r>
            <a:endParaRPr lang="en-US" sz="1200"/>
          </a:p>
        </p:txBody>
      </p:sp>
      <p:sp>
        <p:nvSpPr>
          <p:cNvPr id="41" name="zone-under"/>
          <p:cNvSpPr/>
          <p:nvPr/>
        </p:nvSpPr>
        <p:spPr>
          <a:xfrm>
            <a:off x="5440680" y="3017520"/>
            <a:ext cx="86833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15" y="3017520"/>
            <a:ext cx="192566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018024"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87672"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€8.0M</a:t>
            </a:r>
            <a:endParaRPr lang="en-US" sz="1000"/>
          </a:p>
        </p:txBody>
      </p:sp>
      <p:sp>
        <p:nvSpPr>
          <p:cNvPr id="46" name="Text 41"/>
          <p:cNvSpPr txBox="1"/>
          <p:nvPr/>
        </p:nvSpPr>
        <p:spPr>
          <a:xfrm>
            <a:off x="585181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€11.7M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€37.6M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€8.0M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0">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€48.0M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€16.0M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€11.7M to €37.6M</a:t>
            </a:r>
            <a:endParaRPr lang="en-US" sz="1200"/>
          </a:p>
        </p:txBody>
      </p:sp>
      <p:sp>
        <p:nvSpPr>
          <p:cNvPr id="41" name="zone-under"/>
          <p:cNvSpPr/>
          <p:nvPr/>
        </p:nvSpPr>
        <p:spPr>
          <a:xfrm>
            <a:off x="5440680" y="3017520"/>
            <a:ext cx="86833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15" y="3017520"/>
            <a:ext cx="192566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613655"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083303"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€16.0M</a:t>
            </a:r>
            <a:endParaRPr lang="en-US" sz="1000"/>
          </a:p>
        </p:txBody>
      </p:sp>
      <p:sp>
        <p:nvSpPr>
          <p:cNvPr id="46" name="Text 41"/>
          <p:cNvSpPr txBox="1"/>
          <p:nvPr/>
        </p:nvSpPr>
        <p:spPr>
          <a:xfrm>
            <a:off x="585181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€11.7M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€37.6M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€16.0M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0">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€48.0M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€16.0M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€11.7M to €37.6M</a:t>
            </a:r>
            <a:endParaRPr lang="en-US" sz="1200"/>
          </a:p>
        </p:txBody>
      </p:sp>
      <p:sp>
        <p:nvSpPr>
          <p:cNvPr id="41" name="zone-under"/>
          <p:cNvSpPr/>
          <p:nvPr/>
        </p:nvSpPr>
        <p:spPr>
          <a:xfrm>
            <a:off x="5440680" y="3017520"/>
            <a:ext cx="86833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309015" y="3017520"/>
            <a:ext cx="192566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80491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27456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€32.0M</a:t>
            </a:r>
            <a:endParaRPr lang="en-US" sz="1000"/>
          </a:p>
        </p:txBody>
      </p:sp>
      <p:sp>
        <p:nvSpPr>
          <p:cNvPr id="46" name="Text 41"/>
          <p:cNvSpPr txBox="1"/>
          <p:nvPr/>
        </p:nvSpPr>
        <p:spPr>
          <a:xfrm>
            <a:off x="585181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€11.7M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€37.6M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€32.0M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0">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p:cNvSpPr txBox="1"/>
          <p:nvPr/>
        </p:nvSpPr>
        <p:spPr>
          <a:xfrm>
            <a:off x="4572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a:hlinkClick r:id="rId19" action="ppaction://hlinksldjump" tooltip="12 months"/>
          </p:cNvPr>
          <p:cNvSpPr txBox="1"/>
          <p:nvPr/>
        </p:nvSpPr>
        <p:spPr>
          <a:xfrm>
            <a:off x="18288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€8.0M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€16.0M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€32.0M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€48.0M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6 months (2025Q2)</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€16.0M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€11.7M to €37.6M</a:t>
            </a:r>
            <a:endParaRPr lang="en-US" sz="1200"/>
          </a:p>
        </p:txBody>
      </p:sp>
      <p:sp>
        <p:nvSpPr>
          <p:cNvPr id="41" name="zone-under"/>
          <p:cNvSpPr/>
          <p:nvPr/>
        </p:nvSpPr>
        <p:spPr>
          <a:xfrm>
            <a:off x="5440680" y="3017520"/>
            <a:ext cx="678867"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119547" y="3017520"/>
            <a:ext cx="1505491"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7625038" y="3017520"/>
            <a:ext cx="833162"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€48.0M</a:t>
            </a:r>
            <a:endParaRPr lang="en-US" sz="1000"/>
          </a:p>
        </p:txBody>
      </p:sp>
      <p:sp>
        <p:nvSpPr>
          <p:cNvPr id="46" name="Text 41"/>
          <p:cNvSpPr txBox="1"/>
          <p:nvPr/>
        </p:nvSpPr>
        <p:spPr>
          <a:xfrm>
            <a:off x="5662347"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€11.7M</a:t>
            </a:r>
            <a:endParaRPr lang="en-US" sz="1000"/>
          </a:p>
        </p:txBody>
      </p:sp>
      <p:sp>
        <p:nvSpPr>
          <p:cNvPr id="47" name="Text 42"/>
          <p:cNvSpPr txBox="1"/>
          <p:nvPr/>
        </p:nvSpPr>
        <p:spPr>
          <a:xfrm>
            <a:off x="7167838"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€37.6M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€48.0M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0">
  <p:cSld name="Slide 1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p:cNvSpPr txBox="1"/>
          <p:nvPr/>
        </p:nvSpPr>
        <p:spPr>
          <a:xfrm>
            <a:off x="457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€8.5M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1"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€51.0M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€10.4M to €49.4M</a:t>
            </a:r>
            <a:endParaRPr lang="en-US" sz="1200"/>
          </a:p>
        </p:txBody>
      </p:sp>
      <p:sp>
        <p:nvSpPr>
          <p:cNvPr id="41" name="zone-under"/>
          <p:cNvSpPr/>
          <p:nvPr/>
        </p:nvSpPr>
        <p:spPr>
          <a:xfrm>
            <a:off x="5440680" y="3017520"/>
            <a:ext cx="58901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95" y="3017520"/>
            <a:ext cx="220498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5903336"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44068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€8.5M</a:t>
            </a:r>
            <a:endParaRPr lang="en-US" sz="1000"/>
          </a:p>
        </p:txBody>
      </p:sp>
      <p:sp>
        <p:nvSpPr>
          <p:cNvPr id="46" name="Text 41"/>
          <p:cNvSpPr txBox="1"/>
          <p:nvPr/>
        </p:nvSpPr>
        <p:spPr>
          <a:xfrm>
            <a:off x="557249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€49.4M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1"/>
          </a:solidFill>
          <a:ln w="12700">
            <a:solidFill>
              <a:schemeClr val="accent1"/>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UNDERVALUED</a:t>
            </a:r>
            <a:endParaRPr lang="en-US" sz="1400"/>
          </a:p>
          <a:p>
            <a:pPr marL="0" indent="0">
              <a:buNone/>
            </a:pPr>
            <a:r>
              <a:rPr lang="en-US" sz="1100">
                <a:solidFill>
                  <a:schemeClr val="bg1"/>
                </a:solidFill>
              </a:rPr>
              <a:t>Fee €8.5M is below the range</a:t>
            </a:r>
            <a:endParaRPr lang="en-US" sz="1400"/>
          </a:p>
        </p:txBody>
      </p:sp>
      <p:sp>
        <p:nvSpPr>
          <p:cNvPr id="50" name="green-card"/>
          <p:cNvSpPr/>
          <p:nvPr/>
        </p:nvSpPr>
        <p:spPr>
          <a:xfrm>
            <a:off x="8065008" y="3721608"/>
            <a:ext cx="201168" cy="292608"/>
          </a:xfrm>
          <a:prstGeom prst="roundRect">
            <a:avLst>
              <a:gd name="adj" fmla="val 13636"/>
            </a:avLst>
          </a:prstGeom>
          <a:solidFill>
            <a:srgbClr val="43A047"/>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0">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€8.5M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p:cNvSpPr txBox="1"/>
          <p:nvPr/>
        </p:nvSpPr>
        <p:spPr>
          <a:xfrm>
            <a:off x="1600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€17.0M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2"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€51.0M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€10.4M to €49.4M</a:t>
            </a:r>
            <a:endParaRPr lang="en-US" sz="1200"/>
          </a:p>
        </p:txBody>
      </p:sp>
      <p:sp>
        <p:nvSpPr>
          <p:cNvPr id="41" name="zone-under"/>
          <p:cNvSpPr/>
          <p:nvPr/>
        </p:nvSpPr>
        <p:spPr>
          <a:xfrm>
            <a:off x="5440680" y="3017520"/>
            <a:ext cx="58901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95" y="3017520"/>
            <a:ext cx="220498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6384279"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5853927"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€17.0M</a:t>
            </a:r>
            <a:endParaRPr lang="en-US" sz="1000"/>
          </a:p>
        </p:txBody>
      </p:sp>
      <p:sp>
        <p:nvSpPr>
          <p:cNvPr id="46" name="Text 41"/>
          <p:cNvSpPr txBox="1"/>
          <p:nvPr/>
        </p:nvSpPr>
        <p:spPr>
          <a:xfrm>
            <a:off x="557249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€49.4M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€17.0M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0">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€8.5M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p:cNvSpPr txBox="1"/>
          <p:nvPr/>
        </p:nvSpPr>
        <p:spPr>
          <a:xfrm>
            <a:off x="2743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€34.0M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a:hlinkClick r:id="rId23" action="ppaction://hlinksldjump" tooltip="3× forecast"/>
          </p:cNvPr>
          <p:cNvSpPr txBox="1"/>
          <p:nvPr/>
        </p:nvSpPr>
        <p:spPr>
          <a:xfrm>
            <a:off x="3886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€51.0M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€10.4M to €49.4M</a:t>
            </a:r>
            <a:endParaRPr lang="en-US" sz="1200"/>
          </a:p>
        </p:txBody>
      </p:sp>
      <p:sp>
        <p:nvSpPr>
          <p:cNvPr id="41" name="zone-under"/>
          <p:cNvSpPr/>
          <p:nvPr/>
        </p:nvSpPr>
        <p:spPr>
          <a:xfrm>
            <a:off x="5440680" y="3017520"/>
            <a:ext cx="58901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29695" y="3017520"/>
            <a:ext cx="220498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234680" y="3017520"/>
            <a:ext cx="223520"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7346167"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6815815"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€34.0M</a:t>
            </a:r>
            <a:endParaRPr lang="en-US" sz="1000"/>
          </a:p>
        </p:txBody>
      </p:sp>
      <p:sp>
        <p:nvSpPr>
          <p:cNvPr id="46" name="Text 41"/>
          <p:cNvSpPr txBox="1"/>
          <p:nvPr/>
        </p:nvSpPr>
        <p:spPr>
          <a:xfrm>
            <a:off x="557249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€49.4M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2"/>
          </a:solidFill>
          <a:ln w="12700">
            <a:solidFill>
              <a:schemeClr val="accent2"/>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tx1"/>
                </a:solidFill>
              </a:rPr>
              <a:t>FAIR RANGE</a:t>
            </a:r>
            <a:endParaRPr lang="en-US" sz="1400"/>
          </a:p>
          <a:p>
            <a:pPr marL="0" indent="0">
              <a:buNone/>
            </a:pPr>
            <a:r>
              <a:rPr lang="en-US" sz="1100">
                <a:solidFill>
                  <a:schemeClr val="tx1"/>
                </a:solidFill>
              </a:rPr>
              <a:t>Fee €34.0M is inside the range</a:t>
            </a:r>
            <a:endParaRPr lang="en-US" sz="1400"/>
          </a:p>
        </p:txBody>
      </p:sp>
      <p:pic>
        <p:nvPicPr>
          <p:cNvPr id="50" name="Image 3" descr="whistle"/>
          <p:cNvPicPr>
            <a:picLocks noChangeAspect="1"/>
          </p:cNvPicPr>
          <p:nvPr/>
        </p:nvPicPr>
        <p:blipFill>
          <a:blip r:embed="rId25"/>
          <a:stretch>
            <a:fillRect/>
          </a:stretch>
        </p:blipFill>
        <p:spPr>
          <a:xfrm>
            <a:off x="8001000" y="3712464"/>
            <a:ext cx="310896" cy="310896"/>
          </a:xfrm>
          <a:prstGeom prst="rect">
            <a:avLst/>
          </a:prstGeom>
        </p:spPr>
      </p:pic>
      <p:pic>
        <p:nvPicPr>
          <p:cNvPr id="51" name="Image 4" descr="handshake"/>
          <p:cNvPicPr>
            <a:picLocks noChangeAspect="1"/>
          </p:cNvPicPr>
          <p:nvPr/>
        </p:nvPicPr>
        <p:blipFill>
          <a:blip r:embed="rId26"/>
          <a:stretch>
            <a:fillRect/>
          </a:stretch>
        </p:blipFill>
        <p:spPr>
          <a:xfrm>
            <a:off x="5440680" y="4224528"/>
            <a:ext cx="201168" cy="201168"/>
          </a:xfrm>
          <a:prstGeom prst="rect">
            <a:avLst/>
          </a:prstGeom>
        </p:spPr>
      </p:pic>
      <p:sp>
        <p:nvSpPr>
          <p:cNvPr id="52" name="Text 45"/>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0">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lgn="l">
              <a:buNone/>
            </a:pPr>
            <a:r>
              <a:rPr lang="en-US" sz="3400" b="1">
                <a:solidFill>
                  <a:schemeClr val="tx2"/>
                </a:solidFill>
              </a:rPr>
              <a:t>Decision support prototype</a:t>
            </a:r>
            <a:endParaRPr lang="en-US" sz="3400"/>
          </a:p>
        </p:txBody>
      </p:sp>
      <p:pic>
        <p:nvPicPr>
          <p:cNvPr id="3" name="Image 0" descr="jersey"/>
          <p:cNvPicPr>
            <a:picLocks noChangeAspect="1"/>
          </p:cNvPicPr>
          <p:nvPr/>
        </p:nvPicPr>
        <p:blipFill>
          <a:blip r:embed="rId3"/>
          <a:stretch>
            <a:fillRect/>
          </a:stretch>
        </p:blipFill>
        <p:spPr>
          <a:xfrm>
            <a:off x="457200" y="1170432"/>
            <a:ext cx="219456" cy="219456"/>
          </a:xfrm>
          <a:prstGeom prst="rect">
            <a:avLst/>
          </a:prstGeom>
        </p:spPr>
      </p:pic>
      <p:sp>
        <p:nvSpPr>
          <p:cNvPr id="4" name="Text 1"/>
          <p:cNvSpPr txBox="1"/>
          <p:nvPr/>
        </p:nvSpPr>
        <p:spPr>
          <a:xfrm>
            <a:off x="749808" y="1170432"/>
            <a:ext cx="2743200" cy="228600"/>
          </a:xfrm>
          <a:prstGeom prst="rect">
            <a:avLst/>
          </a:prstGeom>
          <a:noFill/>
          <a:ln/>
        </p:spPr>
        <p:txBody>
          <a:bodyPr wrap="square" lIns="0" tIns="0" rIns="0" bIns="0" rtlCol="0" anchor="ctr"/>
          <a:lstStyle/>
          <a:p>
            <a:pPr marL="0" indent="0">
              <a:buNone/>
            </a:pPr>
            <a:r>
              <a:rPr lang="en-US" sz="1200" b="1">
                <a:solidFill>
                  <a:schemeClr val="accent1"/>
                </a:solidFill>
              </a:rPr>
              <a:t>Player</a:t>
            </a:r>
            <a:endParaRPr lang="en-US" sz="1200"/>
          </a:p>
        </p:txBody>
      </p:sp>
      <p:sp>
        <p:nvSpPr>
          <p:cNvPr id="5" name="chip-player-0">
            <a:hlinkClick r:id="rId4" action="ppaction://hlinksldjump" tooltip="Phil Foden"/>
          </p:cNvPr>
          <p:cNvSpPr txBox="1"/>
          <p:nvPr/>
        </p:nvSpPr>
        <p:spPr>
          <a:xfrm>
            <a:off x="457200"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Foden</a:t>
            </a:r>
            <a:endParaRPr lang="en-US" sz="1000"/>
          </a:p>
        </p:txBody>
      </p:sp>
      <p:sp>
        <p:nvSpPr>
          <p:cNvPr id="6" name="chip-player-1">
            <a:hlinkClick r:id="rId5" action="ppaction://hlinksldjump" tooltip="Pedro Neto"/>
          </p:cNvPr>
          <p:cNvSpPr txBox="1"/>
          <p:nvPr/>
        </p:nvSpPr>
        <p:spPr>
          <a:xfrm>
            <a:off x="457200"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Neto</a:t>
            </a:r>
            <a:endParaRPr lang="en-US" sz="1000"/>
          </a:p>
        </p:txBody>
      </p:sp>
      <p:sp>
        <p:nvSpPr>
          <p:cNvPr id="7" name="chip-player-2">
            <a:hlinkClick r:id="rId6" action="ppaction://hlinksldjump" tooltip="Matheus Cunha"/>
          </p:cNvPr>
          <p:cNvSpPr txBox="1"/>
          <p:nvPr/>
        </p:nvSpPr>
        <p:spPr>
          <a:xfrm>
            <a:off x="457200"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Cunha</a:t>
            </a:r>
            <a:endParaRPr lang="en-US" sz="1000"/>
          </a:p>
        </p:txBody>
      </p:sp>
      <p:sp>
        <p:nvSpPr>
          <p:cNvPr id="8" name="chip-player-3">
            <a:hlinkClick r:id="rId7" action="ppaction://hlinksldjump" tooltip="Marcus Rashford"/>
          </p:cNvPr>
          <p:cNvSpPr txBox="1"/>
          <p:nvPr/>
        </p:nvSpPr>
        <p:spPr>
          <a:xfrm>
            <a:off x="1362456"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Rashford</a:t>
            </a:r>
            <a:endParaRPr lang="en-US" sz="1000"/>
          </a:p>
        </p:txBody>
      </p:sp>
      <p:sp>
        <p:nvSpPr>
          <p:cNvPr id="9" name="chip-player-4">
            <a:hlinkClick r:id="rId8" action="ppaction://hlinksldjump" tooltip="Ronald Araujo"/>
          </p:cNvPr>
          <p:cNvSpPr txBox="1"/>
          <p:nvPr/>
        </p:nvSpPr>
        <p:spPr>
          <a:xfrm>
            <a:off x="1362456"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Araujo</a:t>
            </a:r>
            <a:endParaRPr lang="en-US" sz="1000"/>
          </a:p>
        </p:txBody>
      </p:sp>
      <p:sp>
        <p:nvSpPr>
          <p:cNvPr id="10" name="chip-player-5">
            <a:hlinkClick r:id="rId9" action="ppaction://hlinksldjump" tooltip="Oihan Sancet"/>
          </p:cNvPr>
          <p:cNvSpPr txBox="1"/>
          <p:nvPr/>
        </p:nvSpPr>
        <p:spPr>
          <a:xfrm>
            <a:off x="1362456"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Sancet</a:t>
            </a:r>
            <a:endParaRPr lang="en-US" sz="1000"/>
          </a:p>
        </p:txBody>
      </p:sp>
      <p:sp>
        <p:nvSpPr>
          <p:cNvPr id="11" name="chip-player-6">
            <a:hlinkClick r:id="rId10" action="ppaction://hlinksldjump" tooltip="Loïs Openda"/>
          </p:cNvPr>
          <p:cNvSpPr txBox="1"/>
          <p:nvPr/>
        </p:nvSpPr>
        <p:spPr>
          <a:xfrm>
            <a:off x="2267712"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Openda</a:t>
            </a:r>
            <a:endParaRPr lang="en-US" sz="1000"/>
          </a:p>
        </p:txBody>
      </p:sp>
      <p:sp>
        <p:nvSpPr>
          <p:cNvPr id="12" name="chip-player-7">
            <a:hlinkClick r:id="rId11" action="ppaction://hlinksldjump" tooltip="Teun Koopmeiners"/>
          </p:cNvPr>
          <p:cNvSpPr txBox="1"/>
          <p:nvPr/>
        </p:nvSpPr>
        <p:spPr>
          <a:xfrm>
            <a:off x="2267712"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Koopmeiners</a:t>
            </a:r>
            <a:endParaRPr lang="en-US" sz="1000"/>
          </a:p>
        </p:txBody>
      </p:sp>
      <p:sp>
        <p:nvSpPr>
          <p:cNvPr id="13" name="chip-player-8">
            <a:hlinkClick r:id="rId12" action="ppaction://hlinksldjump" tooltip="Khéphren Thuram"/>
          </p:cNvPr>
          <p:cNvSpPr txBox="1"/>
          <p:nvPr/>
        </p:nvSpPr>
        <p:spPr>
          <a:xfrm>
            <a:off x="2267712"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Thuram</a:t>
            </a:r>
            <a:endParaRPr lang="en-US" sz="1000"/>
          </a:p>
        </p:txBody>
      </p:sp>
      <p:sp>
        <p:nvSpPr>
          <p:cNvPr id="14" name="chip-player-9">
            <a:hlinkClick r:id="rId13" action="ppaction://hlinksldjump" tooltip="Serge Gnabry"/>
          </p:cNvPr>
          <p:cNvSpPr txBox="1"/>
          <p:nvPr/>
        </p:nvSpPr>
        <p:spPr>
          <a:xfrm>
            <a:off x="3172968"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Gnabry</a:t>
            </a:r>
            <a:endParaRPr lang="en-US" sz="1000"/>
          </a:p>
        </p:txBody>
      </p:sp>
      <p:sp>
        <p:nvSpPr>
          <p:cNvPr id="15" name="chip-player-10">
            <a:hlinkClick r:id="rId14" action="ppaction://hlinksldjump" tooltip="Waldemar Anton"/>
          </p:cNvPr>
          <p:cNvSpPr txBox="1"/>
          <p:nvPr/>
        </p:nvSpPr>
        <p:spPr>
          <a:xfrm>
            <a:off x="3172968"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Anton</a:t>
            </a:r>
            <a:endParaRPr lang="en-US" sz="1000"/>
          </a:p>
        </p:txBody>
      </p:sp>
      <p:sp>
        <p:nvSpPr>
          <p:cNvPr id="16" name="chip-player-11">
            <a:hlinkClick r:id="rId15" action="ppaction://hlinksldjump" tooltip="Christoph Baumgartner"/>
          </p:cNvPr>
          <p:cNvSpPr txBox="1"/>
          <p:nvPr/>
        </p:nvSpPr>
        <p:spPr>
          <a:xfrm>
            <a:off x="3172968" y="217627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Baumgartner</a:t>
            </a:r>
            <a:endParaRPr lang="en-US" sz="1000"/>
          </a:p>
        </p:txBody>
      </p:sp>
      <p:sp>
        <p:nvSpPr>
          <p:cNvPr id="17" name="chip-player-12">
            <a:hlinkClick r:id="rId16" action="ppaction://hlinksldjump" tooltip="Nayef Aguerd"/>
          </p:cNvPr>
          <p:cNvSpPr txBox="1"/>
          <p:nvPr/>
        </p:nvSpPr>
        <p:spPr>
          <a:xfrm>
            <a:off x="4078224" y="144475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Aguerd</a:t>
            </a:r>
            <a:endParaRPr lang="en-US" sz="1000"/>
          </a:p>
        </p:txBody>
      </p:sp>
      <p:sp>
        <p:nvSpPr>
          <p:cNvPr id="18" name="chip-player-13">
            <a:hlinkClick r:id="rId17" action="ppaction://hlinksldjump" tooltip="Kang-in Lee"/>
          </p:cNvPr>
          <p:cNvSpPr txBox="1"/>
          <p:nvPr/>
        </p:nvSpPr>
        <p:spPr>
          <a:xfrm>
            <a:off x="4078224" y="1810512"/>
            <a:ext cx="859536" cy="310896"/>
          </a:xfrm>
          <a:prstGeom prst="roundRect">
            <a:avLst>
              <a:gd name="adj" fmla="val 23529"/>
            </a:avLst>
          </a:prstGeom>
          <a:solidFill>
            <a:schemeClr val="bg1"/>
          </a:solidFill>
          <a:ln w="9525">
            <a:solidFill>
              <a:srgbClr val="C9D3CE"/>
            </a:solidFill>
          </a:ln>
        </p:spPr>
        <p:txBody>
          <a:bodyPr wrap="square" lIns="0" tIns="0" rIns="0" bIns="0" rtlCol="0" anchor="ctr"/>
          <a:lstStyle/>
          <a:p>
            <a:pPr marL="0" indent="0" algn="ctr">
              <a:buNone/>
            </a:pPr>
            <a:r>
              <a:rPr lang="en-US" sz="1000">
                <a:solidFill>
                  <a:schemeClr val="tx1"/>
                </a:solidFill>
              </a:rPr>
              <a:t>Lee</a:t>
            </a:r>
            <a:endParaRPr lang="en-US" sz="1000"/>
          </a:p>
        </p:txBody>
      </p:sp>
      <p:sp>
        <p:nvSpPr>
          <p:cNvPr id="19" name="chip-player-14"/>
          <p:cNvSpPr txBox="1"/>
          <p:nvPr/>
        </p:nvSpPr>
        <p:spPr>
          <a:xfrm>
            <a:off x="4078224" y="2176272"/>
            <a:ext cx="859536" cy="310896"/>
          </a:xfrm>
          <a:prstGeom prst="roundRect">
            <a:avLst>
              <a:gd name="adj" fmla="val 23529"/>
            </a:avLst>
          </a:prstGeom>
          <a:solidFill>
            <a:schemeClr val="accent2"/>
          </a:solidFill>
          <a:ln w="12700">
            <a:solidFill>
              <a:schemeClr val="accent2"/>
            </a:solidFill>
          </a:ln>
        </p:spPr>
        <p:txBody>
          <a:bodyPr wrap="square" lIns="0" tIns="0" rIns="0" bIns="0" rtlCol="0" anchor="ctr"/>
          <a:lstStyle/>
          <a:p>
            <a:pPr marL="0" indent="0" algn="ctr">
              <a:buNone/>
            </a:pPr>
            <a:r>
              <a:rPr lang="en-US" sz="1000" b="1">
                <a:solidFill>
                  <a:schemeClr val="tx1"/>
                </a:solidFill>
              </a:rPr>
              <a:t>Teze</a:t>
            </a:r>
            <a:endParaRPr lang="en-US" sz="1000"/>
          </a:p>
        </p:txBody>
      </p:sp>
      <p:pic>
        <p:nvPicPr>
          <p:cNvPr id="20" name="Image 1" descr="stopwatch"/>
          <p:cNvPicPr>
            <a:picLocks noChangeAspect="1"/>
          </p:cNvPicPr>
          <p:nvPr/>
        </p:nvPicPr>
        <p:blipFill>
          <a:blip r:embed="rId18"/>
          <a:stretch>
            <a:fillRect/>
          </a:stretch>
        </p:blipFill>
        <p:spPr>
          <a:xfrm>
            <a:off x="457200" y="2651760"/>
            <a:ext cx="219456" cy="219456"/>
          </a:xfrm>
          <a:prstGeom prst="rect">
            <a:avLst/>
          </a:prstGeom>
        </p:spPr>
      </p:pic>
      <p:sp>
        <p:nvSpPr>
          <p:cNvPr id="21" name="Text 17"/>
          <p:cNvSpPr txBox="1"/>
          <p:nvPr/>
        </p:nvSpPr>
        <p:spPr>
          <a:xfrm>
            <a:off x="749808" y="2651760"/>
            <a:ext cx="2743200" cy="228600"/>
          </a:xfrm>
          <a:prstGeom prst="rect">
            <a:avLst/>
          </a:prstGeom>
          <a:noFill/>
          <a:ln/>
        </p:spPr>
        <p:txBody>
          <a:bodyPr wrap="square" lIns="0" tIns="0" rIns="0" bIns="0" rtlCol="0" anchor="ctr"/>
          <a:lstStyle/>
          <a:p>
            <a:pPr marL="0" indent="0">
              <a:buNone/>
            </a:pPr>
            <a:r>
              <a:rPr lang="en-US" sz="1200" b="1">
                <a:solidFill>
                  <a:schemeClr val="accent1"/>
                </a:solidFill>
              </a:rPr>
              <a:t>Horizon</a:t>
            </a:r>
            <a:endParaRPr lang="en-US" sz="1200"/>
          </a:p>
        </p:txBody>
      </p:sp>
      <p:sp>
        <p:nvSpPr>
          <p:cNvPr id="22" name="chip-horizon-0">
            <a:hlinkClick r:id="rId19" action="ppaction://hlinksldjump" tooltip="6 months"/>
          </p:cNvPr>
          <p:cNvSpPr txBox="1"/>
          <p:nvPr/>
        </p:nvSpPr>
        <p:spPr>
          <a:xfrm>
            <a:off x="457200" y="2926080"/>
            <a:ext cx="1280160" cy="365760"/>
          </a:xfrm>
          <a:prstGeom prst="roundRect">
            <a:avLst>
              <a:gd name="adj" fmla="val 20000"/>
            </a:avLst>
          </a:prstGeom>
          <a:solidFill>
            <a:schemeClr val="bg1"/>
          </a:solidFill>
          <a:ln w="9525">
            <a:solidFill>
              <a:srgbClr val="C9D3CE"/>
            </a:solidFill>
          </a:ln>
        </p:spPr>
        <p:txBody>
          <a:bodyPr wrap="square" lIns="0" tIns="0" rIns="0" bIns="0" rtlCol="0" anchor="ctr"/>
          <a:lstStyle/>
          <a:p>
            <a:pPr marL="0" indent="0" algn="ctr">
              <a:buNone/>
            </a:pPr>
            <a:r>
              <a:rPr lang="en-US" sz="1200" b="1">
                <a:solidFill>
                  <a:schemeClr val="tx1"/>
                </a:solidFill>
              </a:rPr>
              <a:t>6 months</a:t>
            </a:r>
            <a:endParaRPr lang="en-US" sz="1200"/>
          </a:p>
        </p:txBody>
      </p:sp>
      <p:sp>
        <p:nvSpPr>
          <p:cNvPr id="23" name="chip-horizon-1"/>
          <p:cNvSpPr txBox="1"/>
          <p:nvPr/>
        </p:nvSpPr>
        <p:spPr>
          <a:xfrm>
            <a:off x="1828800" y="2926080"/>
            <a:ext cx="1280160" cy="365760"/>
          </a:xfrm>
          <a:prstGeom prst="roundRect">
            <a:avLst>
              <a:gd name="adj" fmla="val 20000"/>
            </a:avLst>
          </a:prstGeom>
          <a:solidFill>
            <a:schemeClr val="accent2"/>
          </a:solidFill>
          <a:ln w="12700">
            <a:solidFill>
              <a:schemeClr val="accent2"/>
            </a:solidFill>
          </a:ln>
        </p:spPr>
        <p:txBody>
          <a:bodyPr wrap="square" lIns="0" tIns="0" rIns="0" bIns="0" rtlCol="0" anchor="ctr"/>
          <a:lstStyle/>
          <a:p>
            <a:pPr marL="0" indent="0" algn="ctr">
              <a:buNone/>
            </a:pPr>
            <a:r>
              <a:rPr lang="en-US" sz="1200" b="1">
                <a:solidFill>
                  <a:schemeClr val="tx1"/>
                </a:solidFill>
              </a:rPr>
              <a:t>12 months</a:t>
            </a:r>
            <a:endParaRPr lang="en-US" sz="1200"/>
          </a:p>
        </p:txBody>
      </p:sp>
      <p:pic>
        <p:nvPicPr>
          <p:cNvPr id="24" name="Image 2" descr="money"/>
          <p:cNvPicPr>
            <a:picLocks noChangeAspect="1"/>
          </p:cNvPicPr>
          <p:nvPr/>
        </p:nvPicPr>
        <p:blipFill>
          <a:blip r:embed="rId20"/>
          <a:stretch>
            <a:fillRect/>
          </a:stretch>
        </p:blipFill>
        <p:spPr>
          <a:xfrm>
            <a:off x="457200" y="3474720"/>
            <a:ext cx="237744" cy="219456"/>
          </a:xfrm>
          <a:prstGeom prst="rect">
            <a:avLst/>
          </a:prstGeom>
        </p:spPr>
      </p:pic>
      <p:sp>
        <p:nvSpPr>
          <p:cNvPr id="25" name="Text 20"/>
          <p:cNvSpPr txBox="1"/>
          <p:nvPr/>
        </p:nvSpPr>
        <p:spPr>
          <a:xfrm>
            <a:off x="749808" y="3474720"/>
            <a:ext cx="2743200" cy="228600"/>
          </a:xfrm>
          <a:prstGeom prst="rect">
            <a:avLst/>
          </a:prstGeom>
          <a:noFill/>
          <a:ln/>
        </p:spPr>
        <p:txBody>
          <a:bodyPr wrap="square" lIns="0" tIns="0" rIns="0" bIns="0" rtlCol="0" anchor="ctr"/>
          <a:lstStyle/>
          <a:p>
            <a:pPr marL="0" indent="0">
              <a:buNone/>
            </a:pPr>
            <a:r>
              <a:rPr lang="en-US" sz="1200" b="1">
                <a:solidFill>
                  <a:schemeClr val="accent1"/>
                </a:solidFill>
              </a:rPr>
              <a:t>Quoted fee</a:t>
            </a:r>
            <a:endParaRPr lang="en-US" sz="1200"/>
          </a:p>
        </p:txBody>
      </p:sp>
      <p:sp>
        <p:nvSpPr>
          <p:cNvPr id="26" name="chip-fee-0">
            <a:hlinkClick r:id="rId21" action="ppaction://hlinksldjump" tooltip="0.5× forecast"/>
          </p:cNvPr>
          <p:cNvSpPr txBox="1"/>
          <p:nvPr/>
        </p:nvSpPr>
        <p:spPr>
          <a:xfrm>
            <a:off x="457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€8.5M</a:t>
            </a:r>
            <a:endParaRPr lang="en-US" sz="1300"/>
          </a:p>
        </p:txBody>
      </p:sp>
      <p:sp>
        <p:nvSpPr>
          <p:cNvPr id="27" name="Text 22"/>
          <p:cNvSpPr txBox="1"/>
          <p:nvPr/>
        </p:nvSpPr>
        <p:spPr>
          <a:xfrm>
            <a:off x="457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0.5× forecast</a:t>
            </a:r>
            <a:endParaRPr lang="en-US" sz="1000"/>
          </a:p>
        </p:txBody>
      </p:sp>
      <p:sp>
        <p:nvSpPr>
          <p:cNvPr id="28" name="chip-fee-1">
            <a:hlinkClick r:id="rId22" action="ppaction://hlinksldjump" tooltip="At forecast"/>
          </p:cNvPr>
          <p:cNvSpPr txBox="1"/>
          <p:nvPr/>
        </p:nvSpPr>
        <p:spPr>
          <a:xfrm>
            <a:off x="1600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€17.0M</a:t>
            </a:r>
            <a:endParaRPr lang="en-US" sz="1300"/>
          </a:p>
        </p:txBody>
      </p:sp>
      <p:sp>
        <p:nvSpPr>
          <p:cNvPr id="29" name="Text 24"/>
          <p:cNvSpPr txBox="1"/>
          <p:nvPr/>
        </p:nvSpPr>
        <p:spPr>
          <a:xfrm>
            <a:off x="1600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At forecast</a:t>
            </a:r>
            <a:endParaRPr lang="en-US" sz="1000"/>
          </a:p>
        </p:txBody>
      </p:sp>
      <p:sp>
        <p:nvSpPr>
          <p:cNvPr id="30" name="chip-fee-2">
            <a:hlinkClick r:id="rId23" action="ppaction://hlinksldjump" tooltip="2× forecast"/>
          </p:cNvPr>
          <p:cNvSpPr txBox="1"/>
          <p:nvPr/>
        </p:nvSpPr>
        <p:spPr>
          <a:xfrm>
            <a:off x="2743200" y="3749040"/>
            <a:ext cx="1051560" cy="384048"/>
          </a:xfrm>
          <a:prstGeom prst="roundRect">
            <a:avLst>
              <a:gd name="adj" fmla="val 19048"/>
            </a:avLst>
          </a:prstGeom>
          <a:solidFill>
            <a:schemeClr val="bg1"/>
          </a:solidFill>
          <a:ln w="9525">
            <a:solidFill>
              <a:srgbClr val="C9D3CE"/>
            </a:solidFill>
          </a:ln>
        </p:spPr>
        <p:txBody>
          <a:bodyPr wrap="square" lIns="0" tIns="0" rIns="0" bIns="0" rtlCol="0" anchor="ctr"/>
          <a:lstStyle/>
          <a:p>
            <a:pPr marL="0" indent="0" algn="ctr">
              <a:buNone/>
            </a:pPr>
            <a:r>
              <a:rPr lang="en-US" sz="1300" b="1">
                <a:solidFill>
                  <a:schemeClr val="tx1"/>
                </a:solidFill>
              </a:rPr>
              <a:t>€34.0M</a:t>
            </a:r>
            <a:endParaRPr lang="en-US" sz="1300"/>
          </a:p>
        </p:txBody>
      </p:sp>
      <p:sp>
        <p:nvSpPr>
          <p:cNvPr id="31" name="Text 26"/>
          <p:cNvSpPr txBox="1"/>
          <p:nvPr/>
        </p:nvSpPr>
        <p:spPr>
          <a:xfrm>
            <a:off x="2743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2× forecast</a:t>
            </a:r>
            <a:endParaRPr lang="en-US" sz="1000"/>
          </a:p>
        </p:txBody>
      </p:sp>
      <p:sp>
        <p:nvSpPr>
          <p:cNvPr id="32" name="chip-fee-3"/>
          <p:cNvSpPr txBox="1"/>
          <p:nvPr/>
        </p:nvSpPr>
        <p:spPr>
          <a:xfrm>
            <a:off x="3886200" y="3749040"/>
            <a:ext cx="1051560" cy="384048"/>
          </a:xfrm>
          <a:prstGeom prst="roundRect">
            <a:avLst>
              <a:gd name="adj" fmla="val 19048"/>
            </a:avLst>
          </a:prstGeom>
          <a:solidFill>
            <a:schemeClr val="accent2"/>
          </a:solidFill>
          <a:ln w="12700">
            <a:solidFill>
              <a:schemeClr val="accent2"/>
            </a:solidFill>
          </a:ln>
        </p:spPr>
        <p:txBody>
          <a:bodyPr wrap="square" lIns="0" tIns="0" rIns="0" bIns="0" rtlCol="0" anchor="ctr"/>
          <a:lstStyle/>
          <a:p>
            <a:pPr marL="0" indent="0" algn="ctr">
              <a:buNone/>
            </a:pPr>
            <a:r>
              <a:rPr lang="en-US" sz="1300" b="1">
                <a:solidFill>
                  <a:schemeClr val="tx1"/>
                </a:solidFill>
              </a:rPr>
              <a:t>€51.0M</a:t>
            </a:r>
            <a:endParaRPr lang="en-US" sz="1300"/>
          </a:p>
        </p:txBody>
      </p:sp>
      <p:sp>
        <p:nvSpPr>
          <p:cNvPr id="33" name="Text 28"/>
          <p:cNvSpPr txBox="1"/>
          <p:nvPr/>
        </p:nvSpPr>
        <p:spPr>
          <a:xfrm>
            <a:off x="3886200" y="4169664"/>
            <a:ext cx="1051560" cy="201168"/>
          </a:xfrm>
          <a:prstGeom prst="rect">
            <a:avLst/>
          </a:prstGeom>
          <a:noFill/>
          <a:ln/>
        </p:spPr>
        <p:txBody>
          <a:bodyPr wrap="square" lIns="0" tIns="0" rIns="0" bIns="0" rtlCol="0" anchor="t"/>
          <a:lstStyle/>
          <a:p>
            <a:pPr marL="0" indent="0" algn="ctr">
              <a:buNone/>
            </a:pPr>
            <a:r>
              <a:rPr lang="en-US" sz="1000">
                <a:solidFill>
                  <a:srgbClr val="8A9A94"/>
                </a:solidFill>
              </a:rPr>
              <a:t>3× forecast</a:t>
            </a:r>
            <a:endParaRPr lang="en-US" sz="1000"/>
          </a:p>
        </p:txBody>
      </p:sp>
      <p:sp>
        <p:nvSpPr>
          <p:cNvPr id="34" name="done-btn">
            <a:hlinkClick r:id="rId24" action="ppaction://hlinksldjump" tooltip="Back to the tool slide"/>
          </p:cNvPr>
          <p:cNvSpPr txBox="1"/>
          <p:nvPr/>
        </p:nvSpPr>
        <p:spPr>
          <a:xfrm>
            <a:off x="7406640" y="411480"/>
            <a:ext cx="1280160" cy="365760"/>
          </a:xfrm>
          <a:prstGeom prst="roundRect">
            <a:avLst>
              <a:gd name="adj" fmla="val 20000"/>
            </a:avLst>
          </a:prstGeom>
          <a:solidFill>
            <a:schemeClr val="accent2"/>
          </a:solidFill>
          <a:ln>
            <a:solidFill>
              <a:schemeClr val="accent2"/>
            </a:solidFill>
          </a:ln>
        </p:spPr>
        <p:txBody>
          <a:bodyPr wrap="square" lIns="0" tIns="0" rIns="0" bIns="0" rtlCol="0" anchor="ctr"/>
          <a:lstStyle/>
          <a:p>
            <a:pPr marL="0" indent="0" algn="ctr">
              <a:buNone/>
            </a:pPr>
            <a:r>
              <a:rPr lang="en-US" sz="1300" b="1">
                <a:solidFill>
                  <a:schemeClr val="tx1"/>
                </a:solidFill>
              </a:rPr>
              <a:t>Done</a:t>
            </a:r>
            <a:endParaRPr lang="en-US" sz="1300"/>
          </a:p>
        </p:txBody>
      </p:sp>
      <p:sp>
        <p:nvSpPr>
          <p:cNvPr id="35" name="result-card"/>
          <p:cNvSpPr/>
          <p:nvPr/>
        </p:nvSpPr>
        <p:spPr>
          <a:xfrm>
            <a:off x="5212080" y="1188720"/>
            <a:ext cx="3474720" cy="3429000"/>
          </a:xfrm>
          <a:prstGeom prst="roundRect">
            <a:avLst>
              <a:gd name="adj" fmla="val 2133"/>
            </a:avLst>
          </a:prstGeom>
          <a:solidFill>
            <a:schemeClr val="bg1"/>
          </a:solidFill>
          <a:ln w="12700">
            <a:solidFill>
              <a:schemeClr val="bg1"/>
            </a:solidFill>
            <a:prstDash val="solid"/>
          </a:ln>
          <a:effectLst>
            <a:outerShdw blurRad="76200" dist="25400" dir="5400000" algn="bl" rotWithShape="0">
              <a:srgbClr val="000000">
                <a:alpha val="12000"/>
              </a:srgbClr>
            </a:outerShdw>
          </a:effectLst>
        </p:spPr>
        <p:txBody>
          <a:bodyPr/>
          <a:lstStyle/>
          <a:p>
            <a:endParaRPr lang="en-US"/>
          </a:p>
        </p:txBody>
      </p:sp>
      <p:sp>
        <p:nvSpPr>
          <p:cNvPr id="36" name="Text 31"/>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600" b="1">
                <a:solidFill>
                  <a:schemeClr val="tx2"/>
                </a:solidFill>
              </a:rPr>
              <a:t>Jordan Teze</a:t>
            </a:r>
            <a:endParaRPr lang="en-US" sz="1600"/>
          </a:p>
        </p:txBody>
      </p:sp>
      <p:sp>
        <p:nvSpPr>
          <p:cNvPr id="37" name="Text 32"/>
          <p:cNvSpPr txBox="1"/>
          <p:nvPr/>
        </p:nvSpPr>
        <p:spPr>
          <a:xfrm>
            <a:off x="5440680" y="1554480"/>
            <a:ext cx="3017520" cy="201168"/>
          </a:xfrm>
          <a:prstGeom prst="rect">
            <a:avLst/>
          </a:prstGeom>
          <a:noFill/>
          <a:ln/>
        </p:spPr>
        <p:txBody>
          <a:bodyPr wrap="square" lIns="0" tIns="0" rIns="0" bIns="0" rtlCol="0" anchor="t"/>
          <a:lstStyle/>
          <a:p>
            <a:pPr marL="0" indent="0">
              <a:buNone/>
            </a:pPr>
            <a:r>
              <a:rPr lang="en-US" sz="1100">
                <a:solidFill>
                  <a:srgbClr val="8A9A94"/>
                </a:solidFill>
              </a:rPr>
              <a:t>Ligue 1 · value at end of 2024: €15.0M</a:t>
            </a:r>
            <a:endParaRPr lang="en-US" sz="1100"/>
          </a:p>
        </p:txBody>
      </p:sp>
      <p:sp>
        <p:nvSpPr>
          <p:cNvPr id="38" name="Text 33"/>
          <p:cNvSpPr txBox="1"/>
          <p:nvPr/>
        </p:nvSpPr>
        <p:spPr>
          <a:xfrm>
            <a:off x="5440680" y="1847088"/>
            <a:ext cx="3017520" cy="201168"/>
          </a:xfrm>
          <a:prstGeom prst="rect">
            <a:avLst/>
          </a:prstGeom>
          <a:noFill/>
          <a:ln/>
        </p:spPr>
        <p:txBody>
          <a:bodyPr wrap="square" lIns="0" tIns="0" rIns="0" bIns="0" rtlCol="0" anchor="t"/>
          <a:lstStyle/>
          <a:p>
            <a:pPr marL="0" indent="0">
              <a:buNone/>
            </a:pPr>
            <a:r>
              <a:rPr lang="en-US" sz="1100" b="1">
                <a:solidFill>
                  <a:schemeClr val="accent1"/>
                </a:solidFill>
              </a:rPr>
              <a:t>Forecast in 12 months (2025Q4)</a:t>
            </a:r>
            <a:endParaRPr lang="en-US" sz="1100"/>
          </a:p>
        </p:txBody>
      </p:sp>
      <p:sp>
        <p:nvSpPr>
          <p:cNvPr id="39" name="Text 34"/>
          <p:cNvSpPr txBox="1"/>
          <p:nvPr/>
        </p:nvSpPr>
        <p:spPr>
          <a:xfrm>
            <a:off x="5440680" y="2039112"/>
            <a:ext cx="3017520" cy="457200"/>
          </a:xfrm>
          <a:prstGeom prst="rect">
            <a:avLst/>
          </a:prstGeom>
          <a:noFill/>
          <a:ln/>
        </p:spPr>
        <p:txBody>
          <a:bodyPr wrap="square" lIns="0" tIns="0" rIns="0" bIns="0" rtlCol="0" anchor="t"/>
          <a:lstStyle/>
          <a:p>
            <a:pPr marL="0" indent="0">
              <a:buNone/>
            </a:pPr>
            <a:r>
              <a:rPr lang="en-US" sz="2800" b="1">
                <a:solidFill>
                  <a:schemeClr val="tx2"/>
                </a:solidFill>
              </a:rPr>
              <a:t>€17.0M</a:t>
            </a:r>
            <a:endParaRPr lang="en-US" sz="2800"/>
          </a:p>
        </p:txBody>
      </p:sp>
      <p:sp>
        <p:nvSpPr>
          <p:cNvPr id="40" name="Text 35"/>
          <p:cNvSpPr txBox="1"/>
          <p:nvPr/>
        </p:nvSpPr>
        <p:spPr>
          <a:xfrm>
            <a:off x="5440680" y="2514600"/>
            <a:ext cx="3017520" cy="228600"/>
          </a:xfrm>
          <a:prstGeom prst="rect">
            <a:avLst/>
          </a:prstGeom>
          <a:noFill/>
          <a:ln/>
        </p:spPr>
        <p:txBody>
          <a:bodyPr wrap="square" lIns="0" tIns="0" rIns="0" bIns="0" rtlCol="0" anchor="t"/>
          <a:lstStyle/>
          <a:p>
            <a:pPr marL="0" indent="0">
              <a:buNone/>
            </a:pPr>
            <a:r>
              <a:rPr lang="en-US" sz="1200">
                <a:solidFill>
                  <a:schemeClr val="tx1"/>
                </a:solidFill>
              </a:rPr>
              <a:t>80% range: €10.4M to €49.4M</a:t>
            </a:r>
            <a:endParaRPr lang="en-US" sz="1200"/>
          </a:p>
        </p:txBody>
      </p:sp>
      <p:sp>
        <p:nvSpPr>
          <p:cNvPr id="41" name="zone-under"/>
          <p:cNvSpPr/>
          <p:nvPr/>
        </p:nvSpPr>
        <p:spPr>
          <a:xfrm>
            <a:off x="5440680" y="3017520"/>
            <a:ext cx="570305" cy="274320"/>
          </a:xfrm>
          <a:prstGeom prst="rect">
            <a:avLst/>
          </a:prstGeom>
          <a:solidFill>
            <a:schemeClr val="accent6"/>
          </a:solidFill>
          <a:ln w="12700">
            <a:solidFill>
              <a:schemeClr val="accent6"/>
            </a:solidFill>
            <a:prstDash val="solid"/>
          </a:ln>
        </p:spPr>
        <p:txBody>
          <a:bodyPr/>
          <a:lstStyle/>
          <a:p>
            <a:endParaRPr lang="en-US"/>
          </a:p>
        </p:txBody>
      </p:sp>
      <p:sp>
        <p:nvSpPr>
          <p:cNvPr id="42" name="zone-fair"/>
          <p:cNvSpPr/>
          <p:nvPr/>
        </p:nvSpPr>
        <p:spPr>
          <a:xfrm>
            <a:off x="6010985" y="3017520"/>
            <a:ext cx="2134945" cy="274320"/>
          </a:xfrm>
          <a:prstGeom prst="rect">
            <a:avLst/>
          </a:prstGeom>
          <a:solidFill>
            <a:srgbClr val="E4EBE7"/>
          </a:solidFill>
          <a:ln w="12700">
            <a:solidFill>
              <a:srgbClr val="E4EBE7"/>
            </a:solidFill>
            <a:prstDash val="solid"/>
          </a:ln>
        </p:spPr>
        <p:txBody>
          <a:bodyPr/>
          <a:lstStyle/>
          <a:p>
            <a:endParaRPr lang="en-US"/>
          </a:p>
        </p:txBody>
      </p:sp>
      <p:sp>
        <p:nvSpPr>
          <p:cNvPr id="43" name="zone-over"/>
          <p:cNvSpPr/>
          <p:nvPr/>
        </p:nvSpPr>
        <p:spPr>
          <a:xfrm>
            <a:off x="8145929" y="3017520"/>
            <a:ext cx="312271" cy="274320"/>
          </a:xfrm>
          <a:prstGeom prst="rect">
            <a:avLst/>
          </a:prstGeom>
          <a:solidFill>
            <a:srgbClr val="E8A99B"/>
          </a:solidFill>
          <a:ln w="12700">
            <a:solidFill>
              <a:srgbClr val="E8A99B"/>
            </a:solidFill>
            <a:prstDash val="solid"/>
          </a:ln>
        </p:spPr>
        <p:txBody>
          <a:bodyPr/>
          <a:lstStyle/>
          <a:p>
            <a:endParaRPr lang="en-US"/>
          </a:p>
        </p:txBody>
      </p:sp>
      <p:sp>
        <p:nvSpPr>
          <p:cNvPr id="44" name="fee-marker"/>
          <p:cNvSpPr/>
          <p:nvPr/>
        </p:nvSpPr>
        <p:spPr>
          <a:xfrm>
            <a:off x="8216392" y="2962656"/>
            <a:ext cx="36576" cy="384048"/>
          </a:xfrm>
          <a:prstGeom prst="rect">
            <a:avLst/>
          </a:prstGeom>
          <a:solidFill>
            <a:schemeClr val="tx1"/>
          </a:solidFill>
          <a:ln w="12700">
            <a:solidFill>
              <a:schemeClr val="tx1"/>
            </a:solidFill>
            <a:prstDash val="solid"/>
          </a:ln>
        </p:spPr>
        <p:txBody>
          <a:bodyPr/>
          <a:lstStyle/>
          <a:p>
            <a:endParaRPr lang="en-US"/>
          </a:p>
        </p:txBody>
      </p:sp>
      <p:sp>
        <p:nvSpPr>
          <p:cNvPr id="45" name="Text 40"/>
          <p:cNvSpPr txBox="1"/>
          <p:nvPr/>
        </p:nvSpPr>
        <p:spPr>
          <a:xfrm>
            <a:off x="7360920" y="2734056"/>
            <a:ext cx="1097280" cy="201168"/>
          </a:xfrm>
          <a:prstGeom prst="rect">
            <a:avLst/>
          </a:prstGeom>
          <a:noFill/>
          <a:ln/>
        </p:spPr>
        <p:txBody>
          <a:bodyPr wrap="square" lIns="0" tIns="0" rIns="0" bIns="0" rtlCol="0" anchor="t"/>
          <a:lstStyle/>
          <a:p>
            <a:pPr marL="0" indent="0" algn="ctr">
              <a:buNone/>
            </a:pPr>
            <a:r>
              <a:rPr lang="en-US" sz="1000" b="1">
                <a:solidFill>
                  <a:schemeClr val="tx1"/>
                </a:solidFill>
              </a:rPr>
              <a:t>Fee €51.0M</a:t>
            </a:r>
            <a:endParaRPr lang="en-US" sz="1000"/>
          </a:p>
        </p:txBody>
      </p:sp>
      <p:sp>
        <p:nvSpPr>
          <p:cNvPr id="46" name="Text 41"/>
          <p:cNvSpPr txBox="1"/>
          <p:nvPr/>
        </p:nvSpPr>
        <p:spPr>
          <a:xfrm>
            <a:off x="5553785"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low €10.4M</a:t>
            </a:r>
            <a:endParaRPr lang="en-US" sz="1000"/>
          </a:p>
        </p:txBody>
      </p:sp>
      <p:sp>
        <p:nvSpPr>
          <p:cNvPr id="47" name="Text 42"/>
          <p:cNvSpPr txBox="1"/>
          <p:nvPr/>
        </p:nvSpPr>
        <p:spPr>
          <a:xfrm>
            <a:off x="7543800" y="3328416"/>
            <a:ext cx="914400" cy="182880"/>
          </a:xfrm>
          <a:prstGeom prst="rect">
            <a:avLst/>
          </a:prstGeom>
          <a:noFill/>
          <a:ln/>
        </p:spPr>
        <p:txBody>
          <a:bodyPr wrap="square" lIns="0" tIns="0" rIns="0" bIns="0" rtlCol="0" anchor="t"/>
          <a:lstStyle/>
          <a:p>
            <a:pPr marL="0" indent="0" algn="ctr">
              <a:buNone/>
            </a:pPr>
            <a:r>
              <a:rPr lang="en-US" sz="1000">
                <a:solidFill>
                  <a:srgbClr val="8A9A94"/>
                </a:solidFill>
              </a:rPr>
              <a:t>high €49.4M</a:t>
            </a:r>
            <a:endParaRPr lang="en-US" sz="1000"/>
          </a:p>
        </p:txBody>
      </p:sp>
      <p:sp>
        <p:nvSpPr>
          <p:cNvPr id="48" name="verdict-banner"/>
          <p:cNvSpPr/>
          <p:nvPr/>
        </p:nvSpPr>
        <p:spPr>
          <a:xfrm>
            <a:off x="5440680" y="3584448"/>
            <a:ext cx="3017520" cy="566928"/>
          </a:xfrm>
          <a:prstGeom prst="roundRect">
            <a:avLst>
              <a:gd name="adj" fmla="val 12903"/>
            </a:avLst>
          </a:prstGeom>
          <a:solidFill>
            <a:schemeClr val="accent3"/>
          </a:solidFill>
          <a:ln w="12700">
            <a:solidFill>
              <a:schemeClr val="accent3"/>
            </a:solidFill>
            <a:prstDash val="solid"/>
          </a:ln>
        </p:spPr>
        <p:txBody>
          <a:bodyPr/>
          <a:lstStyle/>
          <a:p>
            <a:endParaRPr lang="en-US"/>
          </a:p>
        </p:txBody>
      </p:sp>
      <p:sp>
        <p:nvSpPr>
          <p:cNvPr id="49" name="Text 44"/>
          <p:cNvSpPr txBox="1"/>
          <p:nvPr/>
        </p:nvSpPr>
        <p:spPr>
          <a:xfrm>
            <a:off x="5577840" y="3584448"/>
            <a:ext cx="2286000" cy="566928"/>
          </a:xfrm>
          <a:prstGeom prst="rect">
            <a:avLst/>
          </a:prstGeom>
          <a:noFill/>
          <a:ln/>
        </p:spPr>
        <p:txBody>
          <a:bodyPr wrap="square" lIns="0" tIns="0" rIns="0" bIns="0" rtlCol="0" anchor="ctr"/>
          <a:lstStyle/>
          <a:p>
            <a:pPr marL="0" indent="0">
              <a:buNone/>
            </a:pPr>
            <a:r>
              <a:rPr lang="en-US" sz="1600" b="1">
                <a:solidFill>
                  <a:schemeClr val="bg1"/>
                </a:solidFill>
              </a:rPr>
              <a:t>OVERVALUED</a:t>
            </a:r>
            <a:endParaRPr lang="en-US" sz="1400"/>
          </a:p>
          <a:p>
            <a:pPr marL="0" indent="0">
              <a:buNone/>
            </a:pPr>
            <a:r>
              <a:rPr lang="en-US" sz="1100">
                <a:solidFill>
                  <a:schemeClr val="bg1"/>
                </a:solidFill>
              </a:rPr>
              <a:t>Fee €51.0M is above the range</a:t>
            </a:r>
            <a:endParaRPr lang="en-US" sz="1400"/>
          </a:p>
        </p:txBody>
      </p:sp>
      <p:sp>
        <p:nvSpPr>
          <p:cNvPr id="50" name="red-card"/>
          <p:cNvSpPr/>
          <p:nvPr/>
        </p:nvSpPr>
        <p:spPr>
          <a:xfrm>
            <a:off x="8065008" y="3721608"/>
            <a:ext cx="201168" cy="292608"/>
          </a:xfrm>
          <a:prstGeom prst="roundRect">
            <a:avLst>
              <a:gd name="adj" fmla="val 13636"/>
            </a:avLst>
          </a:prstGeom>
          <a:solidFill>
            <a:srgbClr val="E53935"/>
          </a:solidFill>
          <a:ln w="19050">
            <a:solidFill>
              <a:schemeClr val="bg1"/>
            </a:solidFill>
            <a:prstDash val="solid"/>
          </a:ln>
        </p:spPr>
        <p:txBody>
          <a:bodyPr/>
          <a:lstStyle/>
          <a:p>
            <a:endParaRPr lang="en-US"/>
          </a:p>
        </p:txBody>
      </p:sp>
      <p:pic>
        <p:nvPicPr>
          <p:cNvPr id="51" name="Image 3" descr="handshake"/>
          <p:cNvPicPr>
            <a:picLocks noChangeAspect="1"/>
          </p:cNvPicPr>
          <p:nvPr/>
        </p:nvPicPr>
        <p:blipFill>
          <a:blip r:embed="rId25"/>
          <a:stretch>
            <a:fillRect/>
          </a:stretch>
        </p:blipFill>
        <p:spPr>
          <a:xfrm>
            <a:off x="5440680" y="4224528"/>
            <a:ext cx="201168" cy="201168"/>
          </a:xfrm>
          <a:prstGeom prst="rect">
            <a:avLst/>
          </a:prstGeom>
        </p:spPr>
      </p:pic>
      <p:sp>
        <p:nvSpPr>
          <p:cNvPr id="52" name="Text 46"/>
          <p:cNvSpPr txBox="1"/>
          <p:nvPr/>
        </p:nvSpPr>
        <p:spPr>
          <a:xfrm>
            <a:off x="5733288" y="4206240"/>
            <a:ext cx="2724912" cy="365760"/>
          </a:xfrm>
          <a:prstGeom prst="rect">
            <a:avLst/>
          </a:prstGeom>
          <a:noFill/>
          <a:ln/>
        </p:spPr>
        <p:txBody>
          <a:bodyPr wrap="square" lIns="0" tIns="0" rIns="0" bIns="0" rtlCol="0" anchor="t"/>
          <a:lstStyle/>
          <a:p>
            <a:pPr marL="0" indent="0">
              <a:buNone/>
            </a:pPr>
            <a:r>
              <a:rPr lang="en-US" sz="1100" b="1">
                <a:solidFill>
                  <a:srgbClr val="1F7A4D"/>
                </a:solidFill>
              </a:rPr>
              <a:t>HOLD / EXTEND</a:t>
            </a:r>
            <a:r>
              <a:rPr lang="en-US" sz="1100">
                <a:solidFill>
                  <a:schemeClr val="tx1"/>
                </a:solidFill>
              </a:rPr>
              <a:t> · forecast is above the €15.0M of 2024Q4</a:t>
            </a:r>
            <a:endParaRPr lang="en-US" sz="1100"/>
          </a:p>
        </p:txBody>
      </p:sp>
    </p:spTree>
  </p:cSld>
  <p:clrMapOvr>
    <a:masterClrMapping/>
  </p:clrMapOvr>
</p:sld>
</file>

<file path=ppt/theme/theme1.xml><?xml version="1.0" encoding="utf-8"?>
<a:theme xmlns:a="http://schemas.openxmlformats.org/drawingml/2006/main" name="Transfer Forecaster">
  <a:themeElements>
    <a:clrScheme name="Transfer Forecaster">
      <a:dk1>
        <a:srgbClr val="14211C"/>
      </a:dk1>
      <a:lt1>
        <a:srgbClr val="FFFFFF"/>
      </a:lt1>
      <a:dk2>
        <a:srgbClr val="0B3D2E"/>
      </a:dk2>
      <a:lt2>
        <a:srgbClr val="F3F6F4"/>
      </a:lt2>
      <a:accent1>
        <a:srgbClr val="1F7A4D"/>
      </a:accent1>
      <a:accent2>
        <a:srgbClr val="F2A900"/>
      </a:accent2>
      <a:accent3>
        <a:srgbClr val="C8553D"/>
      </a:accent3>
      <a:accent4>
        <a:srgbClr val="5B8DB8"/>
      </a:accent4>
      <a:accent5>
        <a:srgbClr val="8A9A94"/>
      </a:accent5>
      <a:accent6>
        <a:srgbClr val="A7C4B5"/>
      </a:accent6>
      <a:hlink>
        <a:srgbClr val="1F7A4D"/>
      </a:hlink>
      <a:folHlink>
        <a:srgbClr val="8A9A94"/>
      </a:folHlink>
    </a:clrScheme>
    <a:fontScheme name="Transfer Forecas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151</Slides>
  <Notes>151</Notes>
  <HiddenSlides>135</HiddenSlides>
  <ScaleCrop>false</ScaleCrop>
  <HeadingPairs>
    <vt:vector size="4" baseType="variant">
      <vt:variant>
        <vt:lpstr>Theme</vt:lpstr>
      </vt:variant>
      <vt:variant>
        <vt:i4>1</vt:i4>
      </vt:variant>
      <vt:variant>
        <vt:lpstr>Slide Titles</vt:lpstr>
      </vt:variant>
      <vt:variant>
        <vt:i4>151</vt:i4>
      </vt:variant>
    </vt:vector>
  </HeadingPairs>
  <TitlesOfParts>
    <vt:vector size="152" baseType="lpstr">
      <vt:lpstr>Transfer Forecaster</vt:lpstr>
      <vt:lpstr>PowerPoint Presentation</vt:lpstr>
      <vt:lpstr>PowerPoint Presentation</vt:lpstr>
      <vt:lpstr>Where our data comes from</vt:lpstr>
      <vt:lpstr>Selection criteria</vt:lpstr>
      <vt:lpstr>Dates into quarters</vt:lpstr>
      <vt:lpstr>Market value path</vt:lpstr>
      <vt:lpstr>Aging curve and quarter of year</vt:lpstr>
      <vt:lpstr>Split summary</vt:lpstr>
      <vt:lpstr>Candidate models: validation and test</vt:lpstr>
      <vt:lpstr>Model performance</vt:lpstr>
      <vt:lpstr>Uncertainty band and 2025 holdout</vt:lpstr>
      <vt:lpstr>Performance across all three periods</vt:lpstr>
      <vt:lpstr>Choose a player</vt:lpstr>
      <vt:lpstr>Decision support prototype</vt:lpstr>
      <vt:lpstr>PowerPoint Presentation</vt:lpstr>
      <vt:lpstr>Key numbers and conclusions</vt:lpstr>
      <vt:lpstr>Phil Foden</vt:lpstr>
      <vt:lpstr>Loïs Openda</vt:lpstr>
      <vt:lpstr>Marcus Rashford</vt:lpstr>
      <vt:lpstr>Pedro Neto</vt:lpstr>
      <vt:lpstr>Ronald Araujo</vt:lpstr>
      <vt:lpstr>Matheus Cunha</vt:lpstr>
      <vt:lpstr>Oihan Sancet</vt:lpstr>
      <vt:lpstr>Teun Koopmeiners</vt:lpstr>
      <vt:lpstr>Khéphren Thuram</vt:lpstr>
      <vt:lpstr>Nayef Aguerd</vt:lpstr>
      <vt:lpstr>Serge Gnabry</vt:lpstr>
      <vt:lpstr>Kang-in Lee</vt:lpstr>
      <vt:lpstr>Waldemar Anton</vt:lpstr>
      <vt:lpstr>Christoph Baumgartner</vt:lpstr>
      <vt:lpstr>Jordan Teze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lpstr>Decision support prototype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 Market Valuation Forecaster</dc:title>
  <dc:subject>PptxGenJS Presentation</dc:subject>
  <dc:creator>OPIM 5671 Team 7</dc:creator>
  <cp:revision>4</cp:revision>
  <dcterms:created xsi:type="dcterms:W3CDTF">2026-10-04T04:05:52Z</dcterms:created>
  <dcterms:modified xsi:type="dcterms:W3CDTF">2026-10-04T20:15:18Z</dcterms:modified>
</cp:coreProperties>
</file>